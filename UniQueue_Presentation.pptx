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Merriweather" panose="00000500000000000000" pitchFamily="2" charset="-94"/>
      <p:regular r:id="rId18"/>
    </p:embeddedFont>
    <p:embeddedFont>
      <p:font typeface="Roboto" panose="02000000000000000000" pitchFamily="2" charset="0"/>
      <p:regular r:id="rId19"/>
    </p:embeddedFont>
    <p:embeddedFont>
      <p:font typeface="Roboto Bold" panose="02000000000000000000"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26.05.2026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8F0"/>
            </a:solidFill>
          </p:spPr>
        </p:sp>
      </p:grpSp>
      <p:grpSp>
        <p:nvGrpSpPr>
          <p:cNvPr id="4" name="Group 4"/>
          <p:cNvGrpSpPr/>
          <p:nvPr/>
        </p:nvGrpSpPr>
        <p:grpSpPr>
          <a:xfrm>
            <a:off x="16058359" y="9688982"/>
            <a:ext cx="2143687" cy="512064"/>
            <a:chOff x="0" y="0"/>
            <a:chExt cx="2858249" cy="682752"/>
          </a:xfrm>
        </p:grpSpPr>
        <p:sp>
          <p:nvSpPr>
            <p:cNvPr id="5" name="Freeform 5" descr="preencoded.png">
              <a:hlinkClick r:id="rId3" tooltip="https://gamma.app/?utm_source=made-with-gamma"/>
            </p:cNvPr>
            <p:cNvSpPr/>
            <p:nvPr/>
          </p:nvSpPr>
          <p:spPr>
            <a:xfrm>
              <a:off x="0" y="0"/>
              <a:ext cx="2858262" cy="682752"/>
            </a:xfrm>
            <a:custGeom>
              <a:avLst/>
              <a:gdLst/>
              <a:ahLst/>
              <a:cxnLst/>
              <a:rect l="l" t="t" r="r" b="b"/>
              <a:pathLst>
                <a:path w="2858262" h="682752">
                  <a:moveTo>
                    <a:pt x="0" y="0"/>
                  </a:moveTo>
                  <a:lnTo>
                    <a:pt x="2858262" y="0"/>
                  </a:lnTo>
                  <a:lnTo>
                    <a:pt x="2858262" y="682752"/>
                  </a:lnTo>
                  <a:lnTo>
                    <a:pt x="0" y="682752"/>
                  </a:lnTo>
                  <a:lnTo>
                    <a:pt x="0" y="0"/>
                  </a:lnTo>
                  <a:close/>
                </a:path>
              </a:pathLst>
            </a:custGeom>
            <a:blipFill>
              <a:blip r:embed="rId4"/>
              <a:stretch>
                <a:fillRect/>
              </a:stretch>
            </a:blipFill>
          </p:spPr>
        </p:sp>
      </p:grpSp>
      <p:grpSp>
        <p:nvGrpSpPr>
          <p:cNvPr id="6" name="Group 6"/>
          <p:cNvGrpSpPr/>
          <p:nvPr/>
        </p:nvGrpSpPr>
        <p:grpSpPr>
          <a:xfrm>
            <a:off x="1143000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5"/>
              <a:stretch>
                <a:fillRect/>
              </a:stretch>
            </a:blipFill>
          </p:spPr>
        </p:sp>
      </p:grpSp>
      <p:sp>
        <p:nvSpPr>
          <p:cNvPr id="8" name="TextBox 8"/>
          <p:cNvSpPr txBox="1"/>
          <p:nvPr/>
        </p:nvSpPr>
        <p:spPr>
          <a:xfrm>
            <a:off x="992238" y="3510258"/>
            <a:ext cx="3669506" cy="925449"/>
          </a:xfrm>
          <a:prstGeom prst="rect">
            <a:avLst/>
          </a:prstGeom>
        </p:spPr>
        <p:txBody>
          <a:bodyPr lIns="0" tIns="0" rIns="0" bIns="0" rtlCol="0" anchor="t">
            <a:spAutoFit/>
          </a:bodyPr>
          <a:lstStyle/>
          <a:p>
            <a:pPr algn="l">
              <a:lnSpc>
                <a:spcPts val="7487"/>
              </a:lnSpc>
            </a:pPr>
            <a:r>
              <a:rPr lang="en-US" sz="5999" dirty="0" err="1">
                <a:solidFill>
                  <a:srgbClr val="2C3F42"/>
                </a:solidFill>
                <a:latin typeface="Merriweather"/>
                <a:ea typeface="Merriweather"/>
                <a:cs typeface="Merriweather"/>
                <a:sym typeface="Merriweather"/>
              </a:rPr>
              <a:t>UniQueue</a:t>
            </a:r>
            <a:endParaRPr lang="en-US" sz="5999" dirty="0">
              <a:solidFill>
                <a:srgbClr val="2C3F42"/>
              </a:solidFill>
              <a:latin typeface="Merriweather"/>
              <a:ea typeface="Merriweather"/>
              <a:cs typeface="Merriweather"/>
              <a:sym typeface="Merriweather"/>
            </a:endParaRPr>
          </a:p>
        </p:txBody>
      </p:sp>
      <p:sp>
        <p:nvSpPr>
          <p:cNvPr id="9" name="TextBox 9"/>
          <p:cNvSpPr txBox="1"/>
          <p:nvPr/>
        </p:nvSpPr>
        <p:spPr>
          <a:xfrm>
            <a:off x="992238" y="4519165"/>
            <a:ext cx="6858000" cy="417230"/>
          </a:xfrm>
          <a:prstGeom prst="rect">
            <a:avLst/>
          </a:prstGeom>
        </p:spPr>
        <p:txBody>
          <a:bodyPr wrap="square" lIns="0" tIns="0" rIns="0" bIns="0" rtlCol="0" anchor="t">
            <a:spAutoFit/>
          </a:bodyPr>
          <a:lstStyle/>
          <a:p>
            <a:pPr algn="l">
              <a:lnSpc>
                <a:spcPts val="3369"/>
              </a:lnSpc>
            </a:pPr>
            <a:r>
              <a:rPr lang="en-US" sz="2700" dirty="0">
                <a:solidFill>
                  <a:srgbClr val="2C3F42"/>
                </a:solidFill>
                <a:latin typeface="Merriweather"/>
                <a:ea typeface="Merriweather"/>
                <a:cs typeface="Merriweather"/>
                <a:sym typeface="Merriweather"/>
              </a:rPr>
              <a:t>Campus Resource Reservation</a:t>
            </a:r>
            <a:r>
              <a:rPr lang="tr-TR" sz="2700" dirty="0">
                <a:solidFill>
                  <a:srgbClr val="2C3F42"/>
                </a:solidFill>
                <a:latin typeface="Merriweather"/>
                <a:ea typeface="Merriweather"/>
                <a:cs typeface="Merriweather"/>
                <a:sym typeface="Merriweather"/>
              </a:rPr>
              <a:t> </a:t>
            </a:r>
            <a:r>
              <a:rPr lang="en-US" sz="2700" dirty="0">
                <a:solidFill>
                  <a:srgbClr val="2C3F42"/>
                </a:solidFill>
                <a:latin typeface="Merriweather"/>
                <a:ea typeface="Merriweather"/>
                <a:cs typeface="Merriweather"/>
                <a:sym typeface="Merriweather"/>
              </a:rPr>
              <a:t>System</a:t>
            </a:r>
          </a:p>
        </p:txBody>
      </p:sp>
      <p:sp>
        <p:nvSpPr>
          <p:cNvPr id="10" name="TextBox 10"/>
          <p:cNvSpPr txBox="1"/>
          <p:nvPr/>
        </p:nvSpPr>
        <p:spPr>
          <a:xfrm>
            <a:off x="992238" y="5301558"/>
            <a:ext cx="9445523" cy="1299058"/>
          </a:xfrm>
          <a:prstGeom prst="rect">
            <a:avLst/>
          </a:prstGeom>
        </p:spPr>
        <p:txBody>
          <a:bodyPr lIns="0" tIns="0" rIns="0" bIns="0" rtlCol="0" anchor="t">
            <a:spAutoFit/>
          </a:bodyPr>
          <a:lstStyle/>
          <a:p>
            <a:pPr algn="l">
              <a:lnSpc>
                <a:spcPts val="3511"/>
              </a:lnSpc>
            </a:pPr>
            <a:r>
              <a:rPr lang="en-US" sz="2200">
                <a:solidFill>
                  <a:srgbClr val="2B2E3C"/>
                </a:solidFill>
                <a:latin typeface="Roboto"/>
                <a:ea typeface="Roboto"/>
                <a:cs typeface="Roboto"/>
                <a:sym typeface="Roboto"/>
              </a:rPr>
              <a:t>A centralized, role-based platform that unifies study room reservations, office hour bookings and transit line schedules, providing a seamless experience.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8F0"/>
            </a:solidFill>
          </p:spPr>
        </p:sp>
      </p:grpSp>
      <p:sp>
        <p:nvSpPr>
          <p:cNvPr id="4" name="TextBox 4"/>
          <p:cNvSpPr txBox="1"/>
          <p:nvPr/>
        </p:nvSpPr>
        <p:spPr>
          <a:xfrm>
            <a:off x="992238" y="1863176"/>
            <a:ext cx="6246762" cy="852297"/>
          </a:xfrm>
          <a:prstGeom prst="rect">
            <a:avLst/>
          </a:prstGeom>
        </p:spPr>
        <p:txBody>
          <a:bodyPr wrap="square" lIns="0" tIns="0" rIns="0" bIns="0" rtlCol="0" anchor="t">
            <a:spAutoFit/>
          </a:bodyPr>
          <a:lstStyle/>
          <a:p>
            <a:pPr algn="l">
              <a:lnSpc>
                <a:spcPts val="6864"/>
              </a:lnSpc>
            </a:pPr>
            <a:r>
              <a:rPr lang="en-US" sz="5500" dirty="0">
                <a:solidFill>
                  <a:srgbClr val="2C3F42"/>
                </a:solidFill>
                <a:latin typeface="Merriweather"/>
                <a:ea typeface="Merriweather"/>
                <a:cs typeface="Merriweather"/>
                <a:sym typeface="Merriweather"/>
              </a:rPr>
              <a:t>Our Motivation</a:t>
            </a:r>
          </a:p>
        </p:txBody>
      </p:sp>
      <p:sp>
        <p:nvSpPr>
          <p:cNvPr id="5" name="TextBox 5"/>
          <p:cNvSpPr txBox="1"/>
          <p:nvPr/>
        </p:nvSpPr>
        <p:spPr>
          <a:xfrm>
            <a:off x="992238" y="3239986"/>
            <a:ext cx="16303523" cy="860908"/>
          </a:xfrm>
          <a:prstGeom prst="rect">
            <a:avLst/>
          </a:prstGeom>
        </p:spPr>
        <p:txBody>
          <a:bodyPr lIns="0" tIns="0" rIns="0" bIns="0" rtlCol="0" anchor="t">
            <a:spAutoFit/>
          </a:bodyPr>
          <a:lstStyle/>
          <a:p>
            <a:pPr algn="l">
              <a:lnSpc>
                <a:spcPts val="3511"/>
              </a:lnSpc>
            </a:pPr>
            <a:r>
              <a:rPr lang="en-US" sz="2200">
                <a:solidFill>
                  <a:srgbClr val="2B2E3C"/>
                </a:solidFill>
                <a:latin typeface="Roboto"/>
                <a:ea typeface="Roboto"/>
                <a:cs typeface="Roboto"/>
                <a:sym typeface="Roboto"/>
              </a:rPr>
              <a:t>University life is often complicated by a highly fragmented scheduling landscape, leading to unnecessary stress and inefficiency for students. This friction stems from the absence of unified systems.</a:t>
            </a:r>
          </a:p>
        </p:txBody>
      </p:sp>
      <p:grpSp>
        <p:nvGrpSpPr>
          <p:cNvPr id="6" name="Group 6"/>
          <p:cNvGrpSpPr/>
          <p:nvPr/>
        </p:nvGrpSpPr>
        <p:grpSpPr>
          <a:xfrm>
            <a:off x="973188" y="4542387"/>
            <a:ext cx="5283546" cy="3108874"/>
            <a:chOff x="0" y="0"/>
            <a:chExt cx="7044728" cy="4145166"/>
          </a:xfrm>
        </p:grpSpPr>
        <p:sp>
          <p:nvSpPr>
            <p:cNvPr id="7" name="Freeform 7"/>
            <p:cNvSpPr/>
            <p:nvPr/>
          </p:nvSpPr>
          <p:spPr>
            <a:xfrm>
              <a:off x="25400" y="25400"/>
              <a:ext cx="6993890" cy="4094353"/>
            </a:xfrm>
            <a:custGeom>
              <a:avLst/>
              <a:gdLst/>
              <a:ahLst/>
              <a:cxnLst/>
              <a:rect l="l" t="t" r="r" b="b"/>
              <a:pathLst>
                <a:path w="6993890" h="4094353">
                  <a:moveTo>
                    <a:pt x="0" y="243840"/>
                  </a:moveTo>
                  <a:cubicBezTo>
                    <a:pt x="0" y="109220"/>
                    <a:pt x="109728" y="0"/>
                    <a:pt x="245110" y="0"/>
                  </a:cubicBezTo>
                  <a:lnTo>
                    <a:pt x="6748780" y="0"/>
                  </a:lnTo>
                  <a:cubicBezTo>
                    <a:pt x="6884162" y="0"/>
                    <a:pt x="6993890" y="109220"/>
                    <a:pt x="6993890" y="243840"/>
                  </a:cubicBezTo>
                  <a:lnTo>
                    <a:pt x="6993890" y="3850513"/>
                  </a:lnTo>
                  <a:cubicBezTo>
                    <a:pt x="6993890" y="3985133"/>
                    <a:pt x="6884162" y="4094353"/>
                    <a:pt x="6748780" y="4094353"/>
                  </a:cubicBezTo>
                  <a:lnTo>
                    <a:pt x="245110" y="4094353"/>
                  </a:lnTo>
                  <a:cubicBezTo>
                    <a:pt x="109728" y="4094353"/>
                    <a:pt x="0" y="3985133"/>
                    <a:pt x="0" y="3850513"/>
                  </a:cubicBezTo>
                  <a:close/>
                </a:path>
              </a:pathLst>
            </a:custGeom>
            <a:solidFill>
              <a:srgbClr val="FFF8F0"/>
            </a:solidFill>
          </p:spPr>
          <p:txBody>
            <a:bodyPr/>
            <a:lstStyle/>
            <a:p>
              <a:endParaRPr lang="en-GB" dirty="0"/>
            </a:p>
          </p:txBody>
        </p:sp>
        <p:sp>
          <p:nvSpPr>
            <p:cNvPr id="8" name="Freeform 8"/>
            <p:cNvSpPr/>
            <p:nvPr/>
          </p:nvSpPr>
          <p:spPr>
            <a:xfrm>
              <a:off x="0" y="0"/>
              <a:ext cx="7044690" cy="4145153"/>
            </a:xfrm>
            <a:custGeom>
              <a:avLst/>
              <a:gdLst/>
              <a:ahLst/>
              <a:cxnLst/>
              <a:rect l="l" t="t" r="r" b="b"/>
              <a:pathLst>
                <a:path w="7044690" h="4145153">
                  <a:moveTo>
                    <a:pt x="0" y="269240"/>
                  </a:moveTo>
                  <a:cubicBezTo>
                    <a:pt x="0" y="120396"/>
                    <a:pt x="121285" y="0"/>
                    <a:pt x="270510" y="0"/>
                  </a:cubicBezTo>
                  <a:lnTo>
                    <a:pt x="6774180" y="0"/>
                  </a:lnTo>
                  <a:lnTo>
                    <a:pt x="6774180" y="25400"/>
                  </a:lnTo>
                  <a:lnTo>
                    <a:pt x="6774180" y="0"/>
                  </a:lnTo>
                  <a:cubicBezTo>
                    <a:pt x="6923405" y="0"/>
                    <a:pt x="7044690" y="120396"/>
                    <a:pt x="7044690" y="269240"/>
                  </a:cubicBezTo>
                  <a:lnTo>
                    <a:pt x="7019290" y="269240"/>
                  </a:lnTo>
                  <a:lnTo>
                    <a:pt x="7044690" y="269240"/>
                  </a:lnTo>
                  <a:lnTo>
                    <a:pt x="7044690" y="3875913"/>
                  </a:lnTo>
                  <a:lnTo>
                    <a:pt x="7019290" y="3875913"/>
                  </a:lnTo>
                  <a:lnTo>
                    <a:pt x="7044690" y="3875913"/>
                  </a:lnTo>
                  <a:cubicBezTo>
                    <a:pt x="7044690" y="4024757"/>
                    <a:pt x="6923405" y="4145153"/>
                    <a:pt x="6774180" y="4145153"/>
                  </a:cubicBezTo>
                  <a:lnTo>
                    <a:pt x="6774180" y="4119753"/>
                  </a:lnTo>
                  <a:lnTo>
                    <a:pt x="6774180" y="4145153"/>
                  </a:lnTo>
                  <a:lnTo>
                    <a:pt x="270510" y="4145153"/>
                  </a:lnTo>
                  <a:lnTo>
                    <a:pt x="270510" y="4119753"/>
                  </a:lnTo>
                  <a:lnTo>
                    <a:pt x="270510" y="4145153"/>
                  </a:lnTo>
                  <a:cubicBezTo>
                    <a:pt x="121285" y="4145153"/>
                    <a:pt x="0" y="4024757"/>
                    <a:pt x="0" y="3875913"/>
                  </a:cubicBezTo>
                  <a:lnTo>
                    <a:pt x="0" y="269240"/>
                  </a:lnTo>
                  <a:lnTo>
                    <a:pt x="25400" y="269240"/>
                  </a:lnTo>
                  <a:lnTo>
                    <a:pt x="0" y="269240"/>
                  </a:lnTo>
                  <a:moveTo>
                    <a:pt x="50800" y="269240"/>
                  </a:moveTo>
                  <a:lnTo>
                    <a:pt x="50800" y="3875913"/>
                  </a:lnTo>
                  <a:lnTo>
                    <a:pt x="25400" y="3875913"/>
                  </a:lnTo>
                  <a:lnTo>
                    <a:pt x="50800" y="3875913"/>
                  </a:lnTo>
                  <a:cubicBezTo>
                    <a:pt x="50800" y="3996436"/>
                    <a:pt x="149098" y="4094353"/>
                    <a:pt x="270510" y="4094353"/>
                  </a:cubicBezTo>
                  <a:lnTo>
                    <a:pt x="6774180" y="4094353"/>
                  </a:lnTo>
                  <a:cubicBezTo>
                    <a:pt x="6895592" y="4094353"/>
                    <a:pt x="6993890" y="3996436"/>
                    <a:pt x="6993890" y="3875913"/>
                  </a:cubicBezTo>
                  <a:lnTo>
                    <a:pt x="6993890" y="269240"/>
                  </a:lnTo>
                  <a:cubicBezTo>
                    <a:pt x="6993890" y="148717"/>
                    <a:pt x="6895592" y="50800"/>
                    <a:pt x="6774180" y="50800"/>
                  </a:cubicBezTo>
                  <a:lnTo>
                    <a:pt x="270510" y="50800"/>
                  </a:lnTo>
                  <a:lnTo>
                    <a:pt x="270510" y="25400"/>
                  </a:lnTo>
                  <a:lnTo>
                    <a:pt x="270510" y="50800"/>
                  </a:lnTo>
                  <a:cubicBezTo>
                    <a:pt x="149098" y="50800"/>
                    <a:pt x="50800" y="148717"/>
                    <a:pt x="50800" y="269240"/>
                  </a:cubicBezTo>
                  <a:close/>
                </a:path>
              </a:pathLst>
            </a:custGeom>
            <a:solidFill>
              <a:srgbClr val="E2C8B5"/>
            </a:solidFill>
          </p:spPr>
        </p:sp>
      </p:grpSp>
      <p:grpSp>
        <p:nvGrpSpPr>
          <p:cNvPr id="9" name="Group 9"/>
          <p:cNvGrpSpPr/>
          <p:nvPr/>
        </p:nvGrpSpPr>
        <p:grpSpPr>
          <a:xfrm>
            <a:off x="954138" y="4561437"/>
            <a:ext cx="152400" cy="3070774"/>
            <a:chOff x="0" y="0"/>
            <a:chExt cx="203200" cy="4094366"/>
          </a:xfrm>
        </p:grpSpPr>
        <p:sp>
          <p:nvSpPr>
            <p:cNvPr id="10" name="Freeform 10"/>
            <p:cNvSpPr/>
            <p:nvPr/>
          </p:nvSpPr>
          <p:spPr>
            <a:xfrm>
              <a:off x="0" y="0"/>
              <a:ext cx="203200" cy="4094353"/>
            </a:xfrm>
            <a:custGeom>
              <a:avLst/>
              <a:gdLst/>
              <a:ahLst/>
              <a:cxnLst/>
              <a:rect l="l" t="t" r="r" b="b"/>
              <a:pathLst>
                <a:path w="203200" h="4094353">
                  <a:moveTo>
                    <a:pt x="0" y="101600"/>
                  </a:moveTo>
                  <a:cubicBezTo>
                    <a:pt x="0" y="45466"/>
                    <a:pt x="45466" y="0"/>
                    <a:pt x="101600" y="0"/>
                  </a:cubicBezTo>
                  <a:cubicBezTo>
                    <a:pt x="157734" y="0"/>
                    <a:pt x="203200" y="45466"/>
                    <a:pt x="203200" y="101600"/>
                  </a:cubicBezTo>
                  <a:lnTo>
                    <a:pt x="203200" y="3992753"/>
                  </a:lnTo>
                  <a:cubicBezTo>
                    <a:pt x="203200" y="4048887"/>
                    <a:pt x="157734" y="4094353"/>
                    <a:pt x="101600" y="4094353"/>
                  </a:cubicBezTo>
                  <a:cubicBezTo>
                    <a:pt x="45466" y="4094353"/>
                    <a:pt x="0" y="4048887"/>
                    <a:pt x="0" y="3992753"/>
                  </a:cubicBezTo>
                  <a:close/>
                </a:path>
              </a:pathLst>
            </a:custGeom>
            <a:solidFill>
              <a:srgbClr val="D2600F"/>
            </a:solidFill>
          </p:spPr>
        </p:sp>
      </p:grpSp>
      <p:sp>
        <p:nvSpPr>
          <p:cNvPr id="11" name="TextBox 11"/>
          <p:cNvSpPr txBox="1"/>
          <p:nvPr/>
        </p:nvSpPr>
        <p:spPr>
          <a:xfrm>
            <a:off x="1428150" y="4873523"/>
            <a:ext cx="4487912" cy="417230"/>
          </a:xfrm>
          <a:prstGeom prst="rect">
            <a:avLst/>
          </a:prstGeom>
        </p:spPr>
        <p:txBody>
          <a:bodyPr wrap="square" lIns="0" tIns="0" rIns="0" bIns="0" rtlCol="0" anchor="t">
            <a:spAutoFit/>
          </a:bodyPr>
          <a:lstStyle/>
          <a:p>
            <a:pPr algn="l">
              <a:lnSpc>
                <a:spcPts val="3369"/>
              </a:lnSpc>
            </a:pPr>
            <a:r>
              <a:rPr lang="en-US" sz="2700" dirty="0">
                <a:solidFill>
                  <a:srgbClr val="2B2E3C"/>
                </a:solidFill>
                <a:latin typeface="Merriweather"/>
                <a:ea typeface="Merriweather"/>
                <a:cs typeface="Merriweather"/>
                <a:sym typeface="Merriweather"/>
              </a:rPr>
              <a:t>Dispersed Office</a:t>
            </a:r>
            <a:r>
              <a:rPr lang="tr-TR" sz="2700" dirty="0">
                <a:solidFill>
                  <a:srgbClr val="2B2E3C"/>
                </a:solidFill>
                <a:latin typeface="Merriweather"/>
                <a:ea typeface="Merriweather"/>
                <a:cs typeface="Merriweather"/>
                <a:sym typeface="Merriweather"/>
              </a:rPr>
              <a:t> </a:t>
            </a:r>
            <a:r>
              <a:rPr lang="en-US" sz="2700" dirty="0">
                <a:solidFill>
                  <a:srgbClr val="2B2E3C"/>
                </a:solidFill>
                <a:latin typeface="Merriweather"/>
                <a:ea typeface="Merriweather"/>
                <a:cs typeface="Merriweather"/>
                <a:sym typeface="Merriweather"/>
              </a:rPr>
              <a:t>Hours</a:t>
            </a:r>
          </a:p>
        </p:txBody>
      </p:sp>
      <p:sp>
        <p:nvSpPr>
          <p:cNvPr id="12" name="TextBox 12"/>
          <p:cNvSpPr txBox="1"/>
          <p:nvPr/>
        </p:nvSpPr>
        <p:spPr>
          <a:xfrm>
            <a:off x="1428150" y="5400827"/>
            <a:ext cx="4487913" cy="1299058"/>
          </a:xfrm>
          <a:prstGeom prst="rect">
            <a:avLst/>
          </a:prstGeom>
        </p:spPr>
        <p:txBody>
          <a:bodyPr lIns="0" tIns="0" rIns="0" bIns="0" rtlCol="0" anchor="t">
            <a:spAutoFit/>
          </a:bodyPr>
          <a:lstStyle/>
          <a:p>
            <a:pPr algn="l">
              <a:lnSpc>
                <a:spcPts val="3511"/>
              </a:lnSpc>
            </a:pPr>
            <a:r>
              <a:rPr lang="en-US" sz="2200">
                <a:solidFill>
                  <a:srgbClr val="2B2E3C"/>
                </a:solidFill>
                <a:latin typeface="Roboto"/>
                <a:ea typeface="Roboto"/>
                <a:cs typeface="Roboto"/>
                <a:sym typeface="Roboto"/>
              </a:rPr>
              <a:t>Students struggle to track and coordinate with professors' varying availability for office hours.</a:t>
            </a:r>
          </a:p>
        </p:txBody>
      </p:sp>
      <p:grpSp>
        <p:nvGrpSpPr>
          <p:cNvPr id="13" name="Group 13"/>
          <p:cNvGrpSpPr/>
          <p:nvPr/>
        </p:nvGrpSpPr>
        <p:grpSpPr>
          <a:xfrm>
            <a:off x="6502156" y="4542387"/>
            <a:ext cx="5283546" cy="3108874"/>
            <a:chOff x="0" y="0"/>
            <a:chExt cx="7044728" cy="4145166"/>
          </a:xfrm>
        </p:grpSpPr>
        <p:sp>
          <p:nvSpPr>
            <p:cNvPr id="14" name="Freeform 14"/>
            <p:cNvSpPr/>
            <p:nvPr/>
          </p:nvSpPr>
          <p:spPr>
            <a:xfrm>
              <a:off x="25400" y="25400"/>
              <a:ext cx="6993890" cy="4094353"/>
            </a:xfrm>
            <a:custGeom>
              <a:avLst/>
              <a:gdLst/>
              <a:ahLst/>
              <a:cxnLst/>
              <a:rect l="l" t="t" r="r" b="b"/>
              <a:pathLst>
                <a:path w="6993890" h="4094353">
                  <a:moveTo>
                    <a:pt x="0" y="243840"/>
                  </a:moveTo>
                  <a:cubicBezTo>
                    <a:pt x="0" y="109220"/>
                    <a:pt x="109728" y="0"/>
                    <a:pt x="245110" y="0"/>
                  </a:cubicBezTo>
                  <a:lnTo>
                    <a:pt x="6748780" y="0"/>
                  </a:lnTo>
                  <a:cubicBezTo>
                    <a:pt x="6884162" y="0"/>
                    <a:pt x="6993890" y="109220"/>
                    <a:pt x="6993890" y="243840"/>
                  </a:cubicBezTo>
                  <a:lnTo>
                    <a:pt x="6993890" y="3850513"/>
                  </a:lnTo>
                  <a:cubicBezTo>
                    <a:pt x="6993890" y="3985133"/>
                    <a:pt x="6884162" y="4094353"/>
                    <a:pt x="6748780" y="4094353"/>
                  </a:cubicBezTo>
                  <a:lnTo>
                    <a:pt x="245110" y="4094353"/>
                  </a:lnTo>
                  <a:cubicBezTo>
                    <a:pt x="109728" y="4094353"/>
                    <a:pt x="0" y="3985133"/>
                    <a:pt x="0" y="3850513"/>
                  </a:cubicBezTo>
                  <a:close/>
                </a:path>
              </a:pathLst>
            </a:custGeom>
            <a:solidFill>
              <a:srgbClr val="FFF8F0"/>
            </a:solidFill>
          </p:spPr>
        </p:sp>
        <p:sp>
          <p:nvSpPr>
            <p:cNvPr id="15" name="Freeform 15"/>
            <p:cNvSpPr/>
            <p:nvPr/>
          </p:nvSpPr>
          <p:spPr>
            <a:xfrm>
              <a:off x="0" y="0"/>
              <a:ext cx="7044690" cy="4145153"/>
            </a:xfrm>
            <a:custGeom>
              <a:avLst/>
              <a:gdLst/>
              <a:ahLst/>
              <a:cxnLst/>
              <a:rect l="l" t="t" r="r" b="b"/>
              <a:pathLst>
                <a:path w="7044690" h="4145153">
                  <a:moveTo>
                    <a:pt x="0" y="269240"/>
                  </a:moveTo>
                  <a:cubicBezTo>
                    <a:pt x="0" y="120396"/>
                    <a:pt x="121285" y="0"/>
                    <a:pt x="270510" y="0"/>
                  </a:cubicBezTo>
                  <a:lnTo>
                    <a:pt x="6774180" y="0"/>
                  </a:lnTo>
                  <a:lnTo>
                    <a:pt x="6774180" y="25400"/>
                  </a:lnTo>
                  <a:lnTo>
                    <a:pt x="6774180" y="0"/>
                  </a:lnTo>
                  <a:cubicBezTo>
                    <a:pt x="6923405" y="0"/>
                    <a:pt x="7044690" y="120396"/>
                    <a:pt x="7044690" y="269240"/>
                  </a:cubicBezTo>
                  <a:lnTo>
                    <a:pt x="7019290" y="269240"/>
                  </a:lnTo>
                  <a:lnTo>
                    <a:pt x="7044690" y="269240"/>
                  </a:lnTo>
                  <a:lnTo>
                    <a:pt x="7044690" y="3875913"/>
                  </a:lnTo>
                  <a:lnTo>
                    <a:pt x="7019290" y="3875913"/>
                  </a:lnTo>
                  <a:lnTo>
                    <a:pt x="7044690" y="3875913"/>
                  </a:lnTo>
                  <a:cubicBezTo>
                    <a:pt x="7044690" y="4024757"/>
                    <a:pt x="6923405" y="4145153"/>
                    <a:pt x="6774180" y="4145153"/>
                  </a:cubicBezTo>
                  <a:lnTo>
                    <a:pt x="6774180" y="4119753"/>
                  </a:lnTo>
                  <a:lnTo>
                    <a:pt x="6774180" y="4145153"/>
                  </a:lnTo>
                  <a:lnTo>
                    <a:pt x="270510" y="4145153"/>
                  </a:lnTo>
                  <a:lnTo>
                    <a:pt x="270510" y="4119753"/>
                  </a:lnTo>
                  <a:lnTo>
                    <a:pt x="270510" y="4145153"/>
                  </a:lnTo>
                  <a:cubicBezTo>
                    <a:pt x="121285" y="4145153"/>
                    <a:pt x="0" y="4024757"/>
                    <a:pt x="0" y="3875913"/>
                  </a:cubicBezTo>
                  <a:lnTo>
                    <a:pt x="0" y="269240"/>
                  </a:lnTo>
                  <a:lnTo>
                    <a:pt x="25400" y="269240"/>
                  </a:lnTo>
                  <a:lnTo>
                    <a:pt x="0" y="269240"/>
                  </a:lnTo>
                  <a:moveTo>
                    <a:pt x="50800" y="269240"/>
                  </a:moveTo>
                  <a:lnTo>
                    <a:pt x="50800" y="3875913"/>
                  </a:lnTo>
                  <a:lnTo>
                    <a:pt x="25400" y="3875913"/>
                  </a:lnTo>
                  <a:lnTo>
                    <a:pt x="50800" y="3875913"/>
                  </a:lnTo>
                  <a:cubicBezTo>
                    <a:pt x="50800" y="3996436"/>
                    <a:pt x="149098" y="4094353"/>
                    <a:pt x="270510" y="4094353"/>
                  </a:cubicBezTo>
                  <a:lnTo>
                    <a:pt x="6774180" y="4094353"/>
                  </a:lnTo>
                  <a:cubicBezTo>
                    <a:pt x="6895592" y="4094353"/>
                    <a:pt x="6993890" y="3996436"/>
                    <a:pt x="6993890" y="3875913"/>
                  </a:cubicBezTo>
                  <a:lnTo>
                    <a:pt x="6993890" y="269240"/>
                  </a:lnTo>
                  <a:cubicBezTo>
                    <a:pt x="6993890" y="148717"/>
                    <a:pt x="6895592" y="50800"/>
                    <a:pt x="6774180" y="50800"/>
                  </a:cubicBezTo>
                  <a:lnTo>
                    <a:pt x="270510" y="50800"/>
                  </a:lnTo>
                  <a:lnTo>
                    <a:pt x="270510" y="25400"/>
                  </a:lnTo>
                  <a:lnTo>
                    <a:pt x="270510" y="50800"/>
                  </a:lnTo>
                  <a:cubicBezTo>
                    <a:pt x="149098" y="50800"/>
                    <a:pt x="50800" y="148717"/>
                    <a:pt x="50800" y="269240"/>
                  </a:cubicBezTo>
                  <a:close/>
                </a:path>
              </a:pathLst>
            </a:custGeom>
            <a:solidFill>
              <a:srgbClr val="E2C8B5"/>
            </a:solidFill>
          </p:spPr>
        </p:sp>
      </p:grpSp>
      <p:grpSp>
        <p:nvGrpSpPr>
          <p:cNvPr id="16" name="Group 16"/>
          <p:cNvGrpSpPr/>
          <p:nvPr/>
        </p:nvGrpSpPr>
        <p:grpSpPr>
          <a:xfrm>
            <a:off x="6483106" y="4561437"/>
            <a:ext cx="152400" cy="3070774"/>
            <a:chOff x="0" y="0"/>
            <a:chExt cx="203200" cy="4094366"/>
          </a:xfrm>
        </p:grpSpPr>
        <p:sp>
          <p:nvSpPr>
            <p:cNvPr id="17" name="Freeform 17"/>
            <p:cNvSpPr/>
            <p:nvPr/>
          </p:nvSpPr>
          <p:spPr>
            <a:xfrm>
              <a:off x="0" y="0"/>
              <a:ext cx="203200" cy="4094353"/>
            </a:xfrm>
            <a:custGeom>
              <a:avLst/>
              <a:gdLst/>
              <a:ahLst/>
              <a:cxnLst/>
              <a:rect l="l" t="t" r="r" b="b"/>
              <a:pathLst>
                <a:path w="203200" h="4094353">
                  <a:moveTo>
                    <a:pt x="0" y="101600"/>
                  </a:moveTo>
                  <a:cubicBezTo>
                    <a:pt x="0" y="45466"/>
                    <a:pt x="45466" y="0"/>
                    <a:pt x="101600" y="0"/>
                  </a:cubicBezTo>
                  <a:cubicBezTo>
                    <a:pt x="157734" y="0"/>
                    <a:pt x="203200" y="45466"/>
                    <a:pt x="203200" y="101600"/>
                  </a:cubicBezTo>
                  <a:lnTo>
                    <a:pt x="203200" y="3992753"/>
                  </a:lnTo>
                  <a:cubicBezTo>
                    <a:pt x="203200" y="4048887"/>
                    <a:pt x="157734" y="4094353"/>
                    <a:pt x="101600" y="4094353"/>
                  </a:cubicBezTo>
                  <a:cubicBezTo>
                    <a:pt x="45466" y="4094353"/>
                    <a:pt x="0" y="4048887"/>
                    <a:pt x="0" y="3992753"/>
                  </a:cubicBezTo>
                  <a:close/>
                </a:path>
              </a:pathLst>
            </a:custGeom>
            <a:solidFill>
              <a:srgbClr val="D2600F"/>
            </a:solidFill>
          </p:spPr>
        </p:sp>
      </p:grpSp>
      <p:sp>
        <p:nvSpPr>
          <p:cNvPr id="18" name="TextBox 18"/>
          <p:cNvSpPr txBox="1"/>
          <p:nvPr/>
        </p:nvSpPr>
        <p:spPr>
          <a:xfrm>
            <a:off x="6957117" y="4873523"/>
            <a:ext cx="3645456" cy="412166"/>
          </a:xfrm>
          <a:prstGeom prst="rect">
            <a:avLst/>
          </a:prstGeom>
        </p:spPr>
        <p:txBody>
          <a:bodyPr lIns="0" tIns="0" rIns="0" bIns="0" rtlCol="0" anchor="t">
            <a:spAutoFit/>
          </a:bodyPr>
          <a:lstStyle/>
          <a:p>
            <a:pPr algn="l">
              <a:lnSpc>
                <a:spcPts val="3369"/>
              </a:lnSpc>
            </a:pPr>
            <a:r>
              <a:rPr lang="en-US" sz="2700">
                <a:solidFill>
                  <a:srgbClr val="2B2E3C"/>
                </a:solidFill>
                <a:latin typeface="Merriweather"/>
                <a:ea typeface="Merriweather"/>
                <a:cs typeface="Merriweather"/>
                <a:sym typeface="Merriweather"/>
              </a:rPr>
              <a:t>Study Room Conflicts</a:t>
            </a:r>
          </a:p>
        </p:txBody>
      </p:sp>
      <p:sp>
        <p:nvSpPr>
          <p:cNvPr id="19" name="TextBox 19"/>
          <p:cNvSpPr txBox="1"/>
          <p:nvPr/>
        </p:nvSpPr>
        <p:spPr>
          <a:xfrm>
            <a:off x="6957117" y="5400827"/>
            <a:ext cx="4487913" cy="1299058"/>
          </a:xfrm>
          <a:prstGeom prst="rect">
            <a:avLst/>
          </a:prstGeom>
        </p:spPr>
        <p:txBody>
          <a:bodyPr lIns="0" tIns="0" rIns="0" bIns="0" rtlCol="0" anchor="t">
            <a:spAutoFit/>
          </a:bodyPr>
          <a:lstStyle/>
          <a:p>
            <a:pPr algn="l">
              <a:lnSpc>
                <a:spcPts val="3511"/>
              </a:lnSpc>
            </a:pPr>
            <a:r>
              <a:rPr lang="en-US" sz="2200">
                <a:solidFill>
                  <a:srgbClr val="2B2E3C"/>
                </a:solidFill>
                <a:latin typeface="Roboto"/>
                <a:ea typeface="Roboto"/>
                <a:cs typeface="Roboto"/>
                <a:sym typeface="Roboto"/>
              </a:rPr>
              <a:t>The frequent unavailability of study rooms leads to frustration and wasted time.</a:t>
            </a:r>
          </a:p>
        </p:txBody>
      </p:sp>
      <p:grpSp>
        <p:nvGrpSpPr>
          <p:cNvPr id="20" name="Group 20"/>
          <p:cNvGrpSpPr/>
          <p:nvPr/>
        </p:nvGrpSpPr>
        <p:grpSpPr>
          <a:xfrm>
            <a:off x="12031113" y="4542387"/>
            <a:ext cx="5283546" cy="3108874"/>
            <a:chOff x="0" y="0"/>
            <a:chExt cx="7044728" cy="4145166"/>
          </a:xfrm>
        </p:grpSpPr>
        <p:sp>
          <p:nvSpPr>
            <p:cNvPr id="21" name="Freeform 21"/>
            <p:cNvSpPr/>
            <p:nvPr/>
          </p:nvSpPr>
          <p:spPr>
            <a:xfrm>
              <a:off x="25400" y="25400"/>
              <a:ext cx="6993890" cy="4094353"/>
            </a:xfrm>
            <a:custGeom>
              <a:avLst/>
              <a:gdLst/>
              <a:ahLst/>
              <a:cxnLst/>
              <a:rect l="l" t="t" r="r" b="b"/>
              <a:pathLst>
                <a:path w="6993890" h="4094353">
                  <a:moveTo>
                    <a:pt x="0" y="243840"/>
                  </a:moveTo>
                  <a:cubicBezTo>
                    <a:pt x="0" y="109220"/>
                    <a:pt x="109728" y="0"/>
                    <a:pt x="245110" y="0"/>
                  </a:cubicBezTo>
                  <a:lnTo>
                    <a:pt x="6748780" y="0"/>
                  </a:lnTo>
                  <a:cubicBezTo>
                    <a:pt x="6884162" y="0"/>
                    <a:pt x="6993890" y="109220"/>
                    <a:pt x="6993890" y="243840"/>
                  </a:cubicBezTo>
                  <a:lnTo>
                    <a:pt x="6993890" y="3850513"/>
                  </a:lnTo>
                  <a:cubicBezTo>
                    <a:pt x="6993890" y="3985133"/>
                    <a:pt x="6884162" y="4094353"/>
                    <a:pt x="6748780" y="4094353"/>
                  </a:cubicBezTo>
                  <a:lnTo>
                    <a:pt x="245110" y="4094353"/>
                  </a:lnTo>
                  <a:cubicBezTo>
                    <a:pt x="109728" y="4094353"/>
                    <a:pt x="0" y="3985133"/>
                    <a:pt x="0" y="3850513"/>
                  </a:cubicBezTo>
                  <a:close/>
                </a:path>
              </a:pathLst>
            </a:custGeom>
            <a:solidFill>
              <a:srgbClr val="FFF8F0"/>
            </a:solidFill>
          </p:spPr>
        </p:sp>
        <p:sp>
          <p:nvSpPr>
            <p:cNvPr id="22" name="Freeform 22"/>
            <p:cNvSpPr/>
            <p:nvPr/>
          </p:nvSpPr>
          <p:spPr>
            <a:xfrm>
              <a:off x="0" y="0"/>
              <a:ext cx="7044690" cy="4145153"/>
            </a:xfrm>
            <a:custGeom>
              <a:avLst/>
              <a:gdLst/>
              <a:ahLst/>
              <a:cxnLst/>
              <a:rect l="l" t="t" r="r" b="b"/>
              <a:pathLst>
                <a:path w="7044690" h="4145153">
                  <a:moveTo>
                    <a:pt x="0" y="269240"/>
                  </a:moveTo>
                  <a:cubicBezTo>
                    <a:pt x="0" y="120396"/>
                    <a:pt x="121285" y="0"/>
                    <a:pt x="270510" y="0"/>
                  </a:cubicBezTo>
                  <a:lnTo>
                    <a:pt x="6774180" y="0"/>
                  </a:lnTo>
                  <a:lnTo>
                    <a:pt x="6774180" y="25400"/>
                  </a:lnTo>
                  <a:lnTo>
                    <a:pt x="6774180" y="0"/>
                  </a:lnTo>
                  <a:cubicBezTo>
                    <a:pt x="6923405" y="0"/>
                    <a:pt x="7044690" y="120396"/>
                    <a:pt x="7044690" y="269240"/>
                  </a:cubicBezTo>
                  <a:lnTo>
                    <a:pt x="7019290" y="269240"/>
                  </a:lnTo>
                  <a:lnTo>
                    <a:pt x="7044690" y="269240"/>
                  </a:lnTo>
                  <a:lnTo>
                    <a:pt x="7044690" y="3875913"/>
                  </a:lnTo>
                  <a:lnTo>
                    <a:pt x="7019290" y="3875913"/>
                  </a:lnTo>
                  <a:lnTo>
                    <a:pt x="7044690" y="3875913"/>
                  </a:lnTo>
                  <a:cubicBezTo>
                    <a:pt x="7044690" y="4024757"/>
                    <a:pt x="6923405" y="4145153"/>
                    <a:pt x="6774180" y="4145153"/>
                  </a:cubicBezTo>
                  <a:lnTo>
                    <a:pt x="6774180" y="4119753"/>
                  </a:lnTo>
                  <a:lnTo>
                    <a:pt x="6774180" y="4145153"/>
                  </a:lnTo>
                  <a:lnTo>
                    <a:pt x="270510" y="4145153"/>
                  </a:lnTo>
                  <a:lnTo>
                    <a:pt x="270510" y="4119753"/>
                  </a:lnTo>
                  <a:lnTo>
                    <a:pt x="270510" y="4145153"/>
                  </a:lnTo>
                  <a:cubicBezTo>
                    <a:pt x="121285" y="4145153"/>
                    <a:pt x="0" y="4024757"/>
                    <a:pt x="0" y="3875913"/>
                  </a:cubicBezTo>
                  <a:lnTo>
                    <a:pt x="0" y="269240"/>
                  </a:lnTo>
                  <a:lnTo>
                    <a:pt x="25400" y="269240"/>
                  </a:lnTo>
                  <a:lnTo>
                    <a:pt x="0" y="269240"/>
                  </a:lnTo>
                  <a:moveTo>
                    <a:pt x="50800" y="269240"/>
                  </a:moveTo>
                  <a:lnTo>
                    <a:pt x="50800" y="3875913"/>
                  </a:lnTo>
                  <a:lnTo>
                    <a:pt x="25400" y="3875913"/>
                  </a:lnTo>
                  <a:lnTo>
                    <a:pt x="50800" y="3875913"/>
                  </a:lnTo>
                  <a:cubicBezTo>
                    <a:pt x="50800" y="3996436"/>
                    <a:pt x="149098" y="4094353"/>
                    <a:pt x="270510" y="4094353"/>
                  </a:cubicBezTo>
                  <a:lnTo>
                    <a:pt x="6774180" y="4094353"/>
                  </a:lnTo>
                  <a:cubicBezTo>
                    <a:pt x="6895592" y="4094353"/>
                    <a:pt x="6993890" y="3996436"/>
                    <a:pt x="6993890" y="3875913"/>
                  </a:cubicBezTo>
                  <a:lnTo>
                    <a:pt x="6993890" y="269240"/>
                  </a:lnTo>
                  <a:cubicBezTo>
                    <a:pt x="6993890" y="148717"/>
                    <a:pt x="6895592" y="50800"/>
                    <a:pt x="6774180" y="50800"/>
                  </a:cubicBezTo>
                  <a:lnTo>
                    <a:pt x="270510" y="50800"/>
                  </a:lnTo>
                  <a:lnTo>
                    <a:pt x="270510" y="25400"/>
                  </a:lnTo>
                  <a:lnTo>
                    <a:pt x="270510" y="50800"/>
                  </a:lnTo>
                  <a:cubicBezTo>
                    <a:pt x="149098" y="50800"/>
                    <a:pt x="50800" y="148717"/>
                    <a:pt x="50800" y="269240"/>
                  </a:cubicBezTo>
                  <a:close/>
                </a:path>
              </a:pathLst>
            </a:custGeom>
            <a:solidFill>
              <a:srgbClr val="E2C8B5"/>
            </a:solidFill>
          </p:spPr>
        </p:sp>
      </p:grpSp>
      <p:grpSp>
        <p:nvGrpSpPr>
          <p:cNvPr id="23" name="Group 23"/>
          <p:cNvGrpSpPr/>
          <p:nvPr/>
        </p:nvGrpSpPr>
        <p:grpSpPr>
          <a:xfrm>
            <a:off x="12012063" y="4561437"/>
            <a:ext cx="152400" cy="3070774"/>
            <a:chOff x="0" y="0"/>
            <a:chExt cx="203200" cy="4094366"/>
          </a:xfrm>
        </p:grpSpPr>
        <p:sp>
          <p:nvSpPr>
            <p:cNvPr id="24" name="Freeform 24"/>
            <p:cNvSpPr/>
            <p:nvPr/>
          </p:nvSpPr>
          <p:spPr>
            <a:xfrm>
              <a:off x="0" y="0"/>
              <a:ext cx="203200" cy="4094353"/>
            </a:xfrm>
            <a:custGeom>
              <a:avLst/>
              <a:gdLst/>
              <a:ahLst/>
              <a:cxnLst/>
              <a:rect l="l" t="t" r="r" b="b"/>
              <a:pathLst>
                <a:path w="203200" h="4094353">
                  <a:moveTo>
                    <a:pt x="0" y="101600"/>
                  </a:moveTo>
                  <a:cubicBezTo>
                    <a:pt x="0" y="45466"/>
                    <a:pt x="45466" y="0"/>
                    <a:pt x="101600" y="0"/>
                  </a:cubicBezTo>
                  <a:cubicBezTo>
                    <a:pt x="157734" y="0"/>
                    <a:pt x="203200" y="45466"/>
                    <a:pt x="203200" y="101600"/>
                  </a:cubicBezTo>
                  <a:lnTo>
                    <a:pt x="203200" y="3992753"/>
                  </a:lnTo>
                  <a:cubicBezTo>
                    <a:pt x="203200" y="4048887"/>
                    <a:pt x="157734" y="4094353"/>
                    <a:pt x="101600" y="4094353"/>
                  </a:cubicBezTo>
                  <a:cubicBezTo>
                    <a:pt x="45466" y="4094353"/>
                    <a:pt x="0" y="4048887"/>
                    <a:pt x="0" y="3992753"/>
                  </a:cubicBezTo>
                  <a:close/>
                </a:path>
              </a:pathLst>
            </a:custGeom>
            <a:solidFill>
              <a:srgbClr val="D2600F"/>
            </a:solidFill>
          </p:spPr>
        </p:sp>
      </p:grpSp>
      <p:sp>
        <p:nvSpPr>
          <p:cNvPr id="25" name="TextBox 25"/>
          <p:cNvSpPr txBox="1"/>
          <p:nvPr/>
        </p:nvSpPr>
        <p:spPr>
          <a:xfrm>
            <a:off x="12486084" y="4873523"/>
            <a:ext cx="3663553" cy="412166"/>
          </a:xfrm>
          <a:prstGeom prst="rect">
            <a:avLst/>
          </a:prstGeom>
        </p:spPr>
        <p:txBody>
          <a:bodyPr lIns="0" tIns="0" rIns="0" bIns="0" rtlCol="0" anchor="t">
            <a:spAutoFit/>
          </a:bodyPr>
          <a:lstStyle/>
          <a:p>
            <a:pPr algn="l">
              <a:lnSpc>
                <a:spcPts val="3369"/>
              </a:lnSpc>
            </a:pPr>
            <a:r>
              <a:rPr lang="en-US" sz="2700">
                <a:solidFill>
                  <a:srgbClr val="2B2E3C"/>
                </a:solidFill>
                <a:latin typeface="Merriweather"/>
                <a:ea typeface="Merriweather"/>
                <a:cs typeface="Merriweather"/>
                <a:sym typeface="Merriweather"/>
              </a:rPr>
              <a:t>Outdated Transit Info</a:t>
            </a:r>
          </a:p>
        </p:txBody>
      </p:sp>
      <p:sp>
        <p:nvSpPr>
          <p:cNvPr id="26" name="TextBox 26"/>
          <p:cNvSpPr txBox="1"/>
          <p:nvPr/>
        </p:nvSpPr>
        <p:spPr>
          <a:xfrm>
            <a:off x="12486084" y="5400827"/>
            <a:ext cx="4487913" cy="1737208"/>
          </a:xfrm>
          <a:prstGeom prst="rect">
            <a:avLst/>
          </a:prstGeom>
        </p:spPr>
        <p:txBody>
          <a:bodyPr lIns="0" tIns="0" rIns="0" bIns="0" rtlCol="0" anchor="t">
            <a:spAutoFit/>
          </a:bodyPr>
          <a:lstStyle/>
          <a:p>
            <a:pPr algn="l">
              <a:lnSpc>
                <a:spcPts val="3511"/>
              </a:lnSpc>
            </a:pPr>
            <a:r>
              <a:rPr lang="en-US" sz="2200">
                <a:solidFill>
                  <a:srgbClr val="2B2E3C"/>
                </a:solidFill>
                <a:latin typeface="Roboto"/>
                <a:ea typeface="Roboto"/>
                <a:cs typeface="Roboto"/>
                <a:sym typeface="Roboto"/>
              </a:rPr>
              <a:t>Absence of real-time updates for campus bus schedules results in missed connections and unpredictable commute times.</a:t>
            </a:r>
          </a:p>
        </p:txBody>
      </p:sp>
      <p:sp>
        <p:nvSpPr>
          <p:cNvPr id="27" name="TextBox 27"/>
          <p:cNvSpPr txBox="1"/>
          <p:nvPr/>
        </p:nvSpPr>
        <p:spPr>
          <a:xfrm>
            <a:off x="992238" y="7855896"/>
            <a:ext cx="17217923" cy="422758"/>
          </a:xfrm>
          <a:prstGeom prst="rect">
            <a:avLst/>
          </a:prstGeom>
        </p:spPr>
        <p:txBody>
          <a:bodyPr lIns="0" tIns="0" rIns="0" bIns="0" rtlCol="0" anchor="t">
            <a:spAutoFit/>
          </a:bodyPr>
          <a:lstStyle/>
          <a:p>
            <a:pPr algn="l">
              <a:lnSpc>
                <a:spcPts val="3511"/>
              </a:lnSpc>
            </a:pPr>
            <a:r>
              <a:rPr lang="en-US" sz="2200">
                <a:solidFill>
                  <a:srgbClr val="2B2E3C"/>
                </a:solidFill>
                <a:latin typeface="Roboto"/>
                <a:ea typeface="Roboto"/>
                <a:cs typeface="Roboto"/>
                <a:sym typeface="Roboto"/>
              </a:rPr>
              <a:t>These disconnected services create significant barriers to a seamless and productive campus experience.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8F0"/>
            </a:solidFill>
          </p:spPr>
        </p:sp>
      </p:grpSp>
      <p:grpSp>
        <p:nvGrpSpPr>
          <p:cNvPr id="4" name="Group 4"/>
          <p:cNvGrpSpPr/>
          <p:nvPr/>
        </p:nvGrpSpPr>
        <p:grpSpPr>
          <a:xfrm>
            <a:off x="0" y="0"/>
            <a:ext cx="6858000" cy="10287000"/>
            <a:chOff x="0" y="0"/>
            <a:chExt cx="9144000" cy="13716000"/>
          </a:xfrm>
        </p:grpSpPr>
        <p:sp>
          <p:nvSpPr>
            <p:cNvPr id="5" name="Freeform 5"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3"/>
              <a:stretch>
                <a:fillRect/>
              </a:stretch>
            </a:blipFill>
          </p:spPr>
        </p:sp>
      </p:grpSp>
      <p:sp>
        <p:nvSpPr>
          <p:cNvPr id="6" name="TextBox 6"/>
          <p:cNvSpPr txBox="1"/>
          <p:nvPr/>
        </p:nvSpPr>
        <p:spPr>
          <a:xfrm>
            <a:off x="7772694" y="744884"/>
            <a:ext cx="8076905" cy="788060"/>
          </a:xfrm>
          <a:prstGeom prst="rect">
            <a:avLst/>
          </a:prstGeom>
        </p:spPr>
        <p:txBody>
          <a:bodyPr wrap="square" lIns="0" tIns="0" rIns="0" bIns="0" rtlCol="0" anchor="t">
            <a:spAutoFit/>
          </a:bodyPr>
          <a:lstStyle/>
          <a:p>
            <a:pPr algn="l">
              <a:lnSpc>
                <a:spcPts val="6364"/>
              </a:lnSpc>
            </a:pPr>
            <a:r>
              <a:rPr lang="en-US" sz="5100" dirty="0">
                <a:solidFill>
                  <a:srgbClr val="2C3F42"/>
                </a:solidFill>
                <a:latin typeface="Merriweather"/>
                <a:ea typeface="Merriweather"/>
                <a:cs typeface="Merriweather"/>
                <a:sym typeface="Merriweather"/>
              </a:rPr>
              <a:t>Why </a:t>
            </a:r>
            <a:r>
              <a:rPr lang="en-US" sz="5100" dirty="0" err="1">
                <a:solidFill>
                  <a:srgbClr val="2C3F42"/>
                </a:solidFill>
                <a:latin typeface="Merriweather"/>
                <a:ea typeface="Merriweather"/>
                <a:cs typeface="Merriweather"/>
                <a:sym typeface="Merriweather"/>
              </a:rPr>
              <a:t>UniQueue</a:t>
            </a:r>
            <a:r>
              <a:rPr lang="en-US" sz="5100" dirty="0">
                <a:solidFill>
                  <a:srgbClr val="2C3F42"/>
                </a:solidFill>
                <a:latin typeface="Merriweather"/>
                <a:ea typeface="Merriweather"/>
                <a:cs typeface="Merriweather"/>
                <a:sym typeface="Merriweather"/>
              </a:rPr>
              <a:t> Matters</a:t>
            </a:r>
          </a:p>
        </p:txBody>
      </p:sp>
      <p:sp>
        <p:nvSpPr>
          <p:cNvPr id="7" name="TextBox 7"/>
          <p:cNvSpPr txBox="1"/>
          <p:nvPr/>
        </p:nvSpPr>
        <p:spPr>
          <a:xfrm>
            <a:off x="7772695" y="1865862"/>
            <a:ext cx="9600600" cy="1268197"/>
          </a:xfrm>
          <a:prstGeom prst="rect">
            <a:avLst/>
          </a:prstGeom>
        </p:spPr>
        <p:txBody>
          <a:bodyPr lIns="0" tIns="0" rIns="0" bIns="0" rtlCol="0" anchor="t">
            <a:spAutoFit/>
          </a:bodyPr>
          <a:lstStyle/>
          <a:p>
            <a:pPr algn="l">
              <a:lnSpc>
                <a:spcPts val="3379"/>
              </a:lnSpc>
            </a:pPr>
            <a:r>
              <a:rPr lang="en-US" sz="2199" dirty="0">
                <a:solidFill>
                  <a:srgbClr val="2B2E3C"/>
                </a:solidFill>
                <a:latin typeface="Roboto"/>
                <a:ea typeface="Roboto"/>
                <a:cs typeface="Roboto"/>
                <a:sym typeface="Roboto"/>
              </a:rPr>
              <a:t>The current fragmented landscape has significant consequences, impacting both individual productivity and overall campus well-being. </a:t>
            </a:r>
            <a:r>
              <a:rPr lang="en-US" sz="2199" dirty="0" err="1">
                <a:solidFill>
                  <a:srgbClr val="2B2E3C"/>
                </a:solidFill>
                <a:latin typeface="Roboto"/>
                <a:ea typeface="Roboto"/>
                <a:cs typeface="Roboto"/>
                <a:sym typeface="Roboto"/>
              </a:rPr>
              <a:t>UniQueue</a:t>
            </a:r>
            <a:r>
              <a:rPr lang="en-US" sz="2199" dirty="0">
                <a:solidFill>
                  <a:srgbClr val="2B2E3C"/>
                </a:solidFill>
                <a:latin typeface="Roboto"/>
                <a:ea typeface="Roboto"/>
                <a:cs typeface="Roboto"/>
                <a:sym typeface="Roboto"/>
              </a:rPr>
              <a:t> solves these critical issues with a single platform.</a:t>
            </a:r>
          </a:p>
        </p:txBody>
      </p:sp>
      <p:grpSp>
        <p:nvGrpSpPr>
          <p:cNvPr id="8" name="Group 8"/>
          <p:cNvGrpSpPr/>
          <p:nvPr/>
        </p:nvGrpSpPr>
        <p:grpSpPr>
          <a:xfrm>
            <a:off x="7767933" y="3413369"/>
            <a:ext cx="597541" cy="597541"/>
            <a:chOff x="0" y="0"/>
            <a:chExt cx="796722" cy="796722"/>
          </a:xfrm>
        </p:grpSpPr>
        <p:sp>
          <p:nvSpPr>
            <p:cNvPr id="9" name="Freeform 9"/>
            <p:cNvSpPr/>
            <p:nvPr/>
          </p:nvSpPr>
          <p:spPr>
            <a:xfrm>
              <a:off x="6350" y="6350"/>
              <a:ext cx="784098" cy="784098"/>
            </a:xfrm>
            <a:custGeom>
              <a:avLst/>
              <a:gdLst/>
              <a:ahLst/>
              <a:cxnLst/>
              <a:rect l="l" t="t" r="r" b="b"/>
              <a:pathLst>
                <a:path w="784098" h="784098">
                  <a:moveTo>
                    <a:pt x="0" y="146431"/>
                  </a:moveTo>
                  <a:cubicBezTo>
                    <a:pt x="0" y="65532"/>
                    <a:pt x="65532" y="0"/>
                    <a:pt x="146431" y="0"/>
                  </a:cubicBezTo>
                  <a:lnTo>
                    <a:pt x="637667" y="0"/>
                  </a:lnTo>
                  <a:cubicBezTo>
                    <a:pt x="718566" y="0"/>
                    <a:pt x="784098" y="65532"/>
                    <a:pt x="784098" y="146431"/>
                  </a:cubicBezTo>
                  <a:lnTo>
                    <a:pt x="784098" y="637667"/>
                  </a:lnTo>
                  <a:cubicBezTo>
                    <a:pt x="784098" y="718566"/>
                    <a:pt x="718566" y="784098"/>
                    <a:pt x="637667" y="784098"/>
                  </a:cubicBezTo>
                  <a:lnTo>
                    <a:pt x="146431" y="784098"/>
                  </a:lnTo>
                  <a:cubicBezTo>
                    <a:pt x="65532" y="783971"/>
                    <a:pt x="0" y="718439"/>
                    <a:pt x="0" y="637667"/>
                  </a:cubicBezTo>
                  <a:close/>
                </a:path>
              </a:pathLst>
            </a:custGeom>
            <a:solidFill>
              <a:srgbClr val="FCE2CF"/>
            </a:solidFill>
          </p:spPr>
        </p:sp>
        <p:sp>
          <p:nvSpPr>
            <p:cNvPr id="10" name="Freeform 10"/>
            <p:cNvSpPr/>
            <p:nvPr/>
          </p:nvSpPr>
          <p:spPr>
            <a:xfrm>
              <a:off x="0" y="0"/>
              <a:ext cx="796798" cy="796798"/>
            </a:xfrm>
            <a:custGeom>
              <a:avLst/>
              <a:gdLst/>
              <a:ahLst/>
              <a:cxnLst/>
              <a:rect l="l" t="t" r="r" b="b"/>
              <a:pathLst>
                <a:path w="796798" h="796798">
                  <a:moveTo>
                    <a:pt x="0" y="152781"/>
                  </a:moveTo>
                  <a:cubicBezTo>
                    <a:pt x="0" y="68326"/>
                    <a:pt x="68326" y="0"/>
                    <a:pt x="152781" y="0"/>
                  </a:cubicBezTo>
                  <a:lnTo>
                    <a:pt x="644017" y="0"/>
                  </a:lnTo>
                  <a:lnTo>
                    <a:pt x="644017" y="6350"/>
                  </a:lnTo>
                  <a:lnTo>
                    <a:pt x="644017" y="0"/>
                  </a:lnTo>
                  <a:cubicBezTo>
                    <a:pt x="728345" y="0"/>
                    <a:pt x="796798" y="68326"/>
                    <a:pt x="796798" y="152781"/>
                  </a:cubicBezTo>
                  <a:lnTo>
                    <a:pt x="790448" y="152781"/>
                  </a:lnTo>
                  <a:lnTo>
                    <a:pt x="796798" y="152781"/>
                  </a:lnTo>
                  <a:lnTo>
                    <a:pt x="796798" y="644017"/>
                  </a:lnTo>
                  <a:lnTo>
                    <a:pt x="790448" y="644017"/>
                  </a:lnTo>
                  <a:lnTo>
                    <a:pt x="796798" y="644017"/>
                  </a:lnTo>
                  <a:cubicBezTo>
                    <a:pt x="796798" y="728345"/>
                    <a:pt x="728472" y="796798"/>
                    <a:pt x="644017" y="796798"/>
                  </a:cubicBezTo>
                  <a:lnTo>
                    <a:pt x="644017" y="790448"/>
                  </a:lnTo>
                  <a:lnTo>
                    <a:pt x="644017" y="796798"/>
                  </a:lnTo>
                  <a:lnTo>
                    <a:pt x="152781" y="796798"/>
                  </a:lnTo>
                  <a:lnTo>
                    <a:pt x="152781" y="790448"/>
                  </a:lnTo>
                  <a:lnTo>
                    <a:pt x="152781" y="796798"/>
                  </a:lnTo>
                  <a:cubicBezTo>
                    <a:pt x="68326" y="796671"/>
                    <a:pt x="0" y="728345"/>
                    <a:pt x="0" y="644017"/>
                  </a:cubicBezTo>
                  <a:lnTo>
                    <a:pt x="0" y="152781"/>
                  </a:lnTo>
                  <a:lnTo>
                    <a:pt x="6350" y="152781"/>
                  </a:lnTo>
                  <a:lnTo>
                    <a:pt x="0" y="152781"/>
                  </a:lnTo>
                  <a:moveTo>
                    <a:pt x="12700" y="152781"/>
                  </a:moveTo>
                  <a:lnTo>
                    <a:pt x="12700" y="644017"/>
                  </a:lnTo>
                  <a:lnTo>
                    <a:pt x="6350" y="644017"/>
                  </a:lnTo>
                  <a:lnTo>
                    <a:pt x="12700" y="644017"/>
                  </a:lnTo>
                  <a:cubicBezTo>
                    <a:pt x="12700" y="721360"/>
                    <a:pt x="75438" y="783971"/>
                    <a:pt x="152781" y="783971"/>
                  </a:cubicBezTo>
                  <a:lnTo>
                    <a:pt x="644017" y="783971"/>
                  </a:lnTo>
                  <a:cubicBezTo>
                    <a:pt x="721360" y="783971"/>
                    <a:pt x="784098" y="721233"/>
                    <a:pt x="784098" y="643890"/>
                  </a:cubicBezTo>
                  <a:lnTo>
                    <a:pt x="784098" y="152781"/>
                  </a:lnTo>
                  <a:cubicBezTo>
                    <a:pt x="783971" y="75438"/>
                    <a:pt x="721360" y="12700"/>
                    <a:pt x="644017" y="12700"/>
                  </a:cubicBezTo>
                  <a:lnTo>
                    <a:pt x="152781" y="12700"/>
                  </a:lnTo>
                  <a:lnTo>
                    <a:pt x="152781" y="6350"/>
                  </a:lnTo>
                  <a:lnTo>
                    <a:pt x="152781" y="12700"/>
                  </a:lnTo>
                  <a:cubicBezTo>
                    <a:pt x="75438" y="12700"/>
                    <a:pt x="12700" y="75438"/>
                    <a:pt x="12700" y="152781"/>
                  </a:cubicBezTo>
                  <a:close/>
                </a:path>
              </a:pathLst>
            </a:custGeom>
            <a:solidFill>
              <a:srgbClr val="E2C8B5"/>
            </a:solidFill>
          </p:spPr>
        </p:sp>
      </p:grpSp>
      <p:grpSp>
        <p:nvGrpSpPr>
          <p:cNvPr id="11" name="Group 11"/>
          <p:cNvGrpSpPr/>
          <p:nvPr/>
        </p:nvGrpSpPr>
        <p:grpSpPr>
          <a:xfrm>
            <a:off x="7870622" y="3467024"/>
            <a:ext cx="392011" cy="585978"/>
            <a:chOff x="0" y="0"/>
            <a:chExt cx="522681" cy="781304"/>
          </a:xfrm>
        </p:grpSpPr>
        <p:sp>
          <p:nvSpPr>
            <p:cNvPr id="12" name="Freeform 12"/>
            <p:cNvSpPr/>
            <p:nvPr/>
          </p:nvSpPr>
          <p:spPr>
            <a:xfrm>
              <a:off x="0" y="0"/>
              <a:ext cx="522685" cy="781307"/>
            </a:xfrm>
            <a:custGeom>
              <a:avLst/>
              <a:gdLst/>
              <a:ahLst/>
              <a:cxnLst/>
              <a:rect l="l" t="t" r="r" b="b"/>
              <a:pathLst>
                <a:path w="522685" h="781307">
                  <a:moveTo>
                    <a:pt x="0" y="0"/>
                  </a:moveTo>
                  <a:lnTo>
                    <a:pt x="522685" y="0"/>
                  </a:lnTo>
                  <a:lnTo>
                    <a:pt x="522685" y="781307"/>
                  </a:lnTo>
                  <a:lnTo>
                    <a:pt x="0" y="781307"/>
                  </a:lnTo>
                  <a:close/>
                </a:path>
              </a:pathLst>
            </a:custGeom>
            <a:blipFill>
              <a:blip r:embed="rId4">
                <a:alphaModFix amt="0"/>
              </a:blip>
              <a:stretch>
                <a:fillRect l="-110403" r="-110402" b="16364"/>
              </a:stretch>
            </a:blipFill>
          </p:spPr>
        </p:sp>
        <p:sp>
          <p:nvSpPr>
            <p:cNvPr id="13" name="TextBox 13"/>
            <p:cNvSpPr txBox="1"/>
            <p:nvPr/>
          </p:nvSpPr>
          <p:spPr>
            <a:xfrm>
              <a:off x="0" y="0"/>
              <a:ext cx="522681" cy="781304"/>
            </a:xfrm>
            <a:prstGeom prst="rect">
              <a:avLst/>
            </a:prstGeom>
          </p:spPr>
          <p:txBody>
            <a:bodyPr lIns="0" tIns="0" rIns="0" bIns="0" rtlCol="0" anchor="ctr"/>
            <a:lstStyle/>
            <a:p>
              <a:pPr algn="ctr">
                <a:lnSpc>
                  <a:spcPts val="3600"/>
                </a:lnSpc>
              </a:pPr>
              <a:r>
                <a:rPr lang="en-US" sz="3000">
                  <a:solidFill>
                    <a:srgbClr val="2B2E3C"/>
                  </a:solidFill>
                  <a:latin typeface="Merriweather"/>
                  <a:ea typeface="Merriweather"/>
                  <a:cs typeface="Merriweather"/>
                  <a:sym typeface="Merriweather"/>
                </a:rPr>
                <a:t>1</a:t>
              </a:r>
            </a:p>
          </p:txBody>
        </p:sp>
      </p:grpSp>
      <p:sp>
        <p:nvSpPr>
          <p:cNvPr id="14" name="TextBox 14"/>
          <p:cNvSpPr txBox="1"/>
          <p:nvPr/>
        </p:nvSpPr>
        <p:spPr>
          <a:xfrm>
            <a:off x="8601666" y="3488827"/>
            <a:ext cx="3056934" cy="381643"/>
          </a:xfrm>
          <a:prstGeom prst="rect">
            <a:avLst/>
          </a:prstGeom>
        </p:spPr>
        <p:txBody>
          <a:bodyPr wrap="square" lIns="0" tIns="0" rIns="0" bIns="0" rtlCol="0" anchor="t">
            <a:spAutoFit/>
          </a:bodyPr>
          <a:lstStyle/>
          <a:p>
            <a:pPr algn="l">
              <a:lnSpc>
                <a:spcPts val="3119"/>
              </a:lnSpc>
            </a:pPr>
            <a:r>
              <a:rPr lang="en-US" sz="2499" dirty="0">
                <a:solidFill>
                  <a:srgbClr val="2B2E3C"/>
                </a:solidFill>
                <a:latin typeface="Merriweather"/>
                <a:ea typeface="Merriweather"/>
                <a:cs typeface="Merriweather"/>
                <a:sym typeface="Merriweather"/>
              </a:rPr>
              <a:t>Optimize Time</a:t>
            </a:r>
          </a:p>
        </p:txBody>
      </p:sp>
      <p:sp>
        <p:nvSpPr>
          <p:cNvPr id="15" name="TextBox 15"/>
          <p:cNvSpPr txBox="1"/>
          <p:nvPr/>
        </p:nvSpPr>
        <p:spPr>
          <a:xfrm>
            <a:off x="8601666" y="3984422"/>
            <a:ext cx="8771630" cy="839572"/>
          </a:xfrm>
          <a:prstGeom prst="rect">
            <a:avLst/>
          </a:prstGeom>
        </p:spPr>
        <p:txBody>
          <a:bodyPr lIns="0" tIns="0" rIns="0" bIns="0" rtlCol="0" anchor="t">
            <a:spAutoFit/>
          </a:bodyPr>
          <a:lstStyle/>
          <a:p>
            <a:pPr algn="l">
              <a:lnSpc>
                <a:spcPts val="3379"/>
              </a:lnSpc>
            </a:pPr>
            <a:r>
              <a:rPr lang="en-US" sz="2199">
                <a:solidFill>
                  <a:srgbClr val="2B2E3C"/>
                </a:solidFill>
                <a:latin typeface="Roboto"/>
                <a:ea typeface="Roboto"/>
                <a:cs typeface="Roboto"/>
                <a:sym typeface="Roboto"/>
              </a:rPr>
              <a:t>Efficient scheduling frees up student time, boosting academic focus and reducing stress by simplifying resource access.</a:t>
            </a:r>
          </a:p>
        </p:txBody>
      </p:sp>
      <p:grpSp>
        <p:nvGrpSpPr>
          <p:cNvPr id="16" name="Group 16"/>
          <p:cNvGrpSpPr/>
          <p:nvPr/>
        </p:nvGrpSpPr>
        <p:grpSpPr>
          <a:xfrm>
            <a:off x="7767933" y="5327671"/>
            <a:ext cx="597541" cy="597541"/>
            <a:chOff x="0" y="0"/>
            <a:chExt cx="796722" cy="796722"/>
          </a:xfrm>
        </p:grpSpPr>
        <p:sp>
          <p:nvSpPr>
            <p:cNvPr id="17" name="Freeform 17"/>
            <p:cNvSpPr/>
            <p:nvPr/>
          </p:nvSpPr>
          <p:spPr>
            <a:xfrm>
              <a:off x="6350" y="6350"/>
              <a:ext cx="784098" cy="784098"/>
            </a:xfrm>
            <a:custGeom>
              <a:avLst/>
              <a:gdLst/>
              <a:ahLst/>
              <a:cxnLst/>
              <a:rect l="l" t="t" r="r" b="b"/>
              <a:pathLst>
                <a:path w="784098" h="784098">
                  <a:moveTo>
                    <a:pt x="0" y="146431"/>
                  </a:moveTo>
                  <a:cubicBezTo>
                    <a:pt x="0" y="65532"/>
                    <a:pt x="65532" y="0"/>
                    <a:pt x="146431" y="0"/>
                  </a:cubicBezTo>
                  <a:lnTo>
                    <a:pt x="637667" y="0"/>
                  </a:lnTo>
                  <a:cubicBezTo>
                    <a:pt x="718566" y="0"/>
                    <a:pt x="784098" y="65532"/>
                    <a:pt x="784098" y="146431"/>
                  </a:cubicBezTo>
                  <a:lnTo>
                    <a:pt x="784098" y="637667"/>
                  </a:lnTo>
                  <a:cubicBezTo>
                    <a:pt x="784098" y="718566"/>
                    <a:pt x="718566" y="784098"/>
                    <a:pt x="637667" y="784098"/>
                  </a:cubicBezTo>
                  <a:lnTo>
                    <a:pt x="146431" y="784098"/>
                  </a:lnTo>
                  <a:cubicBezTo>
                    <a:pt x="65532" y="783971"/>
                    <a:pt x="0" y="718439"/>
                    <a:pt x="0" y="637667"/>
                  </a:cubicBezTo>
                  <a:close/>
                </a:path>
              </a:pathLst>
            </a:custGeom>
            <a:solidFill>
              <a:srgbClr val="FCE2CF"/>
            </a:solidFill>
          </p:spPr>
        </p:sp>
        <p:sp>
          <p:nvSpPr>
            <p:cNvPr id="18" name="Freeform 18"/>
            <p:cNvSpPr/>
            <p:nvPr/>
          </p:nvSpPr>
          <p:spPr>
            <a:xfrm>
              <a:off x="0" y="0"/>
              <a:ext cx="796798" cy="796798"/>
            </a:xfrm>
            <a:custGeom>
              <a:avLst/>
              <a:gdLst/>
              <a:ahLst/>
              <a:cxnLst/>
              <a:rect l="l" t="t" r="r" b="b"/>
              <a:pathLst>
                <a:path w="796798" h="796798">
                  <a:moveTo>
                    <a:pt x="0" y="152781"/>
                  </a:moveTo>
                  <a:cubicBezTo>
                    <a:pt x="0" y="68326"/>
                    <a:pt x="68326" y="0"/>
                    <a:pt x="152781" y="0"/>
                  </a:cubicBezTo>
                  <a:lnTo>
                    <a:pt x="644017" y="0"/>
                  </a:lnTo>
                  <a:lnTo>
                    <a:pt x="644017" y="6350"/>
                  </a:lnTo>
                  <a:lnTo>
                    <a:pt x="644017" y="0"/>
                  </a:lnTo>
                  <a:cubicBezTo>
                    <a:pt x="728345" y="0"/>
                    <a:pt x="796798" y="68326"/>
                    <a:pt x="796798" y="152781"/>
                  </a:cubicBezTo>
                  <a:lnTo>
                    <a:pt x="790448" y="152781"/>
                  </a:lnTo>
                  <a:lnTo>
                    <a:pt x="796798" y="152781"/>
                  </a:lnTo>
                  <a:lnTo>
                    <a:pt x="796798" y="644017"/>
                  </a:lnTo>
                  <a:lnTo>
                    <a:pt x="790448" y="644017"/>
                  </a:lnTo>
                  <a:lnTo>
                    <a:pt x="796798" y="644017"/>
                  </a:lnTo>
                  <a:cubicBezTo>
                    <a:pt x="796798" y="728345"/>
                    <a:pt x="728472" y="796798"/>
                    <a:pt x="644017" y="796798"/>
                  </a:cubicBezTo>
                  <a:lnTo>
                    <a:pt x="644017" y="790448"/>
                  </a:lnTo>
                  <a:lnTo>
                    <a:pt x="644017" y="796798"/>
                  </a:lnTo>
                  <a:lnTo>
                    <a:pt x="152781" y="796798"/>
                  </a:lnTo>
                  <a:lnTo>
                    <a:pt x="152781" y="790448"/>
                  </a:lnTo>
                  <a:lnTo>
                    <a:pt x="152781" y="796798"/>
                  </a:lnTo>
                  <a:cubicBezTo>
                    <a:pt x="68326" y="796671"/>
                    <a:pt x="0" y="728345"/>
                    <a:pt x="0" y="644017"/>
                  </a:cubicBezTo>
                  <a:lnTo>
                    <a:pt x="0" y="152781"/>
                  </a:lnTo>
                  <a:lnTo>
                    <a:pt x="6350" y="152781"/>
                  </a:lnTo>
                  <a:lnTo>
                    <a:pt x="0" y="152781"/>
                  </a:lnTo>
                  <a:moveTo>
                    <a:pt x="12700" y="152781"/>
                  </a:moveTo>
                  <a:lnTo>
                    <a:pt x="12700" y="644017"/>
                  </a:lnTo>
                  <a:lnTo>
                    <a:pt x="6350" y="644017"/>
                  </a:lnTo>
                  <a:lnTo>
                    <a:pt x="12700" y="644017"/>
                  </a:lnTo>
                  <a:cubicBezTo>
                    <a:pt x="12700" y="721360"/>
                    <a:pt x="75438" y="783971"/>
                    <a:pt x="152781" y="783971"/>
                  </a:cubicBezTo>
                  <a:lnTo>
                    <a:pt x="644017" y="783971"/>
                  </a:lnTo>
                  <a:cubicBezTo>
                    <a:pt x="721360" y="783971"/>
                    <a:pt x="784098" y="721233"/>
                    <a:pt x="784098" y="643890"/>
                  </a:cubicBezTo>
                  <a:lnTo>
                    <a:pt x="784098" y="152781"/>
                  </a:lnTo>
                  <a:cubicBezTo>
                    <a:pt x="783971" y="75438"/>
                    <a:pt x="721360" y="12700"/>
                    <a:pt x="644017" y="12700"/>
                  </a:cubicBezTo>
                  <a:lnTo>
                    <a:pt x="152781" y="12700"/>
                  </a:lnTo>
                  <a:lnTo>
                    <a:pt x="152781" y="6350"/>
                  </a:lnTo>
                  <a:lnTo>
                    <a:pt x="152781" y="12700"/>
                  </a:lnTo>
                  <a:cubicBezTo>
                    <a:pt x="75438" y="12700"/>
                    <a:pt x="12700" y="75438"/>
                    <a:pt x="12700" y="152781"/>
                  </a:cubicBezTo>
                  <a:close/>
                </a:path>
              </a:pathLst>
            </a:custGeom>
            <a:solidFill>
              <a:srgbClr val="E2C8B5"/>
            </a:solidFill>
          </p:spPr>
        </p:sp>
      </p:grpSp>
      <p:grpSp>
        <p:nvGrpSpPr>
          <p:cNvPr id="19" name="Group 19"/>
          <p:cNvGrpSpPr/>
          <p:nvPr/>
        </p:nvGrpSpPr>
        <p:grpSpPr>
          <a:xfrm>
            <a:off x="7870622" y="5381325"/>
            <a:ext cx="392011" cy="585978"/>
            <a:chOff x="0" y="0"/>
            <a:chExt cx="522681" cy="781304"/>
          </a:xfrm>
        </p:grpSpPr>
        <p:sp>
          <p:nvSpPr>
            <p:cNvPr id="20" name="Freeform 20"/>
            <p:cNvSpPr/>
            <p:nvPr/>
          </p:nvSpPr>
          <p:spPr>
            <a:xfrm>
              <a:off x="0" y="0"/>
              <a:ext cx="522685" cy="781307"/>
            </a:xfrm>
            <a:custGeom>
              <a:avLst/>
              <a:gdLst/>
              <a:ahLst/>
              <a:cxnLst/>
              <a:rect l="l" t="t" r="r" b="b"/>
              <a:pathLst>
                <a:path w="522685" h="781307">
                  <a:moveTo>
                    <a:pt x="0" y="0"/>
                  </a:moveTo>
                  <a:lnTo>
                    <a:pt x="522685" y="0"/>
                  </a:lnTo>
                  <a:lnTo>
                    <a:pt x="522685" y="781307"/>
                  </a:lnTo>
                  <a:lnTo>
                    <a:pt x="0" y="781307"/>
                  </a:lnTo>
                  <a:close/>
                </a:path>
              </a:pathLst>
            </a:custGeom>
            <a:blipFill>
              <a:blip r:embed="rId4">
                <a:alphaModFix amt="0"/>
              </a:blip>
              <a:stretch>
                <a:fillRect l="-110403" r="-110402" b="16364"/>
              </a:stretch>
            </a:blipFill>
          </p:spPr>
        </p:sp>
        <p:sp>
          <p:nvSpPr>
            <p:cNvPr id="21" name="TextBox 21"/>
            <p:cNvSpPr txBox="1"/>
            <p:nvPr/>
          </p:nvSpPr>
          <p:spPr>
            <a:xfrm>
              <a:off x="0" y="0"/>
              <a:ext cx="522681" cy="781304"/>
            </a:xfrm>
            <a:prstGeom prst="rect">
              <a:avLst/>
            </a:prstGeom>
          </p:spPr>
          <p:txBody>
            <a:bodyPr lIns="0" tIns="0" rIns="0" bIns="0" rtlCol="0" anchor="ctr"/>
            <a:lstStyle/>
            <a:p>
              <a:pPr algn="ctr">
                <a:lnSpc>
                  <a:spcPts val="3600"/>
                </a:lnSpc>
              </a:pPr>
              <a:r>
                <a:rPr lang="en-US" sz="3000">
                  <a:solidFill>
                    <a:srgbClr val="2B2E3C"/>
                  </a:solidFill>
                  <a:latin typeface="Merriweather"/>
                  <a:ea typeface="Merriweather"/>
                  <a:cs typeface="Merriweather"/>
                  <a:sym typeface="Merriweather"/>
                </a:rPr>
                <a:t>2</a:t>
              </a:r>
            </a:p>
          </p:txBody>
        </p:sp>
      </p:grpSp>
      <p:sp>
        <p:nvSpPr>
          <p:cNvPr id="22" name="TextBox 22"/>
          <p:cNvSpPr txBox="1"/>
          <p:nvPr/>
        </p:nvSpPr>
        <p:spPr>
          <a:xfrm>
            <a:off x="8601666" y="5403128"/>
            <a:ext cx="4733334" cy="381643"/>
          </a:xfrm>
          <a:prstGeom prst="rect">
            <a:avLst/>
          </a:prstGeom>
        </p:spPr>
        <p:txBody>
          <a:bodyPr wrap="square" lIns="0" tIns="0" rIns="0" bIns="0" rtlCol="0" anchor="t">
            <a:spAutoFit/>
          </a:bodyPr>
          <a:lstStyle/>
          <a:p>
            <a:pPr algn="l">
              <a:lnSpc>
                <a:spcPts val="3119"/>
              </a:lnSpc>
            </a:pPr>
            <a:r>
              <a:rPr lang="en-US" sz="2499" dirty="0">
                <a:solidFill>
                  <a:srgbClr val="2B2E3C"/>
                </a:solidFill>
                <a:latin typeface="Merriweather"/>
                <a:ea typeface="Merriweather"/>
                <a:cs typeface="Merriweather"/>
                <a:sym typeface="Merriweather"/>
              </a:rPr>
              <a:t>Enhance Campus Efficiency</a:t>
            </a:r>
          </a:p>
        </p:txBody>
      </p:sp>
      <p:sp>
        <p:nvSpPr>
          <p:cNvPr id="23" name="TextBox 23"/>
          <p:cNvSpPr txBox="1"/>
          <p:nvPr/>
        </p:nvSpPr>
        <p:spPr>
          <a:xfrm>
            <a:off x="8601666" y="5898723"/>
            <a:ext cx="8771630" cy="1268197"/>
          </a:xfrm>
          <a:prstGeom prst="rect">
            <a:avLst/>
          </a:prstGeom>
        </p:spPr>
        <p:txBody>
          <a:bodyPr lIns="0" tIns="0" rIns="0" bIns="0" rtlCol="0" anchor="t">
            <a:spAutoFit/>
          </a:bodyPr>
          <a:lstStyle/>
          <a:p>
            <a:pPr algn="l">
              <a:lnSpc>
                <a:spcPts val="3379"/>
              </a:lnSpc>
            </a:pPr>
            <a:r>
              <a:rPr lang="en-US" sz="2199">
                <a:solidFill>
                  <a:srgbClr val="2B2E3C"/>
                </a:solidFill>
                <a:latin typeface="Roboto"/>
                <a:ea typeface="Roboto"/>
                <a:cs typeface="Roboto"/>
                <a:sym typeface="Roboto"/>
              </a:rPr>
              <a:t>Centralized management allows for more efficient allocation of resources, which minimizes bottlenecks and reduces administrative expenses for staff.</a:t>
            </a:r>
          </a:p>
        </p:txBody>
      </p:sp>
      <p:grpSp>
        <p:nvGrpSpPr>
          <p:cNvPr id="24" name="Group 24"/>
          <p:cNvGrpSpPr/>
          <p:nvPr/>
        </p:nvGrpSpPr>
        <p:grpSpPr>
          <a:xfrm>
            <a:off x="7767933" y="7670597"/>
            <a:ext cx="597541" cy="597541"/>
            <a:chOff x="0" y="0"/>
            <a:chExt cx="796722" cy="796722"/>
          </a:xfrm>
        </p:grpSpPr>
        <p:sp>
          <p:nvSpPr>
            <p:cNvPr id="25" name="Freeform 25"/>
            <p:cNvSpPr/>
            <p:nvPr/>
          </p:nvSpPr>
          <p:spPr>
            <a:xfrm>
              <a:off x="6350" y="6350"/>
              <a:ext cx="784098" cy="784098"/>
            </a:xfrm>
            <a:custGeom>
              <a:avLst/>
              <a:gdLst/>
              <a:ahLst/>
              <a:cxnLst/>
              <a:rect l="l" t="t" r="r" b="b"/>
              <a:pathLst>
                <a:path w="784098" h="784098">
                  <a:moveTo>
                    <a:pt x="0" y="146431"/>
                  </a:moveTo>
                  <a:cubicBezTo>
                    <a:pt x="0" y="65532"/>
                    <a:pt x="65532" y="0"/>
                    <a:pt x="146431" y="0"/>
                  </a:cubicBezTo>
                  <a:lnTo>
                    <a:pt x="637667" y="0"/>
                  </a:lnTo>
                  <a:cubicBezTo>
                    <a:pt x="718566" y="0"/>
                    <a:pt x="784098" y="65532"/>
                    <a:pt x="784098" y="146431"/>
                  </a:cubicBezTo>
                  <a:lnTo>
                    <a:pt x="784098" y="637667"/>
                  </a:lnTo>
                  <a:cubicBezTo>
                    <a:pt x="784098" y="718566"/>
                    <a:pt x="718566" y="784098"/>
                    <a:pt x="637667" y="784098"/>
                  </a:cubicBezTo>
                  <a:lnTo>
                    <a:pt x="146431" y="784098"/>
                  </a:lnTo>
                  <a:cubicBezTo>
                    <a:pt x="65532" y="783971"/>
                    <a:pt x="0" y="718439"/>
                    <a:pt x="0" y="637667"/>
                  </a:cubicBezTo>
                  <a:close/>
                </a:path>
              </a:pathLst>
            </a:custGeom>
            <a:solidFill>
              <a:srgbClr val="FCE2CF"/>
            </a:solidFill>
          </p:spPr>
        </p:sp>
        <p:sp>
          <p:nvSpPr>
            <p:cNvPr id="26" name="Freeform 26"/>
            <p:cNvSpPr/>
            <p:nvPr/>
          </p:nvSpPr>
          <p:spPr>
            <a:xfrm>
              <a:off x="0" y="0"/>
              <a:ext cx="796798" cy="796798"/>
            </a:xfrm>
            <a:custGeom>
              <a:avLst/>
              <a:gdLst/>
              <a:ahLst/>
              <a:cxnLst/>
              <a:rect l="l" t="t" r="r" b="b"/>
              <a:pathLst>
                <a:path w="796798" h="796798">
                  <a:moveTo>
                    <a:pt x="0" y="152781"/>
                  </a:moveTo>
                  <a:cubicBezTo>
                    <a:pt x="0" y="68326"/>
                    <a:pt x="68326" y="0"/>
                    <a:pt x="152781" y="0"/>
                  </a:cubicBezTo>
                  <a:lnTo>
                    <a:pt x="644017" y="0"/>
                  </a:lnTo>
                  <a:lnTo>
                    <a:pt x="644017" y="6350"/>
                  </a:lnTo>
                  <a:lnTo>
                    <a:pt x="644017" y="0"/>
                  </a:lnTo>
                  <a:cubicBezTo>
                    <a:pt x="728345" y="0"/>
                    <a:pt x="796798" y="68326"/>
                    <a:pt x="796798" y="152781"/>
                  </a:cubicBezTo>
                  <a:lnTo>
                    <a:pt x="790448" y="152781"/>
                  </a:lnTo>
                  <a:lnTo>
                    <a:pt x="796798" y="152781"/>
                  </a:lnTo>
                  <a:lnTo>
                    <a:pt x="796798" y="644017"/>
                  </a:lnTo>
                  <a:lnTo>
                    <a:pt x="790448" y="644017"/>
                  </a:lnTo>
                  <a:lnTo>
                    <a:pt x="796798" y="644017"/>
                  </a:lnTo>
                  <a:cubicBezTo>
                    <a:pt x="796798" y="728345"/>
                    <a:pt x="728472" y="796798"/>
                    <a:pt x="644017" y="796798"/>
                  </a:cubicBezTo>
                  <a:lnTo>
                    <a:pt x="644017" y="790448"/>
                  </a:lnTo>
                  <a:lnTo>
                    <a:pt x="644017" y="796798"/>
                  </a:lnTo>
                  <a:lnTo>
                    <a:pt x="152781" y="796798"/>
                  </a:lnTo>
                  <a:lnTo>
                    <a:pt x="152781" y="790448"/>
                  </a:lnTo>
                  <a:lnTo>
                    <a:pt x="152781" y="796798"/>
                  </a:lnTo>
                  <a:cubicBezTo>
                    <a:pt x="68326" y="796671"/>
                    <a:pt x="0" y="728345"/>
                    <a:pt x="0" y="644017"/>
                  </a:cubicBezTo>
                  <a:lnTo>
                    <a:pt x="0" y="152781"/>
                  </a:lnTo>
                  <a:lnTo>
                    <a:pt x="6350" y="152781"/>
                  </a:lnTo>
                  <a:lnTo>
                    <a:pt x="0" y="152781"/>
                  </a:lnTo>
                  <a:moveTo>
                    <a:pt x="12700" y="152781"/>
                  </a:moveTo>
                  <a:lnTo>
                    <a:pt x="12700" y="644017"/>
                  </a:lnTo>
                  <a:lnTo>
                    <a:pt x="6350" y="644017"/>
                  </a:lnTo>
                  <a:lnTo>
                    <a:pt x="12700" y="644017"/>
                  </a:lnTo>
                  <a:cubicBezTo>
                    <a:pt x="12700" y="721360"/>
                    <a:pt x="75438" y="783971"/>
                    <a:pt x="152781" y="783971"/>
                  </a:cubicBezTo>
                  <a:lnTo>
                    <a:pt x="644017" y="783971"/>
                  </a:lnTo>
                  <a:cubicBezTo>
                    <a:pt x="721360" y="783971"/>
                    <a:pt x="784098" y="721233"/>
                    <a:pt x="784098" y="643890"/>
                  </a:cubicBezTo>
                  <a:lnTo>
                    <a:pt x="784098" y="152781"/>
                  </a:lnTo>
                  <a:cubicBezTo>
                    <a:pt x="783971" y="75438"/>
                    <a:pt x="721360" y="12700"/>
                    <a:pt x="644017" y="12700"/>
                  </a:cubicBezTo>
                  <a:lnTo>
                    <a:pt x="152781" y="12700"/>
                  </a:lnTo>
                  <a:lnTo>
                    <a:pt x="152781" y="6350"/>
                  </a:lnTo>
                  <a:lnTo>
                    <a:pt x="152781" y="12700"/>
                  </a:lnTo>
                  <a:cubicBezTo>
                    <a:pt x="75438" y="12700"/>
                    <a:pt x="12700" y="75438"/>
                    <a:pt x="12700" y="152781"/>
                  </a:cubicBezTo>
                  <a:close/>
                </a:path>
              </a:pathLst>
            </a:custGeom>
            <a:solidFill>
              <a:srgbClr val="E2C8B5"/>
            </a:solidFill>
          </p:spPr>
        </p:sp>
      </p:grpSp>
      <p:grpSp>
        <p:nvGrpSpPr>
          <p:cNvPr id="27" name="Group 27"/>
          <p:cNvGrpSpPr/>
          <p:nvPr/>
        </p:nvGrpSpPr>
        <p:grpSpPr>
          <a:xfrm>
            <a:off x="7870622" y="7724251"/>
            <a:ext cx="392011" cy="585978"/>
            <a:chOff x="0" y="0"/>
            <a:chExt cx="522681" cy="781304"/>
          </a:xfrm>
        </p:grpSpPr>
        <p:sp>
          <p:nvSpPr>
            <p:cNvPr id="28" name="Freeform 28"/>
            <p:cNvSpPr/>
            <p:nvPr/>
          </p:nvSpPr>
          <p:spPr>
            <a:xfrm>
              <a:off x="0" y="0"/>
              <a:ext cx="522685" cy="781307"/>
            </a:xfrm>
            <a:custGeom>
              <a:avLst/>
              <a:gdLst/>
              <a:ahLst/>
              <a:cxnLst/>
              <a:rect l="l" t="t" r="r" b="b"/>
              <a:pathLst>
                <a:path w="522685" h="781307">
                  <a:moveTo>
                    <a:pt x="0" y="0"/>
                  </a:moveTo>
                  <a:lnTo>
                    <a:pt x="522685" y="0"/>
                  </a:lnTo>
                  <a:lnTo>
                    <a:pt x="522685" y="781307"/>
                  </a:lnTo>
                  <a:lnTo>
                    <a:pt x="0" y="781307"/>
                  </a:lnTo>
                  <a:close/>
                </a:path>
              </a:pathLst>
            </a:custGeom>
            <a:blipFill>
              <a:blip r:embed="rId4">
                <a:alphaModFix amt="0"/>
              </a:blip>
              <a:stretch>
                <a:fillRect l="-110403" r="-110402" b="16364"/>
              </a:stretch>
            </a:blipFill>
          </p:spPr>
        </p:sp>
        <p:sp>
          <p:nvSpPr>
            <p:cNvPr id="29" name="TextBox 29"/>
            <p:cNvSpPr txBox="1"/>
            <p:nvPr/>
          </p:nvSpPr>
          <p:spPr>
            <a:xfrm>
              <a:off x="0" y="0"/>
              <a:ext cx="522681" cy="781304"/>
            </a:xfrm>
            <a:prstGeom prst="rect">
              <a:avLst/>
            </a:prstGeom>
          </p:spPr>
          <p:txBody>
            <a:bodyPr lIns="0" tIns="0" rIns="0" bIns="0" rtlCol="0" anchor="ctr"/>
            <a:lstStyle/>
            <a:p>
              <a:pPr algn="ctr">
                <a:lnSpc>
                  <a:spcPts val="3600"/>
                </a:lnSpc>
              </a:pPr>
              <a:r>
                <a:rPr lang="en-US" sz="3000">
                  <a:solidFill>
                    <a:srgbClr val="2B2E3C"/>
                  </a:solidFill>
                  <a:latin typeface="Merriweather"/>
                  <a:ea typeface="Merriweather"/>
                  <a:cs typeface="Merriweather"/>
                  <a:sym typeface="Merriweather"/>
                </a:rPr>
                <a:t>3</a:t>
              </a:r>
            </a:p>
          </p:txBody>
        </p:sp>
      </p:grpSp>
      <p:sp>
        <p:nvSpPr>
          <p:cNvPr id="30" name="TextBox 30"/>
          <p:cNvSpPr txBox="1"/>
          <p:nvPr/>
        </p:nvSpPr>
        <p:spPr>
          <a:xfrm>
            <a:off x="8601666" y="7746054"/>
            <a:ext cx="3514134" cy="381643"/>
          </a:xfrm>
          <a:prstGeom prst="rect">
            <a:avLst/>
          </a:prstGeom>
        </p:spPr>
        <p:txBody>
          <a:bodyPr wrap="square" lIns="0" tIns="0" rIns="0" bIns="0" rtlCol="0" anchor="t">
            <a:spAutoFit/>
          </a:bodyPr>
          <a:lstStyle/>
          <a:p>
            <a:pPr algn="l">
              <a:lnSpc>
                <a:spcPts val="3119"/>
              </a:lnSpc>
            </a:pPr>
            <a:r>
              <a:rPr lang="en-US" sz="2499" dirty="0">
                <a:solidFill>
                  <a:srgbClr val="2B2E3C"/>
                </a:solidFill>
                <a:latin typeface="Merriweather"/>
                <a:ea typeface="Merriweather"/>
                <a:cs typeface="Merriweather"/>
                <a:sym typeface="Merriweather"/>
              </a:rPr>
              <a:t>Ensure Equal Access</a:t>
            </a:r>
          </a:p>
        </p:txBody>
      </p:sp>
      <p:sp>
        <p:nvSpPr>
          <p:cNvPr id="31" name="TextBox 31"/>
          <p:cNvSpPr txBox="1"/>
          <p:nvPr/>
        </p:nvSpPr>
        <p:spPr>
          <a:xfrm>
            <a:off x="8601666" y="8241659"/>
            <a:ext cx="8771630" cy="1268197"/>
          </a:xfrm>
          <a:prstGeom prst="rect">
            <a:avLst/>
          </a:prstGeom>
        </p:spPr>
        <p:txBody>
          <a:bodyPr lIns="0" tIns="0" rIns="0" bIns="0" rtlCol="0" anchor="t">
            <a:spAutoFit/>
          </a:bodyPr>
          <a:lstStyle/>
          <a:p>
            <a:pPr algn="l">
              <a:lnSpc>
                <a:spcPts val="3379"/>
              </a:lnSpc>
            </a:pPr>
            <a:r>
              <a:rPr lang="en-US" sz="2199" dirty="0">
                <a:solidFill>
                  <a:srgbClr val="2B2E3C"/>
                </a:solidFill>
                <a:latin typeface="Roboto"/>
                <a:ea typeface="Roboto"/>
                <a:cs typeface="Roboto"/>
                <a:sym typeface="Roboto"/>
              </a:rPr>
              <a:t>Improved communication and integrated waitlist features provide fair and transparent access to all essential campus services and opportunities.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8F0"/>
            </a:solidFill>
          </p:spPr>
        </p:sp>
      </p:grpSp>
      <p:sp>
        <p:nvSpPr>
          <p:cNvPr id="4" name="TextBox 4"/>
          <p:cNvSpPr txBox="1"/>
          <p:nvPr/>
        </p:nvSpPr>
        <p:spPr>
          <a:xfrm>
            <a:off x="961282" y="808730"/>
            <a:ext cx="5287118" cy="843382"/>
          </a:xfrm>
          <a:prstGeom prst="rect">
            <a:avLst/>
          </a:prstGeom>
        </p:spPr>
        <p:txBody>
          <a:bodyPr wrap="square" lIns="0" tIns="0" rIns="0" bIns="0" rtlCol="0" anchor="t">
            <a:spAutoFit/>
          </a:bodyPr>
          <a:lstStyle/>
          <a:p>
            <a:pPr algn="l">
              <a:lnSpc>
                <a:spcPts val="6739"/>
              </a:lnSpc>
            </a:pPr>
            <a:r>
              <a:rPr lang="en-US" sz="5400" dirty="0">
                <a:solidFill>
                  <a:srgbClr val="2C3F42"/>
                </a:solidFill>
                <a:latin typeface="Merriweather"/>
                <a:ea typeface="Merriweather"/>
                <a:cs typeface="Merriweather"/>
                <a:sym typeface="Merriweather"/>
              </a:rPr>
              <a:t>Project Aims</a:t>
            </a:r>
          </a:p>
        </p:txBody>
      </p:sp>
      <p:sp>
        <p:nvSpPr>
          <p:cNvPr id="5" name="TextBox 5"/>
          <p:cNvSpPr txBox="1"/>
          <p:nvPr/>
        </p:nvSpPr>
        <p:spPr>
          <a:xfrm>
            <a:off x="961282" y="2141934"/>
            <a:ext cx="17279836" cy="419938"/>
          </a:xfrm>
          <a:prstGeom prst="rect">
            <a:avLst/>
          </a:prstGeom>
        </p:spPr>
        <p:txBody>
          <a:bodyPr lIns="0" tIns="0" rIns="0" bIns="0" rtlCol="0" anchor="t">
            <a:spAutoFit/>
          </a:bodyPr>
          <a:lstStyle/>
          <a:p>
            <a:pPr algn="l">
              <a:lnSpc>
                <a:spcPts val="3458"/>
              </a:lnSpc>
            </a:pPr>
            <a:r>
              <a:rPr lang="en-US" sz="2199">
                <a:solidFill>
                  <a:srgbClr val="2B2E3C"/>
                </a:solidFill>
                <a:latin typeface="Roboto"/>
                <a:ea typeface="Roboto"/>
                <a:cs typeface="Roboto"/>
                <a:sym typeface="Roboto"/>
              </a:rPr>
              <a:t>The UniQueue project is built around four core objectives that together create a seamless campus scheduling ecosystem.</a:t>
            </a:r>
          </a:p>
        </p:txBody>
      </p:sp>
      <p:grpSp>
        <p:nvGrpSpPr>
          <p:cNvPr id="6" name="Group 6"/>
          <p:cNvGrpSpPr/>
          <p:nvPr/>
        </p:nvGrpSpPr>
        <p:grpSpPr>
          <a:xfrm>
            <a:off x="956520" y="2954836"/>
            <a:ext cx="8059188" cy="3121523"/>
            <a:chOff x="0" y="0"/>
            <a:chExt cx="10745584" cy="4162031"/>
          </a:xfrm>
        </p:grpSpPr>
        <p:sp>
          <p:nvSpPr>
            <p:cNvPr id="7" name="Freeform 7"/>
            <p:cNvSpPr/>
            <p:nvPr/>
          </p:nvSpPr>
          <p:spPr>
            <a:xfrm>
              <a:off x="6350" y="6350"/>
              <a:ext cx="10732897" cy="4149344"/>
            </a:xfrm>
            <a:custGeom>
              <a:avLst/>
              <a:gdLst/>
              <a:ahLst/>
              <a:cxnLst/>
              <a:rect l="l" t="t" r="r" b="b"/>
              <a:pathLst>
                <a:path w="10732897" h="4149344">
                  <a:moveTo>
                    <a:pt x="0" y="153797"/>
                  </a:moveTo>
                  <a:cubicBezTo>
                    <a:pt x="0" y="68834"/>
                    <a:pt x="68961" y="0"/>
                    <a:pt x="154051" y="0"/>
                  </a:cubicBezTo>
                  <a:lnTo>
                    <a:pt x="10578846" y="0"/>
                  </a:lnTo>
                  <a:cubicBezTo>
                    <a:pt x="10663936" y="0"/>
                    <a:pt x="10732897" y="68834"/>
                    <a:pt x="10732897" y="153797"/>
                  </a:cubicBezTo>
                  <a:lnTo>
                    <a:pt x="10732897" y="3995547"/>
                  </a:lnTo>
                  <a:cubicBezTo>
                    <a:pt x="10732897" y="4080510"/>
                    <a:pt x="10663936" y="4149344"/>
                    <a:pt x="10578846" y="4149344"/>
                  </a:cubicBezTo>
                  <a:lnTo>
                    <a:pt x="154051" y="4149344"/>
                  </a:lnTo>
                  <a:cubicBezTo>
                    <a:pt x="68961" y="4149344"/>
                    <a:pt x="0" y="4080510"/>
                    <a:pt x="0" y="3995547"/>
                  </a:cubicBezTo>
                  <a:close/>
                </a:path>
              </a:pathLst>
            </a:custGeom>
            <a:solidFill>
              <a:srgbClr val="FCE2CF"/>
            </a:solidFill>
          </p:spPr>
        </p:sp>
        <p:sp>
          <p:nvSpPr>
            <p:cNvPr id="8" name="Freeform 8"/>
            <p:cNvSpPr/>
            <p:nvPr/>
          </p:nvSpPr>
          <p:spPr>
            <a:xfrm>
              <a:off x="0" y="0"/>
              <a:ext cx="10745597" cy="4162044"/>
            </a:xfrm>
            <a:custGeom>
              <a:avLst/>
              <a:gdLst/>
              <a:ahLst/>
              <a:cxnLst/>
              <a:rect l="l" t="t" r="r" b="b"/>
              <a:pathLst>
                <a:path w="10745597" h="4162044">
                  <a:moveTo>
                    <a:pt x="0" y="160147"/>
                  </a:moveTo>
                  <a:cubicBezTo>
                    <a:pt x="0" y="71755"/>
                    <a:pt x="71882" y="0"/>
                    <a:pt x="160401" y="0"/>
                  </a:cubicBezTo>
                  <a:lnTo>
                    <a:pt x="10585196" y="0"/>
                  </a:lnTo>
                  <a:lnTo>
                    <a:pt x="10585196" y="6350"/>
                  </a:lnTo>
                  <a:lnTo>
                    <a:pt x="10585196" y="0"/>
                  </a:lnTo>
                  <a:cubicBezTo>
                    <a:pt x="10673842" y="0"/>
                    <a:pt x="10745597" y="71755"/>
                    <a:pt x="10745597" y="160147"/>
                  </a:cubicBezTo>
                  <a:lnTo>
                    <a:pt x="10739247" y="160147"/>
                  </a:lnTo>
                  <a:lnTo>
                    <a:pt x="10745597" y="160147"/>
                  </a:lnTo>
                  <a:lnTo>
                    <a:pt x="10745597" y="4001897"/>
                  </a:lnTo>
                  <a:lnTo>
                    <a:pt x="10739247" y="4001897"/>
                  </a:lnTo>
                  <a:lnTo>
                    <a:pt x="10745597" y="4001897"/>
                  </a:lnTo>
                  <a:cubicBezTo>
                    <a:pt x="10745597" y="4090416"/>
                    <a:pt x="10673714" y="4162044"/>
                    <a:pt x="10585196" y="4162044"/>
                  </a:cubicBezTo>
                  <a:lnTo>
                    <a:pt x="10585196" y="4155694"/>
                  </a:lnTo>
                  <a:lnTo>
                    <a:pt x="10585196" y="4162044"/>
                  </a:lnTo>
                  <a:lnTo>
                    <a:pt x="160401" y="4162044"/>
                  </a:lnTo>
                  <a:lnTo>
                    <a:pt x="160401" y="4155694"/>
                  </a:lnTo>
                  <a:lnTo>
                    <a:pt x="160401" y="4162044"/>
                  </a:lnTo>
                  <a:cubicBezTo>
                    <a:pt x="71882" y="4162044"/>
                    <a:pt x="0" y="4090289"/>
                    <a:pt x="0" y="4001897"/>
                  </a:cubicBezTo>
                  <a:lnTo>
                    <a:pt x="0" y="160147"/>
                  </a:lnTo>
                  <a:lnTo>
                    <a:pt x="6350" y="160147"/>
                  </a:lnTo>
                  <a:lnTo>
                    <a:pt x="0" y="160147"/>
                  </a:lnTo>
                  <a:moveTo>
                    <a:pt x="12700" y="160147"/>
                  </a:moveTo>
                  <a:lnTo>
                    <a:pt x="12700" y="4001897"/>
                  </a:lnTo>
                  <a:lnTo>
                    <a:pt x="6350" y="4001897"/>
                  </a:lnTo>
                  <a:lnTo>
                    <a:pt x="12700" y="4001897"/>
                  </a:lnTo>
                  <a:cubicBezTo>
                    <a:pt x="12700" y="4083304"/>
                    <a:pt x="78867" y="4149344"/>
                    <a:pt x="160401" y="4149344"/>
                  </a:cubicBezTo>
                  <a:lnTo>
                    <a:pt x="10585196" y="4149344"/>
                  </a:lnTo>
                  <a:cubicBezTo>
                    <a:pt x="10666857" y="4149344"/>
                    <a:pt x="10732897" y="4083304"/>
                    <a:pt x="10732897" y="4001897"/>
                  </a:cubicBezTo>
                  <a:lnTo>
                    <a:pt x="10732897" y="160147"/>
                  </a:lnTo>
                  <a:cubicBezTo>
                    <a:pt x="10732897" y="78740"/>
                    <a:pt x="10666730" y="12700"/>
                    <a:pt x="10585196" y="12700"/>
                  </a:cubicBezTo>
                  <a:lnTo>
                    <a:pt x="160401" y="12700"/>
                  </a:lnTo>
                  <a:lnTo>
                    <a:pt x="160401" y="6350"/>
                  </a:lnTo>
                  <a:lnTo>
                    <a:pt x="160401" y="12700"/>
                  </a:lnTo>
                  <a:cubicBezTo>
                    <a:pt x="78867" y="12700"/>
                    <a:pt x="12700" y="78740"/>
                    <a:pt x="12700" y="160147"/>
                  </a:cubicBezTo>
                  <a:close/>
                </a:path>
              </a:pathLst>
            </a:custGeom>
            <a:solidFill>
              <a:srgbClr val="E2C8B5"/>
            </a:solidFill>
          </p:spPr>
        </p:sp>
      </p:grpSp>
      <p:grpSp>
        <p:nvGrpSpPr>
          <p:cNvPr id="9" name="Group 9"/>
          <p:cNvGrpSpPr/>
          <p:nvPr/>
        </p:nvGrpSpPr>
        <p:grpSpPr>
          <a:xfrm>
            <a:off x="1245394" y="3243710"/>
            <a:ext cx="823912" cy="823912"/>
            <a:chOff x="0" y="0"/>
            <a:chExt cx="1098550" cy="1098550"/>
          </a:xfrm>
        </p:grpSpPr>
        <p:sp>
          <p:nvSpPr>
            <p:cNvPr id="10" name="Freeform 10"/>
            <p:cNvSpPr/>
            <p:nvPr/>
          </p:nvSpPr>
          <p:spPr>
            <a:xfrm>
              <a:off x="0" y="0"/>
              <a:ext cx="1098550" cy="1098550"/>
            </a:xfrm>
            <a:custGeom>
              <a:avLst/>
              <a:gdLst/>
              <a:ahLst/>
              <a:cxnLst/>
              <a:rect l="l" t="t" r="r" b="b"/>
              <a:pathLst>
                <a:path w="1098550" h="1098550">
                  <a:moveTo>
                    <a:pt x="0" y="549275"/>
                  </a:moveTo>
                  <a:cubicBezTo>
                    <a:pt x="0" y="245872"/>
                    <a:pt x="245872" y="0"/>
                    <a:pt x="549275" y="0"/>
                  </a:cubicBezTo>
                  <a:cubicBezTo>
                    <a:pt x="852678" y="0"/>
                    <a:pt x="1098550" y="245872"/>
                    <a:pt x="1098550" y="549275"/>
                  </a:cubicBezTo>
                  <a:cubicBezTo>
                    <a:pt x="1098550" y="852678"/>
                    <a:pt x="852678" y="1098550"/>
                    <a:pt x="549275" y="1098550"/>
                  </a:cubicBezTo>
                  <a:cubicBezTo>
                    <a:pt x="245872" y="1098550"/>
                    <a:pt x="0" y="852678"/>
                    <a:pt x="0" y="549275"/>
                  </a:cubicBezTo>
                  <a:close/>
                </a:path>
              </a:pathLst>
            </a:custGeom>
            <a:solidFill>
              <a:srgbClr val="D2600F"/>
            </a:solidFill>
          </p:spPr>
        </p:sp>
      </p:grpSp>
      <p:sp>
        <p:nvSpPr>
          <p:cNvPr id="11" name="Freeform 11" descr="preencoded.png"/>
          <p:cNvSpPr/>
          <p:nvPr/>
        </p:nvSpPr>
        <p:spPr>
          <a:xfrm>
            <a:off x="1471908" y="3470224"/>
            <a:ext cx="370732" cy="370732"/>
          </a:xfrm>
          <a:custGeom>
            <a:avLst/>
            <a:gdLst/>
            <a:ahLst/>
            <a:cxnLst/>
            <a:rect l="l" t="t" r="r" b="b"/>
            <a:pathLst>
              <a:path w="370732" h="370732">
                <a:moveTo>
                  <a:pt x="0" y="0"/>
                </a:moveTo>
                <a:lnTo>
                  <a:pt x="370732" y="0"/>
                </a:lnTo>
                <a:lnTo>
                  <a:pt x="370732" y="370732"/>
                </a:lnTo>
                <a:lnTo>
                  <a:pt x="0" y="370732"/>
                </a:lnTo>
                <a:lnTo>
                  <a:pt x="0" y="0"/>
                </a:lnTo>
                <a:close/>
              </a:path>
            </a:pathLst>
          </a:custGeom>
          <a:blipFill>
            <a:blip>
              <a:extLst>
                <a:ext uri="{96DAC541-7B7A-43D3-8B79-37D633B846F1}">
                  <asvg:svgBlip xmlns:asvg="http://schemas.microsoft.com/office/drawing/2016/SVG/main" r:embed="rId3"/>
                </a:ext>
              </a:extLst>
            </a:blip>
            <a:stretch>
              <a:fillRect t="-2564" b="-2564"/>
            </a:stretch>
          </a:blipFill>
        </p:spPr>
      </p:sp>
      <p:sp>
        <p:nvSpPr>
          <p:cNvPr id="12" name="TextBox 12"/>
          <p:cNvSpPr txBox="1"/>
          <p:nvPr/>
        </p:nvSpPr>
        <p:spPr>
          <a:xfrm>
            <a:off x="1245394" y="4324055"/>
            <a:ext cx="4469606" cy="417230"/>
          </a:xfrm>
          <a:prstGeom prst="rect">
            <a:avLst/>
          </a:prstGeom>
        </p:spPr>
        <p:txBody>
          <a:bodyPr wrap="square" lIns="0" tIns="0" rIns="0" bIns="0" rtlCol="0" anchor="t">
            <a:spAutoFit/>
          </a:bodyPr>
          <a:lstStyle/>
          <a:p>
            <a:pPr algn="l">
              <a:lnSpc>
                <a:spcPts val="3369"/>
              </a:lnSpc>
            </a:pPr>
            <a:r>
              <a:rPr lang="en-US" sz="2700" dirty="0">
                <a:solidFill>
                  <a:srgbClr val="2B2E3C"/>
                </a:solidFill>
                <a:latin typeface="Merriweather"/>
                <a:ea typeface="Merriweather"/>
                <a:cs typeface="Merriweather"/>
                <a:sym typeface="Merriweather"/>
              </a:rPr>
              <a:t>Centralized Scheduling</a:t>
            </a:r>
          </a:p>
        </p:txBody>
      </p:sp>
      <p:sp>
        <p:nvSpPr>
          <p:cNvPr id="13" name="TextBox 13"/>
          <p:cNvSpPr txBox="1"/>
          <p:nvPr/>
        </p:nvSpPr>
        <p:spPr>
          <a:xfrm>
            <a:off x="1245394" y="4836471"/>
            <a:ext cx="7481440" cy="858088"/>
          </a:xfrm>
          <a:prstGeom prst="rect">
            <a:avLst/>
          </a:prstGeom>
        </p:spPr>
        <p:txBody>
          <a:bodyPr lIns="0" tIns="0" rIns="0" bIns="0" rtlCol="0" anchor="t">
            <a:spAutoFit/>
          </a:bodyPr>
          <a:lstStyle/>
          <a:p>
            <a:pPr algn="l">
              <a:lnSpc>
                <a:spcPts val="3458"/>
              </a:lnSpc>
            </a:pPr>
            <a:r>
              <a:rPr lang="en-US" sz="2199">
                <a:solidFill>
                  <a:srgbClr val="2B2E3C"/>
                </a:solidFill>
                <a:latin typeface="Roboto"/>
                <a:ea typeface="Roboto"/>
                <a:cs typeface="Roboto"/>
                <a:sym typeface="Roboto"/>
              </a:rPr>
              <a:t>A single platform for booking office hours and study rooms across the entire campus.</a:t>
            </a:r>
          </a:p>
        </p:txBody>
      </p:sp>
      <p:grpSp>
        <p:nvGrpSpPr>
          <p:cNvPr id="14" name="Group 14"/>
          <p:cNvGrpSpPr/>
          <p:nvPr/>
        </p:nvGrpSpPr>
        <p:grpSpPr>
          <a:xfrm>
            <a:off x="9272140" y="2954836"/>
            <a:ext cx="8059341" cy="3121523"/>
            <a:chOff x="0" y="0"/>
            <a:chExt cx="10745788" cy="4162031"/>
          </a:xfrm>
        </p:grpSpPr>
        <p:sp>
          <p:nvSpPr>
            <p:cNvPr id="15" name="Freeform 15"/>
            <p:cNvSpPr/>
            <p:nvPr/>
          </p:nvSpPr>
          <p:spPr>
            <a:xfrm>
              <a:off x="6350" y="6350"/>
              <a:ext cx="10733024" cy="4149344"/>
            </a:xfrm>
            <a:custGeom>
              <a:avLst/>
              <a:gdLst/>
              <a:ahLst/>
              <a:cxnLst/>
              <a:rect l="l" t="t" r="r" b="b"/>
              <a:pathLst>
                <a:path w="10733024" h="4149344">
                  <a:moveTo>
                    <a:pt x="0" y="153797"/>
                  </a:moveTo>
                  <a:cubicBezTo>
                    <a:pt x="0" y="68834"/>
                    <a:pt x="68961" y="0"/>
                    <a:pt x="154051" y="0"/>
                  </a:cubicBezTo>
                  <a:lnTo>
                    <a:pt x="10578973" y="0"/>
                  </a:lnTo>
                  <a:cubicBezTo>
                    <a:pt x="10664063" y="0"/>
                    <a:pt x="10733024" y="68834"/>
                    <a:pt x="10733024" y="153797"/>
                  </a:cubicBezTo>
                  <a:lnTo>
                    <a:pt x="10733024" y="3995547"/>
                  </a:lnTo>
                  <a:cubicBezTo>
                    <a:pt x="10733024" y="4080510"/>
                    <a:pt x="10664063" y="4149344"/>
                    <a:pt x="10578973" y="4149344"/>
                  </a:cubicBezTo>
                  <a:lnTo>
                    <a:pt x="154051" y="4149344"/>
                  </a:lnTo>
                  <a:cubicBezTo>
                    <a:pt x="68961" y="4149344"/>
                    <a:pt x="0" y="4080510"/>
                    <a:pt x="0" y="3995547"/>
                  </a:cubicBezTo>
                  <a:close/>
                </a:path>
              </a:pathLst>
            </a:custGeom>
            <a:solidFill>
              <a:srgbClr val="FCE2CF"/>
            </a:solidFill>
          </p:spPr>
        </p:sp>
        <p:sp>
          <p:nvSpPr>
            <p:cNvPr id="16" name="Freeform 16"/>
            <p:cNvSpPr/>
            <p:nvPr/>
          </p:nvSpPr>
          <p:spPr>
            <a:xfrm>
              <a:off x="0" y="0"/>
              <a:ext cx="10745724" cy="4162044"/>
            </a:xfrm>
            <a:custGeom>
              <a:avLst/>
              <a:gdLst/>
              <a:ahLst/>
              <a:cxnLst/>
              <a:rect l="l" t="t" r="r" b="b"/>
              <a:pathLst>
                <a:path w="10745724" h="4162044">
                  <a:moveTo>
                    <a:pt x="0" y="160147"/>
                  </a:moveTo>
                  <a:cubicBezTo>
                    <a:pt x="0" y="71755"/>
                    <a:pt x="71882" y="0"/>
                    <a:pt x="160401" y="0"/>
                  </a:cubicBezTo>
                  <a:lnTo>
                    <a:pt x="10585323" y="0"/>
                  </a:lnTo>
                  <a:lnTo>
                    <a:pt x="10585323" y="6350"/>
                  </a:lnTo>
                  <a:lnTo>
                    <a:pt x="10585323" y="0"/>
                  </a:lnTo>
                  <a:cubicBezTo>
                    <a:pt x="10673969" y="0"/>
                    <a:pt x="10745724" y="71755"/>
                    <a:pt x="10745724" y="160147"/>
                  </a:cubicBezTo>
                  <a:lnTo>
                    <a:pt x="10739374" y="160147"/>
                  </a:lnTo>
                  <a:lnTo>
                    <a:pt x="10745724" y="160147"/>
                  </a:lnTo>
                  <a:lnTo>
                    <a:pt x="10745724" y="4001897"/>
                  </a:lnTo>
                  <a:lnTo>
                    <a:pt x="10739374" y="4001897"/>
                  </a:lnTo>
                  <a:lnTo>
                    <a:pt x="10745724" y="4001897"/>
                  </a:lnTo>
                  <a:cubicBezTo>
                    <a:pt x="10745724" y="4090416"/>
                    <a:pt x="10673842" y="4162044"/>
                    <a:pt x="10585323" y="4162044"/>
                  </a:cubicBezTo>
                  <a:lnTo>
                    <a:pt x="10585323" y="4155694"/>
                  </a:lnTo>
                  <a:lnTo>
                    <a:pt x="10585323" y="4162044"/>
                  </a:lnTo>
                  <a:lnTo>
                    <a:pt x="160401" y="4162044"/>
                  </a:lnTo>
                  <a:lnTo>
                    <a:pt x="160401" y="4155694"/>
                  </a:lnTo>
                  <a:lnTo>
                    <a:pt x="160401" y="4162044"/>
                  </a:lnTo>
                  <a:cubicBezTo>
                    <a:pt x="71882" y="4162044"/>
                    <a:pt x="0" y="4090289"/>
                    <a:pt x="0" y="4001897"/>
                  </a:cubicBezTo>
                  <a:lnTo>
                    <a:pt x="0" y="160147"/>
                  </a:lnTo>
                  <a:lnTo>
                    <a:pt x="6350" y="160147"/>
                  </a:lnTo>
                  <a:lnTo>
                    <a:pt x="0" y="160147"/>
                  </a:lnTo>
                  <a:moveTo>
                    <a:pt x="12700" y="160147"/>
                  </a:moveTo>
                  <a:lnTo>
                    <a:pt x="12700" y="4001897"/>
                  </a:lnTo>
                  <a:lnTo>
                    <a:pt x="6350" y="4001897"/>
                  </a:lnTo>
                  <a:lnTo>
                    <a:pt x="12700" y="4001897"/>
                  </a:lnTo>
                  <a:cubicBezTo>
                    <a:pt x="12700" y="4083304"/>
                    <a:pt x="78867" y="4149344"/>
                    <a:pt x="160401" y="4149344"/>
                  </a:cubicBezTo>
                  <a:lnTo>
                    <a:pt x="10585323" y="4149344"/>
                  </a:lnTo>
                  <a:cubicBezTo>
                    <a:pt x="10666984" y="4149344"/>
                    <a:pt x="10733024" y="4083304"/>
                    <a:pt x="10733024" y="4001897"/>
                  </a:cubicBezTo>
                  <a:lnTo>
                    <a:pt x="10733024" y="160147"/>
                  </a:lnTo>
                  <a:cubicBezTo>
                    <a:pt x="10733151" y="78740"/>
                    <a:pt x="10666984" y="12700"/>
                    <a:pt x="10585323" y="12700"/>
                  </a:cubicBezTo>
                  <a:lnTo>
                    <a:pt x="160401" y="12700"/>
                  </a:lnTo>
                  <a:lnTo>
                    <a:pt x="160401" y="6350"/>
                  </a:lnTo>
                  <a:lnTo>
                    <a:pt x="160401" y="12700"/>
                  </a:lnTo>
                  <a:cubicBezTo>
                    <a:pt x="78867" y="12700"/>
                    <a:pt x="12700" y="78740"/>
                    <a:pt x="12700" y="160147"/>
                  </a:cubicBezTo>
                  <a:close/>
                </a:path>
              </a:pathLst>
            </a:custGeom>
            <a:solidFill>
              <a:srgbClr val="E2C8B5"/>
            </a:solidFill>
          </p:spPr>
        </p:sp>
      </p:grpSp>
      <p:grpSp>
        <p:nvGrpSpPr>
          <p:cNvPr id="17" name="Group 17"/>
          <p:cNvGrpSpPr/>
          <p:nvPr/>
        </p:nvGrpSpPr>
        <p:grpSpPr>
          <a:xfrm>
            <a:off x="9561014" y="3243710"/>
            <a:ext cx="823912" cy="823912"/>
            <a:chOff x="0" y="0"/>
            <a:chExt cx="1098550" cy="1098550"/>
          </a:xfrm>
        </p:grpSpPr>
        <p:sp>
          <p:nvSpPr>
            <p:cNvPr id="18" name="Freeform 18"/>
            <p:cNvSpPr/>
            <p:nvPr/>
          </p:nvSpPr>
          <p:spPr>
            <a:xfrm>
              <a:off x="0" y="0"/>
              <a:ext cx="1098550" cy="1098550"/>
            </a:xfrm>
            <a:custGeom>
              <a:avLst/>
              <a:gdLst/>
              <a:ahLst/>
              <a:cxnLst/>
              <a:rect l="l" t="t" r="r" b="b"/>
              <a:pathLst>
                <a:path w="1098550" h="1098550">
                  <a:moveTo>
                    <a:pt x="0" y="549275"/>
                  </a:moveTo>
                  <a:cubicBezTo>
                    <a:pt x="0" y="245872"/>
                    <a:pt x="245872" y="0"/>
                    <a:pt x="549275" y="0"/>
                  </a:cubicBezTo>
                  <a:cubicBezTo>
                    <a:pt x="852678" y="0"/>
                    <a:pt x="1098550" y="245872"/>
                    <a:pt x="1098550" y="549275"/>
                  </a:cubicBezTo>
                  <a:cubicBezTo>
                    <a:pt x="1098550" y="852678"/>
                    <a:pt x="852678" y="1098550"/>
                    <a:pt x="549275" y="1098550"/>
                  </a:cubicBezTo>
                  <a:cubicBezTo>
                    <a:pt x="245872" y="1098550"/>
                    <a:pt x="0" y="852678"/>
                    <a:pt x="0" y="549275"/>
                  </a:cubicBezTo>
                  <a:close/>
                </a:path>
              </a:pathLst>
            </a:custGeom>
            <a:solidFill>
              <a:srgbClr val="D2600F"/>
            </a:solidFill>
          </p:spPr>
        </p:sp>
      </p:grpSp>
      <p:sp>
        <p:nvSpPr>
          <p:cNvPr id="19" name="Freeform 19" descr="preencoded.png"/>
          <p:cNvSpPr/>
          <p:nvPr/>
        </p:nvSpPr>
        <p:spPr>
          <a:xfrm>
            <a:off x="9787528" y="3470224"/>
            <a:ext cx="370732" cy="370732"/>
          </a:xfrm>
          <a:custGeom>
            <a:avLst/>
            <a:gdLst/>
            <a:ahLst/>
            <a:cxnLst/>
            <a:rect l="l" t="t" r="r" b="b"/>
            <a:pathLst>
              <a:path w="370732" h="370732">
                <a:moveTo>
                  <a:pt x="0" y="0"/>
                </a:moveTo>
                <a:lnTo>
                  <a:pt x="370732" y="0"/>
                </a:lnTo>
                <a:lnTo>
                  <a:pt x="370732" y="370732"/>
                </a:lnTo>
                <a:lnTo>
                  <a:pt x="0" y="370732"/>
                </a:lnTo>
                <a:lnTo>
                  <a:pt x="0" y="0"/>
                </a:lnTo>
                <a:close/>
              </a:path>
            </a:pathLst>
          </a:custGeom>
          <a:blipFill>
            <a:blip>
              <a:extLst>
                <a:ext uri="{96DAC541-7B7A-43D3-8B79-37D633B846F1}">
                  <asvg:svgBlip xmlns:asvg="http://schemas.microsoft.com/office/drawing/2016/SVG/main" r:embed="rId4"/>
                </a:ext>
              </a:extLst>
            </a:blip>
            <a:stretch>
              <a:fillRect t="-10256" b="-10256"/>
            </a:stretch>
          </a:blipFill>
        </p:spPr>
      </p:sp>
      <p:sp>
        <p:nvSpPr>
          <p:cNvPr id="20" name="TextBox 20"/>
          <p:cNvSpPr txBox="1"/>
          <p:nvPr/>
        </p:nvSpPr>
        <p:spPr>
          <a:xfrm>
            <a:off x="9561014" y="4324055"/>
            <a:ext cx="4529733" cy="412166"/>
          </a:xfrm>
          <a:prstGeom prst="rect">
            <a:avLst/>
          </a:prstGeom>
        </p:spPr>
        <p:txBody>
          <a:bodyPr lIns="0" tIns="0" rIns="0" bIns="0" rtlCol="0" anchor="t">
            <a:spAutoFit/>
          </a:bodyPr>
          <a:lstStyle/>
          <a:p>
            <a:pPr algn="l">
              <a:lnSpc>
                <a:spcPts val="3369"/>
              </a:lnSpc>
            </a:pPr>
            <a:r>
              <a:rPr lang="en-US" sz="2700">
                <a:solidFill>
                  <a:srgbClr val="2B2E3C"/>
                </a:solidFill>
                <a:latin typeface="Merriweather"/>
                <a:ea typeface="Merriweather"/>
                <a:cs typeface="Merriweather"/>
                <a:sym typeface="Merriweather"/>
              </a:rPr>
              <a:t>Role-Based Access Control</a:t>
            </a:r>
          </a:p>
        </p:txBody>
      </p:sp>
      <p:sp>
        <p:nvSpPr>
          <p:cNvPr id="21" name="TextBox 21"/>
          <p:cNvSpPr txBox="1"/>
          <p:nvPr/>
        </p:nvSpPr>
        <p:spPr>
          <a:xfrm>
            <a:off x="9561014" y="4836471"/>
            <a:ext cx="7481592" cy="858088"/>
          </a:xfrm>
          <a:prstGeom prst="rect">
            <a:avLst/>
          </a:prstGeom>
        </p:spPr>
        <p:txBody>
          <a:bodyPr lIns="0" tIns="0" rIns="0" bIns="0" rtlCol="0" anchor="t">
            <a:spAutoFit/>
          </a:bodyPr>
          <a:lstStyle/>
          <a:p>
            <a:pPr algn="l">
              <a:lnSpc>
                <a:spcPts val="3458"/>
              </a:lnSpc>
            </a:pPr>
            <a:r>
              <a:rPr lang="en-US" sz="2199">
                <a:solidFill>
                  <a:srgbClr val="2B2E3C"/>
                </a:solidFill>
                <a:latin typeface="Roboto"/>
                <a:ea typeface="Roboto"/>
                <a:cs typeface="Roboto"/>
                <a:sym typeface="Roboto"/>
              </a:rPr>
              <a:t>Distinct permissions for Students, Lecturers, Bus Drivers, and Administrator.</a:t>
            </a:r>
          </a:p>
        </p:txBody>
      </p:sp>
      <p:grpSp>
        <p:nvGrpSpPr>
          <p:cNvPr id="22" name="Group 22"/>
          <p:cNvGrpSpPr/>
          <p:nvPr/>
        </p:nvGrpSpPr>
        <p:grpSpPr>
          <a:xfrm>
            <a:off x="956520" y="6266859"/>
            <a:ext cx="8059188" cy="3121523"/>
            <a:chOff x="0" y="0"/>
            <a:chExt cx="10745584" cy="4162031"/>
          </a:xfrm>
        </p:grpSpPr>
        <p:sp>
          <p:nvSpPr>
            <p:cNvPr id="23" name="Freeform 23"/>
            <p:cNvSpPr/>
            <p:nvPr/>
          </p:nvSpPr>
          <p:spPr>
            <a:xfrm>
              <a:off x="6350" y="6350"/>
              <a:ext cx="10732897" cy="4149344"/>
            </a:xfrm>
            <a:custGeom>
              <a:avLst/>
              <a:gdLst/>
              <a:ahLst/>
              <a:cxnLst/>
              <a:rect l="l" t="t" r="r" b="b"/>
              <a:pathLst>
                <a:path w="10732897" h="4149344">
                  <a:moveTo>
                    <a:pt x="0" y="153797"/>
                  </a:moveTo>
                  <a:cubicBezTo>
                    <a:pt x="0" y="68834"/>
                    <a:pt x="68961" y="0"/>
                    <a:pt x="154051" y="0"/>
                  </a:cubicBezTo>
                  <a:lnTo>
                    <a:pt x="10578846" y="0"/>
                  </a:lnTo>
                  <a:cubicBezTo>
                    <a:pt x="10663936" y="0"/>
                    <a:pt x="10732897" y="68834"/>
                    <a:pt x="10732897" y="153797"/>
                  </a:cubicBezTo>
                  <a:lnTo>
                    <a:pt x="10732897" y="3995547"/>
                  </a:lnTo>
                  <a:cubicBezTo>
                    <a:pt x="10732897" y="4080510"/>
                    <a:pt x="10663936" y="4149344"/>
                    <a:pt x="10578846" y="4149344"/>
                  </a:cubicBezTo>
                  <a:lnTo>
                    <a:pt x="154051" y="4149344"/>
                  </a:lnTo>
                  <a:cubicBezTo>
                    <a:pt x="68961" y="4149344"/>
                    <a:pt x="0" y="4080510"/>
                    <a:pt x="0" y="3995547"/>
                  </a:cubicBezTo>
                  <a:close/>
                </a:path>
              </a:pathLst>
            </a:custGeom>
            <a:solidFill>
              <a:srgbClr val="FCE2CF"/>
            </a:solidFill>
          </p:spPr>
        </p:sp>
        <p:sp>
          <p:nvSpPr>
            <p:cNvPr id="24" name="Freeform 24"/>
            <p:cNvSpPr/>
            <p:nvPr/>
          </p:nvSpPr>
          <p:spPr>
            <a:xfrm>
              <a:off x="0" y="0"/>
              <a:ext cx="10745597" cy="4162044"/>
            </a:xfrm>
            <a:custGeom>
              <a:avLst/>
              <a:gdLst/>
              <a:ahLst/>
              <a:cxnLst/>
              <a:rect l="l" t="t" r="r" b="b"/>
              <a:pathLst>
                <a:path w="10745597" h="4162044">
                  <a:moveTo>
                    <a:pt x="0" y="160147"/>
                  </a:moveTo>
                  <a:cubicBezTo>
                    <a:pt x="0" y="71755"/>
                    <a:pt x="71882" y="0"/>
                    <a:pt x="160401" y="0"/>
                  </a:cubicBezTo>
                  <a:lnTo>
                    <a:pt x="10585196" y="0"/>
                  </a:lnTo>
                  <a:lnTo>
                    <a:pt x="10585196" y="6350"/>
                  </a:lnTo>
                  <a:lnTo>
                    <a:pt x="10585196" y="0"/>
                  </a:lnTo>
                  <a:cubicBezTo>
                    <a:pt x="10673842" y="0"/>
                    <a:pt x="10745597" y="71755"/>
                    <a:pt x="10745597" y="160147"/>
                  </a:cubicBezTo>
                  <a:lnTo>
                    <a:pt x="10739247" y="160147"/>
                  </a:lnTo>
                  <a:lnTo>
                    <a:pt x="10745597" y="160147"/>
                  </a:lnTo>
                  <a:lnTo>
                    <a:pt x="10745597" y="4001897"/>
                  </a:lnTo>
                  <a:lnTo>
                    <a:pt x="10739247" y="4001897"/>
                  </a:lnTo>
                  <a:lnTo>
                    <a:pt x="10745597" y="4001897"/>
                  </a:lnTo>
                  <a:cubicBezTo>
                    <a:pt x="10745597" y="4090416"/>
                    <a:pt x="10673714" y="4162044"/>
                    <a:pt x="10585196" y="4162044"/>
                  </a:cubicBezTo>
                  <a:lnTo>
                    <a:pt x="10585196" y="4155694"/>
                  </a:lnTo>
                  <a:lnTo>
                    <a:pt x="10585196" y="4162044"/>
                  </a:lnTo>
                  <a:lnTo>
                    <a:pt x="160401" y="4162044"/>
                  </a:lnTo>
                  <a:lnTo>
                    <a:pt x="160401" y="4155694"/>
                  </a:lnTo>
                  <a:lnTo>
                    <a:pt x="160401" y="4162044"/>
                  </a:lnTo>
                  <a:cubicBezTo>
                    <a:pt x="71882" y="4162044"/>
                    <a:pt x="0" y="4090289"/>
                    <a:pt x="0" y="4001897"/>
                  </a:cubicBezTo>
                  <a:lnTo>
                    <a:pt x="0" y="160147"/>
                  </a:lnTo>
                  <a:lnTo>
                    <a:pt x="6350" y="160147"/>
                  </a:lnTo>
                  <a:lnTo>
                    <a:pt x="0" y="160147"/>
                  </a:lnTo>
                  <a:moveTo>
                    <a:pt x="12700" y="160147"/>
                  </a:moveTo>
                  <a:lnTo>
                    <a:pt x="12700" y="4001897"/>
                  </a:lnTo>
                  <a:lnTo>
                    <a:pt x="6350" y="4001897"/>
                  </a:lnTo>
                  <a:lnTo>
                    <a:pt x="12700" y="4001897"/>
                  </a:lnTo>
                  <a:cubicBezTo>
                    <a:pt x="12700" y="4083304"/>
                    <a:pt x="78867" y="4149344"/>
                    <a:pt x="160401" y="4149344"/>
                  </a:cubicBezTo>
                  <a:lnTo>
                    <a:pt x="10585196" y="4149344"/>
                  </a:lnTo>
                  <a:cubicBezTo>
                    <a:pt x="10666857" y="4149344"/>
                    <a:pt x="10732897" y="4083304"/>
                    <a:pt x="10732897" y="4001897"/>
                  </a:cubicBezTo>
                  <a:lnTo>
                    <a:pt x="10732897" y="160147"/>
                  </a:lnTo>
                  <a:cubicBezTo>
                    <a:pt x="10732897" y="78740"/>
                    <a:pt x="10666730" y="12700"/>
                    <a:pt x="10585196" y="12700"/>
                  </a:cubicBezTo>
                  <a:lnTo>
                    <a:pt x="160401" y="12700"/>
                  </a:lnTo>
                  <a:lnTo>
                    <a:pt x="160401" y="6350"/>
                  </a:lnTo>
                  <a:lnTo>
                    <a:pt x="160401" y="12700"/>
                  </a:lnTo>
                  <a:cubicBezTo>
                    <a:pt x="78867" y="12700"/>
                    <a:pt x="12700" y="78740"/>
                    <a:pt x="12700" y="160147"/>
                  </a:cubicBezTo>
                  <a:close/>
                </a:path>
              </a:pathLst>
            </a:custGeom>
            <a:solidFill>
              <a:srgbClr val="E2C8B5"/>
            </a:solidFill>
          </p:spPr>
        </p:sp>
      </p:grpSp>
      <p:grpSp>
        <p:nvGrpSpPr>
          <p:cNvPr id="25" name="Group 25"/>
          <p:cNvGrpSpPr/>
          <p:nvPr/>
        </p:nvGrpSpPr>
        <p:grpSpPr>
          <a:xfrm>
            <a:off x="1245394" y="6621656"/>
            <a:ext cx="823912" cy="823912"/>
            <a:chOff x="0" y="0"/>
            <a:chExt cx="1098550" cy="1098550"/>
          </a:xfrm>
        </p:grpSpPr>
        <p:sp>
          <p:nvSpPr>
            <p:cNvPr id="26" name="Freeform 26"/>
            <p:cNvSpPr/>
            <p:nvPr/>
          </p:nvSpPr>
          <p:spPr>
            <a:xfrm>
              <a:off x="0" y="0"/>
              <a:ext cx="1098550" cy="1098550"/>
            </a:xfrm>
            <a:custGeom>
              <a:avLst/>
              <a:gdLst/>
              <a:ahLst/>
              <a:cxnLst/>
              <a:rect l="l" t="t" r="r" b="b"/>
              <a:pathLst>
                <a:path w="1098550" h="1098550">
                  <a:moveTo>
                    <a:pt x="0" y="549275"/>
                  </a:moveTo>
                  <a:cubicBezTo>
                    <a:pt x="0" y="245872"/>
                    <a:pt x="245872" y="0"/>
                    <a:pt x="549275" y="0"/>
                  </a:cubicBezTo>
                  <a:cubicBezTo>
                    <a:pt x="852678" y="0"/>
                    <a:pt x="1098550" y="245872"/>
                    <a:pt x="1098550" y="549275"/>
                  </a:cubicBezTo>
                  <a:cubicBezTo>
                    <a:pt x="1098550" y="852678"/>
                    <a:pt x="852678" y="1098550"/>
                    <a:pt x="549275" y="1098550"/>
                  </a:cubicBezTo>
                  <a:cubicBezTo>
                    <a:pt x="245872" y="1098550"/>
                    <a:pt x="0" y="852678"/>
                    <a:pt x="0" y="549275"/>
                  </a:cubicBezTo>
                  <a:close/>
                </a:path>
              </a:pathLst>
            </a:custGeom>
            <a:solidFill>
              <a:srgbClr val="D2600F"/>
            </a:solidFill>
          </p:spPr>
        </p:sp>
      </p:grpSp>
      <p:sp>
        <p:nvSpPr>
          <p:cNvPr id="27" name="Freeform 27" descr="preencoded.png"/>
          <p:cNvSpPr/>
          <p:nvPr/>
        </p:nvSpPr>
        <p:spPr>
          <a:xfrm>
            <a:off x="1471908" y="6848180"/>
            <a:ext cx="370732" cy="370732"/>
          </a:xfrm>
          <a:custGeom>
            <a:avLst/>
            <a:gdLst/>
            <a:ahLst/>
            <a:cxnLst/>
            <a:rect l="l" t="t" r="r" b="b"/>
            <a:pathLst>
              <a:path w="370732" h="370732">
                <a:moveTo>
                  <a:pt x="0" y="0"/>
                </a:moveTo>
                <a:lnTo>
                  <a:pt x="370732" y="0"/>
                </a:lnTo>
                <a:lnTo>
                  <a:pt x="370732" y="370732"/>
                </a:lnTo>
                <a:lnTo>
                  <a:pt x="0" y="370732"/>
                </a:lnTo>
                <a:lnTo>
                  <a:pt x="0" y="0"/>
                </a:lnTo>
                <a:close/>
              </a:path>
            </a:pathLst>
          </a:custGeom>
          <a:blipFill>
            <a:blip>
              <a:extLst>
                <a:ext uri="{96DAC541-7B7A-43D3-8B79-37D633B846F1}">
                  <asvg:svgBlip xmlns:asvg="http://schemas.microsoft.com/office/drawing/2016/SVG/main" r:embed="rId5"/>
                </a:ext>
              </a:extLst>
            </a:blip>
            <a:stretch>
              <a:fillRect t="-5128" b="-5128"/>
            </a:stretch>
          </a:blipFill>
        </p:spPr>
      </p:sp>
      <p:sp>
        <p:nvSpPr>
          <p:cNvPr id="28" name="TextBox 28"/>
          <p:cNvSpPr txBox="1"/>
          <p:nvPr/>
        </p:nvSpPr>
        <p:spPr>
          <a:xfrm>
            <a:off x="1245394" y="7702001"/>
            <a:ext cx="4435897" cy="417230"/>
          </a:xfrm>
          <a:prstGeom prst="rect">
            <a:avLst/>
          </a:prstGeom>
        </p:spPr>
        <p:txBody>
          <a:bodyPr wrap="square" lIns="0" tIns="0" rIns="0" bIns="0" rtlCol="0" anchor="t">
            <a:spAutoFit/>
          </a:bodyPr>
          <a:lstStyle/>
          <a:p>
            <a:pPr algn="l">
              <a:lnSpc>
                <a:spcPts val="3369"/>
              </a:lnSpc>
            </a:pPr>
            <a:r>
              <a:rPr lang="en-US" sz="2700" dirty="0">
                <a:solidFill>
                  <a:srgbClr val="2B2E3C"/>
                </a:solidFill>
                <a:latin typeface="Merriweather"/>
                <a:ea typeface="Merriweather"/>
                <a:cs typeface="Merriweather"/>
                <a:sym typeface="Merriweather"/>
              </a:rPr>
              <a:t>Equal User Experience</a:t>
            </a:r>
          </a:p>
        </p:txBody>
      </p:sp>
      <p:sp>
        <p:nvSpPr>
          <p:cNvPr id="29" name="TextBox 29"/>
          <p:cNvSpPr txBox="1"/>
          <p:nvPr/>
        </p:nvSpPr>
        <p:spPr>
          <a:xfrm>
            <a:off x="1245394" y="8214417"/>
            <a:ext cx="7481440" cy="858088"/>
          </a:xfrm>
          <a:prstGeom prst="rect">
            <a:avLst/>
          </a:prstGeom>
        </p:spPr>
        <p:txBody>
          <a:bodyPr lIns="0" tIns="0" rIns="0" bIns="0" rtlCol="0" anchor="t">
            <a:spAutoFit/>
          </a:bodyPr>
          <a:lstStyle/>
          <a:p>
            <a:pPr algn="l">
              <a:lnSpc>
                <a:spcPts val="3458"/>
              </a:lnSpc>
            </a:pPr>
            <a:r>
              <a:rPr lang="en-US" sz="2199">
                <a:solidFill>
                  <a:srgbClr val="2B2E3C"/>
                </a:solidFill>
                <a:latin typeface="Roboto"/>
                <a:ea typeface="Roboto"/>
                <a:cs typeface="Roboto"/>
                <a:sym typeface="Roboto"/>
              </a:rPr>
              <a:t>Prevention multiple bookings for the same resource and establishing a dynamic waitlist for fully booked resources.</a:t>
            </a:r>
          </a:p>
        </p:txBody>
      </p:sp>
      <p:grpSp>
        <p:nvGrpSpPr>
          <p:cNvPr id="30" name="Group 30"/>
          <p:cNvGrpSpPr/>
          <p:nvPr/>
        </p:nvGrpSpPr>
        <p:grpSpPr>
          <a:xfrm>
            <a:off x="9272140" y="6332782"/>
            <a:ext cx="8059341" cy="3121523"/>
            <a:chOff x="0" y="0"/>
            <a:chExt cx="10745788" cy="4162031"/>
          </a:xfrm>
        </p:grpSpPr>
        <p:sp>
          <p:nvSpPr>
            <p:cNvPr id="31" name="Freeform 31"/>
            <p:cNvSpPr/>
            <p:nvPr/>
          </p:nvSpPr>
          <p:spPr>
            <a:xfrm>
              <a:off x="6350" y="6350"/>
              <a:ext cx="10733024" cy="4149344"/>
            </a:xfrm>
            <a:custGeom>
              <a:avLst/>
              <a:gdLst/>
              <a:ahLst/>
              <a:cxnLst/>
              <a:rect l="l" t="t" r="r" b="b"/>
              <a:pathLst>
                <a:path w="10733024" h="4149344">
                  <a:moveTo>
                    <a:pt x="0" y="153797"/>
                  </a:moveTo>
                  <a:cubicBezTo>
                    <a:pt x="0" y="68834"/>
                    <a:pt x="68961" y="0"/>
                    <a:pt x="154051" y="0"/>
                  </a:cubicBezTo>
                  <a:lnTo>
                    <a:pt x="10578973" y="0"/>
                  </a:lnTo>
                  <a:cubicBezTo>
                    <a:pt x="10664063" y="0"/>
                    <a:pt x="10733024" y="68834"/>
                    <a:pt x="10733024" y="153797"/>
                  </a:cubicBezTo>
                  <a:lnTo>
                    <a:pt x="10733024" y="3995547"/>
                  </a:lnTo>
                  <a:cubicBezTo>
                    <a:pt x="10733024" y="4080510"/>
                    <a:pt x="10664063" y="4149344"/>
                    <a:pt x="10578973" y="4149344"/>
                  </a:cubicBezTo>
                  <a:lnTo>
                    <a:pt x="154051" y="4149344"/>
                  </a:lnTo>
                  <a:cubicBezTo>
                    <a:pt x="68961" y="4149344"/>
                    <a:pt x="0" y="4080510"/>
                    <a:pt x="0" y="3995547"/>
                  </a:cubicBezTo>
                  <a:close/>
                </a:path>
              </a:pathLst>
            </a:custGeom>
            <a:solidFill>
              <a:srgbClr val="FCE2CF"/>
            </a:solidFill>
          </p:spPr>
        </p:sp>
        <p:sp>
          <p:nvSpPr>
            <p:cNvPr id="32" name="Freeform 32"/>
            <p:cNvSpPr/>
            <p:nvPr/>
          </p:nvSpPr>
          <p:spPr>
            <a:xfrm>
              <a:off x="0" y="0"/>
              <a:ext cx="10745724" cy="4162044"/>
            </a:xfrm>
            <a:custGeom>
              <a:avLst/>
              <a:gdLst/>
              <a:ahLst/>
              <a:cxnLst/>
              <a:rect l="l" t="t" r="r" b="b"/>
              <a:pathLst>
                <a:path w="10745724" h="4162044">
                  <a:moveTo>
                    <a:pt x="0" y="160147"/>
                  </a:moveTo>
                  <a:cubicBezTo>
                    <a:pt x="0" y="71755"/>
                    <a:pt x="71882" y="0"/>
                    <a:pt x="160401" y="0"/>
                  </a:cubicBezTo>
                  <a:lnTo>
                    <a:pt x="10585323" y="0"/>
                  </a:lnTo>
                  <a:lnTo>
                    <a:pt x="10585323" y="6350"/>
                  </a:lnTo>
                  <a:lnTo>
                    <a:pt x="10585323" y="0"/>
                  </a:lnTo>
                  <a:cubicBezTo>
                    <a:pt x="10673969" y="0"/>
                    <a:pt x="10745724" y="71755"/>
                    <a:pt x="10745724" y="160147"/>
                  </a:cubicBezTo>
                  <a:lnTo>
                    <a:pt x="10739374" y="160147"/>
                  </a:lnTo>
                  <a:lnTo>
                    <a:pt x="10745724" y="160147"/>
                  </a:lnTo>
                  <a:lnTo>
                    <a:pt x="10745724" y="4001897"/>
                  </a:lnTo>
                  <a:lnTo>
                    <a:pt x="10739374" y="4001897"/>
                  </a:lnTo>
                  <a:lnTo>
                    <a:pt x="10745724" y="4001897"/>
                  </a:lnTo>
                  <a:cubicBezTo>
                    <a:pt x="10745724" y="4090416"/>
                    <a:pt x="10673842" y="4162044"/>
                    <a:pt x="10585323" y="4162044"/>
                  </a:cubicBezTo>
                  <a:lnTo>
                    <a:pt x="10585323" y="4155694"/>
                  </a:lnTo>
                  <a:lnTo>
                    <a:pt x="10585323" y="4162044"/>
                  </a:lnTo>
                  <a:lnTo>
                    <a:pt x="160401" y="4162044"/>
                  </a:lnTo>
                  <a:lnTo>
                    <a:pt x="160401" y="4155694"/>
                  </a:lnTo>
                  <a:lnTo>
                    <a:pt x="160401" y="4162044"/>
                  </a:lnTo>
                  <a:cubicBezTo>
                    <a:pt x="71882" y="4162044"/>
                    <a:pt x="0" y="4090289"/>
                    <a:pt x="0" y="4001897"/>
                  </a:cubicBezTo>
                  <a:lnTo>
                    <a:pt x="0" y="160147"/>
                  </a:lnTo>
                  <a:lnTo>
                    <a:pt x="6350" y="160147"/>
                  </a:lnTo>
                  <a:lnTo>
                    <a:pt x="0" y="160147"/>
                  </a:lnTo>
                  <a:moveTo>
                    <a:pt x="12700" y="160147"/>
                  </a:moveTo>
                  <a:lnTo>
                    <a:pt x="12700" y="4001897"/>
                  </a:lnTo>
                  <a:lnTo>
                    <a:pt x="6350" y="4001897"/>
                  </a:lnTo>
                  <a:lnTo>
                    <a:pt x="12700" y="4001897"/>
                  </a:lnTo>
                  <a:cubicBezTo>
                    <a:pt x="12700" y="4083304"/>
                    <a:pt x="78867" y="4149344"/>
                    <a:pt x="160401" y="4149344"/>
                  </a:cubicBezTo>
                  <a:lnTo>
                    <a:pt x="10585323" y="4149344"/>
                  </a:lnTo>
                  <a:cubicBezTo>
                    <a:pt x="10666984" y="4149344"/>
                    <a:pt x="10733024" y="4083304"/>
                    <a:pt x="10733024" y="4001897"/>
                  </a:cubicBezTo>
                  <a:lnTo>
                    <a:pt x="10733024" y="160147"/>
                  </a:lnTo>
                  <a:cubicBezTo>
                    <a:pt x="10733151" y="78740"/>
                    <a:pt x="10666984" y="12700"/>
                    <a:pt x="10585323" y="12700"/>
                  </a:cubicBezTo>
                  <a:lnTo>
                    <a:pt x="160401" y="12700"/>
                  </a:lnTo>
                  <a:lnTo>
                    <a:pt x="160401" y="6350"/>
                  </a:lnTo>
                  <a:lnTo>
                    <a:pt x="160401" y="12700"/>
                  </a:lnTo>
                  <a:cubicBezTo>
                    <a:pt x="78867" y="12700"/>
                    <a:pt x="12700" y="78740"/>
                    <a:pt x="12700" y="160147"/>
                  </a:cubicBezTo>
                  <a:close/>
                </a:path>
              </a:pathLst>
            </a:custGeom>
            <a:solidFill>
              <a:srgbClr val="E2C8B5"/>
            </a:solidFill>
          </p:spPr>
        </p:sp>
      </p:grpSp>
      <p:grpSp>
        <p:nvGrpSpPr>
          <p:cNvPr id="33" name="Group 33"/>
          <p:cNvGrpSpPr/>
          <p:nvPr/>
        </p:nvGrpSpPr>
        <p:grpSpPr>
          <a:xfrm>
            <a:off x="9561014" y="6621656"/>
            <a:ext cx="823912" cy="823912"/>
            <a:chOff x="0" y="0"/>
            <a:chExt cx="1098550" cy="1098550"/>
          </a:xfrm>
        </p:grpSpPr>
        <p:sp>
          <p:nvSpPr>
            <p:cNvPr id="34" name="Freeform 34"/>
            <p:cNvSpPr/>
            <p:nvPr/>
          </p:nvSpPr>
          <p:spPr>
            <a:xfrm>
              <a:off x="0" y="0"/>
              <a:ext cx="1098550" cy="1098550"/>
            </a:xfrm>
            <a:custGeom>
              <a:avLst/>
              <a:gdLst/>
              <a:ahLst/>
              <a:cxnLst/>
              <a:rect l="l" t="t" r="r" b="b"/>
              <a:pathLst>
                <a:path w="1098550" h="1098550">
                  <a:moveTo>
                    <a:pt x="0" y="549275"/>
                  </a:moveTo>
                  <a:cubicBezTo>
                    <a:pt x="0" y="245872"/>
                    <a:pt x="245872" y="0"/>
                    <a:pt x="549275" y="0"/>
                  </a:cubicBezTo>
                  <a:cubicBezTo>
                    <a:pt x="852678" y="0"/>
                    <a:pt x="1098550" y="245872"/>
                    <a:pt x="1098550" y="549275"/>
                  </a:cubicBezTo>
                  <a:cubicBezTo>
                    <a:pt x="1098550" y="852678"/>
                    <a:pt x="852678" y="1098550"/>
                    <a:pt x="549275" y="1098550"/>
                  </a:cubicBezTo>
                  <a:cubicBezTo>
                    <a:pt x="245872" y="1098550"/>
                    <a:pt x="0" y="852678"/>
                    <a:pt x="0" y="549275"/>
                  </a:cubicBezTo>
                  <a:close/>
                </a:path>
              </a:pathLst>
            </a:custGeom>
            <a:solidFill>
              <a:srgbClr val="D2600F"/>
            </a:solidFill>
          </p:spPr>
        </p:sp>
      </p:grpSp>
      <p:sp>
        <p:nvSpPr>
          <p:cNvPr id="35" name="Freeform 35" descr="preencoded.png"/>
          <p:cNvSpPr/>
          <p:nvPr/>
        </p:nvSpPr>
        <p:spPr>
          <a:xfrm>
            <a:off x="9787528" y="6848180"/>
            <a:ext cx="370732" cy="370732"/>
          </a:xfrm>
          <a:custGeom>
            <a:avLst/>
            <a:gdLst/>
            <a:ahLst/>
            <a:cxnLst/>
            <a:rect l="l" t="t" r="r" b="b"/>
            <a:pathLst>
              <a:path w="370732" h="370732">
                <a:moveTo>
                  <a:pt x="0" y="0"/>
                </a:moveTo>
                <a:lnTo>
                  <a:pt x="370732" y="0"/>
                </a:lnTo>
                <a:lnTo>
                  <a:pt x="370732" y="370732"/>
                </a:lnTo>
                <a:lnTo>
                  <a:pt x="0" y="370732"/>
                </a:lnTo>
                <a:lnTo>
                  <a:pt x="0" y="0"/>
                </a:lnTo>
                <a:close/>
              </a:path>
            </a:pathLst>
          </a:custGeom>
          <a:blipFill>
            <a:blip>
              <a:extLst>
                <a:ext uri="{96DAC541-7B7A-43D3-8B79-37D633B846F1}">
                  <asvg:svgBlip xmlns:asvg="http://schemas.microsoft.com/office/drawing/2016/SVG/main" r:embed="rId6"/>
                </a:ext>
              </a:extLst>
            </a:blip>
            <a:stretch>
              <a:fillRect t="-8974" b="-8974"/>
            </a:stretch>
          </a:blipFill>
        </p:spPr>
      </p:sp>
      <p:sp>
        <p:nvSpPr>
          <p:cNvPr id="36" name="TextBox 36"/>
          <p:cNvSpPr txBox="1"/>
          <p:nvPr/>
        </p:nvSpPr>
        <p:spPr>
          <a:xfrm>
            <a:off x="9561014" y="7702001"/>
            <a:ext cx="4174808" cy="412166"/>
          </a:xfrm>
          <a:prstGeom prst="rect">
            <a:avLst/>
          </a:prstGeom>
        </p:spPr>
        <p:txBody>
          <a:bodyPr lIns="0" tIns="0" rIns="0" bIns="0" rtlCol="0" anchor="t">
            <a:spAutoFit/>
          </a:bodyPr>
          <a:lstStyle/>
          <a:p>
            <a:pPr algn="l">
              <a:lnSpc>
                <a:spcPts val="3369"/>
              </a:lnSpc>
            </a:pPr>
            <a:r>
              <a:rPr lang="en-US" sz="2700">
                <a:solidFill>
                  <a:srgbClr val="2B2E3C"/>
                </a:solidFill>
                <a:latin typeface="Merriweather"/>
                <a:ea typeface="Merriweather"/>
                <a:cs typeface="Merriweather"/>
                <a:sym typeface="Merriweather"/>
              </a:rPr>
              <a:t>Automated Notifications</a:t>
            </a:r>
          </a:p>
        </p:txBody>
      </p:sp>
      <p:sp>
        <p:nvSpPr>
          <p:cNvPr id="37" name="TextBox 37"/>
          <p:cNvSpPr txBox="1"/>
          <p:nvPr/>
        </p:nvSpPr>
        <p:spPr>
          <a:xfrm>
            <a:off x="9561014" y="8214417"/>
            <a:ext cx="7481592" cy="858088"/>
          </a:xfrm>
          <a:prstGeom prst="rect">
            <a:avLst/>
          </a:prstGeom>
        </p:spPr>
        <p:txBody>
          <a:bodyPr lIns="0" tIns="0" rIns="0" bIns="0" rtlCol="0" anchor="t">
            <a:spAutoFit/>
          </a:bodyPr>
          <a:lstStyle/>
          <a:p>
            <a:pPr algn="l">
              <a:lnSpc>
                <a:spcPts val="3458"/>
              </a:lnSpc>
            </a:pPr>
            <a:r>
              <a:rPr lang="en-US" sz="2199">
                <a:solidFill>
                  <a:srgbClr val="2B2E3C"/>
                </a:solidFill>
                <a:latin typeface="Roboto"/>
                <a:ea typeface="Roboto"/>
                <a:cs typeface="Roboto"/>
                <a:sym typeface="Roboto"/>
              </a:rPr>
              <a:t>Real-time alerts for canceled bookings, waitlist promotions, and transit changes.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8F0"/>
            </a:solidFill>
          </p:spPr>
        </p:sp>
      </p:grpSp>
      <p:sp>
        <p:nvSpPr>
          <p:cNvPr id="4" name="TextBox 4"/>
          <p:cNvSpPr txBox="1"/>
          <p:nvPr/>
        </p:nvSpPr>
        <p:spPr>
          <a:xfrm>
            <a:off x="976760" y="775697"/>
            <a:ext cx="16259652" cy="843382"/>
          </a:xfrm>
          <a:prstGeom prst="rect">
            <a:avLst/>
          </a:prstGeom>
        </p:spPr>
        <p:txBody>
          <a:bodyPr lIns="0" tIns="0" rIns="0" bIns="0" rtlCol="0" anchor="t">
            <a:spAutoFit/>
          </a:bodyPr>
          <a:lstStyle/>
          <a:p>
            <a:pPr algn="l">
              <a:lnSpc>
                <a:spcPts val="6739"/>
              </a:lnSpc>
            </a:pPr>
            <a:r>
              <a:rPr lang="en-US" sz="5400">
                <a:solidFill>
                  <a:srgbClr val="2C3F42"/>
                </a:solidFill>
                <a:latin typeface="Merriweather"/>
                <a:ea typeface="Merriweather"/>
                <a:cs typeface="Merriweather"/>
                <a:sym typeface="Merriweather"/>
              </a:rPr>
              <a:t>Related Work &amp; What Makes UniQueue Different</a:t>
            </a:r>
          </a:p>
        </p:txBody>
      </p:sp>
      <p:sp>
        <p:nvSpPr>
          <p:cNvPr id="5" name="TextBox 5"/>
          <p:cNvSpPr txBox="1"/>
          <p:nvPr/>
        </p:nvSpPr>
        <p:spPr>
          <a:xfrm>
            <a:off x="976760" y="2353713"/>
            <a:ext cx="3091696" cy="412166"/>
          </a:xfrm>
          <a:prstGeom prst="rect">
            <a:avLst/>
          </a:prstGeom>
        </p:spPr>
        <p:txBody>
          <a:bodyPr lIns="0" tIns="0" rIns="0" bIns="0" rtlCol="0" anchor="t">
            <a:spAutoFit/>
          </a:bodyPr>
          <a:lstStyle/>
          <a:p>
            <a:pPr algn="l">
              <a:lnSpc>
                <a:spcPts val="3369"/>
              </a:lnSpc>
            </a:pPr>
            <a:r>
              <a:rPr lang="en-US" sz="2700">
                <a:solidFill>
                  <a:srgbClr val="2C3F42"/>
                </a:solidFill>
                <a:latin typeface="Merriweather"/>
                <a:ea typeface="Merriweather"/>
                <a:cs typeface="Merriweather"/>
                <a:sym typeface="Merriweather"/>
              </a:rPr>
              <a:t>Existing Solutions</a:t>
            </a:r>
          </a:p>
        </p:txBody>
      </p:sp>
      <p:sp>
        <p:nvSpPr>
          <p:cNvPr id="6" name="TextBox 6"/>
          <p:cNvSpPr txBox="1"/>
          <p:nvPr/>
        </p:nvSpPr>
        <p:spPr>
          <a:xfrm>
            <a:off x="976760" y="2988316"/>
            <a:ext cx="8741273" cy="416586"/>
          </a:xfrm>
          <a:prstGeom prst="rect">
            <a:avLst/>
          </a:prstGeom>
        </p:spPr>
        <p:txBody>
          <a:bodyPr lIns="0" tIns="0" rIns="0" bIns="0" rtlCol="0" anchor="t">
            <a:spAutoFit/>
          </a:bodyPr>
          <a:lstStyle/>
          <a:p>
            <a:pPr algn="l">
              <a:lnSpc>
                <a:spcPts val="3484"/>
              </a:lnSpc>
            </a:pPr>
            <a:r>
              <a:rPr lang="en-US" sz="2199">
                <a:solidFill>
                  <a:srgbClr val="2B2E3C"/>
                </a:solidFill>
                <a:latin typeface="Roboto"/>
                <a:ea typeface="Roboto"/>
                <a:cs typeface="Roboto"/>
                <a:sym typeface="Roboto"/>
              </a:rPr>
              <a:t>Several tools exist in the scheduling space today:</a:t>
            </a:r>
          </a:p>
        </p:txBody>
      </p:sp>
      <p:grpSp>
        <p:nvGrpSpPr>
          <p:cNvPr id="7" name="Group 7"/>
          <p:cNvGrpSpPr/>
          <p:nvPr/>
        </p:nvGrpSpPr>
        <p:grpSpPr>
          <a:xfrm>
            <a:off x="957710" y="3806876"/>
            <a:ext cx="7864973" cy="2269036"/>
            <a:chOff x="0" y="0"/>
            <a:chExt cx="10486631" cy="3025381"/>
          </a:xfrm>
        </p:grpSpPr>
        <p:sp>
          <p:nvSpPr>
            <p:cNvPr id="8" name="Freeform 8"/>
            <p:cNvSpPr/>
            <p:nvPr/>
          </p:nvSpPr>
          <p:spPr>
            <a:xfrm>
              <a:off x="25400" y="25400"/>
              <a:ext cx="10435844" cy="2974594"/>
            </a:xfrm>
            <a:custGeom>
              <a:avLst/>
              <a:gdLst/>
              <a:ahLst/>
              <a:cxnLst/>
              <a:rect l="l" t="t" r="r" b="b"/>
              <a:pathLst>
                <a:path w="10435844" h="2974594">
                  <a:moveTo>
                    <a:pt x="0" y="243840"/>
                  </a:moveTo>
                  <a:cubicBezTo>
                    <a:pt x="0" y="109220"/>
                    <a:pt x="110490" y="0"/>
                    <a:pt x="246761" y="0"/>
                  </a:cubicBezTo>
                  <a:lnTo>
                    <a:pt x="10189083" y="0"/>
                  </a:lnTo>
                  <a:cubicBezTo>
                    <a:pt x="10325353" y="0"/>
                    <a:pt x="10435844" y="109220"/>
                    <a:pt x="10435844" y="243840"/>
                  </a:cubicBezTo>
                  <a:lnTo>
                    <a:pt x="10435844" y="2730754"/>
                  </a:lnTo>
                  <a:cubicBezTo>
                    <a:pt x="10435844" y="2865374"/>
                    <a:pt x="10325353" y="2974594"/>
                    <a:pt x="10189083" y="2974594"/>
                  </a:cubicBezTo>
                  <a:lnTo>
                    <a:pt x="246761" y="2974594"/>
                  </a:lnTo>
                  <a:cubicBezTo>
                    <a:pt x="110490" y="2974594"/>
                    <a:pt x="0" y="2865374"/>
                    <a:pt x="0" y="2730754"/>
                  </a:cubicBezTo>
                  <a:close/>
                </a:path>
              </a:pathLst>
            </a:custGeom>
            <a:solidFill>
              <a:srgbClr val="FFF8F0"/>
            </a:solidFill>
          </p:spPr>
        </p:sp>
        <p:sp>
          <p:nvSpPr>
            <p:cNvPr id="9" name="Freeform 9"/>
            <p:cNvSpPr/>
            <p:nvPr/>
          </p:nvSpPr>
          <p:spPr>
            <a:xfrm>
              <a:off x="0" y="0"/>
              <a:ext cx="10486644" cy="3025394"/>
            </a:xfrm>
            <a:custGeom>
              <a:avLst/>
              <a:gdLst/>
              <a:ahLst/>
              <a:cxnLst/>
              <a:rect l="l" t="t" r="r" b="b"/>
              <a:pathLst>
                <a:path w="10486644" h="3025394">
                  <a:moveTo>
                    <a:pt x="0" y="269240"/>
                  </a:moveTo>
                  <a:cubicBezTo>
                    <a:pt x="0" y="120269"/>
                    <a:pt x="122174" y="0"/>
                    <a:pt x="272161" y="0"/>
                  </a:cubicBezTo>
                  <a:lnTo>
                    <a:pt x="10214483" y="0"/>
                  </a:lnTo>
                  <a:lnTo>
                    <a:pt x="10214483" y="25400"/>
                  </a:lnTo>
                  <a:lnTo>
                    <a:pt x="10214483" y="0"/>
                  </a:lnTo>
                  <a:cubicBezTo>
                    <a:pt x="10364470" y="0"/>
                    <a:pt x="10486644" y="120269"/>
                    <a:pt x="10486644" y="269240"/>
                  </a:cubicBezTo>
                  <a:lnTo>
                    <a:pt x="10461244" y="269240"/>
                  </a:lnTo>
                  <a:lnTo>
                    <a:pt x="10486644" y="269240"/>
                  </a:lnTo>
                  <a:lnTo>
                    <a:pt x="10486644" y="2756154"/>
                  </a:lnTo>
                  <a:lnTo>
                    <a:pt x="10461244" y="2756154"/>
                  </a:lnTo>
                  <a:lnTo>
                    <a:pt x="10486644" y="2756154"/>
                  </a:lnTo>
                  <a:cubicBezTo>
                    <a:pt x="10486644" y="2905125"/>
                    <a:pt x="10364470" y="3025394"/>
                    <a:pt x="10214483" y="3025394"/>
                  </a:cubicBezTo>
                  <a:lnTo>
                    <a:pt x="10214483" y="2999994"/>
                  </a:lnTo>
                  <a:lnTo>
                    <a:pt x="10214483" y="3025394"/>
                  </a:lnTo>
                  <a:lnTo>
                    <a:pt x="272161" y="3025394"/>
                  </a:lnTo>
                  <a:lnTo>
                    <a:pt x="272161" y="2999994"/>
                  </a:lnTo>
                  <a:lnTo>
                    <a:pt x="272161" y="3025394"/>
                  </a:lnTo>
                  <a:cubicBezTo>
                    <a:pt x="122174" y="3025394"/>
                    <a:pt x="0" y="2905125"/>
                    <a:pt x="0" y="2756154"/>
                  </a:cubicBezTo>
                  <a:lnTo>
                    <a:pt x="0" y="269240"/>
                  </a:lnTo>
                  <a:lnTo>
                    <a:pt x="25400" y="269240"/>
                  </a:lnTo>
                  <a:lnTo>
                    <a:pt x="0" y="269240"/>
                  </a:lnTo>
                  <a:moveTo>
                    <a:pt x="50800" y="269240"/>
                  </a:moveTo>
                  <a:lnTo>
                    <a:pt x="50800" y="2756154"/>
                  </a:lnTo>
                  <a:lnTo>
                    <a:pt x="25400" y="2756154"/>
                  </a:lnTo>
                  <a:lnTo>
                    <a:pt x="50800" y="2756154"/>
                  </a:lnTo>
                  <a:cubicBezTo>
                    <a:pt x="50800" y="2876550"/>
                    <a:pt x="149606" y="2974594"/>
                    <a:pt x="272161" y="2974594"/>
                  </a:cubicBezTo>
                  <a:lnTo>
                    <a:pt x="10214483" y="2974594"/>
                  </a:lnTo>
                  <a:cubicBezTo>
                    <a:pt x="10337038" y="2974594"/>
                    <a:pt x="10435844" y="2876550"/>
                    <a:pt x="10435844" y="2756154"/>
                  </a:cubicBezTo>
                  <a:lnTo>
                    <a:pt x="10435844" y="269240"/>
                  </a:lnTo>
                  <a:cubicBezTo>
                    <a:pt x="10435844" y="148844"/>
                    <a:pt x="10337038" y="50800"/>
                    <a:pt x="10214483" y="50800"/>
                  </a:cubicBezTo>
                  <a:lnTo>
                    <a:pt x="272161" y="50800"/>
                  </a:lnTo>
                  <a:lnTo>
                    <a:pt x="272161" y="25400"/>
                  </a:lnTo>
                  <a:lnTo>
                    <a:pt x="272161" y="50800"/>
                  </a:lnTo>
                  <a:cubicBezTo>
                    <a:pt x="149606" y="50800"/>
                    <a:pt x="50800" y="148844"/>
                    <a:pt x="50800" y="269240"/>
                  </a:cubicBezTo>
                  <a:close/>
                </a:path>
              </a:pathLst>
            </a:custGeom>
            <a:solidFill>
              <a:srgbClr val="E2C8B5"/>
            </a:solidFill>
          </p:spPr>
        </p:sp>
      </p:grpSp>
      <p:grpSp>
        <p:nvGrpSpPr>
          <p:cNvPr id="10" name="Group 10"/>
          <p:cNvGrpSpPr/>
          <p:nvPr/>
        </p:nvGrpSpPr>
        <p:grpSpPr>
          <a:xfrm>
            <a:off x="938660" y="3825926"/>
            <a:ext cx="152400" cy="2230936"/>
            <a:chOff x="0" y="0"/>
            <a:chExt cx="203200" cy="2974581"/>
          </a:xfrm>
        </p:grpSpPr>
        <p:sp>
          <p:nvSpPr>
            <p:cNvPr id="11" name="Freeform 11"/>
            <p:cNvSpPr/>
            <p:nvPr/>
          </p:nvSpPr>
          <p:spPr>
            <a:xfrm>
              <a:off x="0" y="0"/>
              <a:ext cx="203200" cy="2974594"/>
            </a:xfrm>
            <a:custGeom>
              <a:avLst/>
              <a:gdLst/>
              <a:ahLst/>
              <a:cxnLst/>
              <a:rect l="l" t="t" r="r" b="b"/>
              <a:pathLst>
                <a:path w="203200" h="2974594">
                  <a:moveTo>
                    <a:pt x="0" y="101600"/>
                  </a:moveTo>
                  <a:cubicBezTo>
                    <a:pt x="0" y="45466"/>
                    <a:pt x="45466" y="0"/>
                    <a:pt x="101600" y="0"/>
                  </a:cubicBezTo>
                  <a:cubicBezTo>
                    <a:pt x="157734" y="0"/>
                    <a:pt x="203200" y="45466"/>
                    <a:pt x="203200" y="101600"/>
                  </a:cubicBezTo>
                  <a:lnTo>
                    <a:pt x="203200" y="2872994"/>
                  </a:lnTo>
                  <a:cubicBezTo>
                    <a:pt x="203200" y="2929128"/>
                    <a:pt x="157734" y="2974594"/>
                    <a:pt x="101600" y="2974594"/>
                  </a:cubicBezTo>
                  <a:cubicBezTo>
                    <a:pt x="45466" y="2974594"/>
                    <a:pt x="0" y="2929128"/>
                    <a:pt x="0" y="2872994"/>
                  </a:cubicBezTo>
                  <a:close/>
                </a:path>
              </a:pathLst>
            </a:custGeom>
            <a:solidFill>
              <a:srgbClr val="D2600F"/>
            </a:solidFill>
          </p:spPr>
        </p:sp>
      </p:grpSp>
      <p:sp>
        <p:nvSpPr>
          <p:cNvPr id="12" name="TextBox 12"/>
          <p:cNvSpPr txBox="1"/>
          <p:nvPr/>
        </p:nvSpPr>
        <p:spPr>
          <a:xfrm>
            <a:off x="1408214" y="4133555"/>
            <a:ext cx="5093851" cy="412166"/>
          </a:xfrm>
          <a:prstGeom prst="rect">
            <a:avLst/>
          </a:prstGeom>
        </p:spPr>
        <p:txBody>
          <a:bodyPr lIns="0" tIns="0" rIns="0" bIns="0" rtlCol="0" anchor="t">
            <a:spAutoFit/>
          </a:bodyPr>
          <a:lstStyle/>
          <a:p>
            <a:pPr algn="l">
              <a:lnSpc>
                <a:spcPts val="3369"/>
              </a:lnSpc>
            </a:pPr>
            <a:r>
              <a:rPr lang="en-US" sz="2700">
                <a:solidFill>
                  <a:srgbClr val="2B2E3C"/>
                </a:solidFill>
                <a:latin typeface="Merriweather"/>
                <a:ea typeface="Merriweather"/>
                <a:cs typeface="Merriweather"/>
                <a:sym typeface="Merriweather"/>
              </a:rPr>
              <a:t>Calendly / Microsoft Bookings</a:t>
            </a:r>
          </a:p>
        </p:txBody>
      </p:sp>
      <p:sp>
        <p:nvSpPr>
          <p:cNvPr id="13" name="TextBox 13"/>
          <p:cNvSpPr txBox="1"/>
          <p:nvPr/>
        </p:nvSpPr>
        <p:spPr>
          <a:xfrm>
            <a:off x="1408214" y="4768158"/>
            <a:ext cx="7078266" cy="854736"/>
          </a:xfrm>
          <a:prstGeom prst="rect">
            <a:avLst/>
          </a:prstGeom>
        </p:spPr>
        <p:txBody>
          <a:bodyPr lIns="0" tIns="0" rIns="0" bIns="0" rtlCol="0" anchor="t">
            <a:spAutoFit/>
          </a:bodyPr>
          <a:lstStyle/>
          <a:p>
            <a:pPr algn="l">
              <a:lnSpc>
                <a:spcPts val="3484"/>
              </a:lnSpc>
            </a:pPr>
            <a:r>
              <a:rPr lang="en-US" sz="2199">
                <a:solidFill>
                  <a:srgbClr val="2B2E3C"/>
                </a:solidFill>
                <a:latin typeface="Roboto"/>
                <a:ea typeface="Roboto"/>
                <a:cs typeface="Roboto"/>
                <a:sym typeface="Roboto"/>
              </a:rPr>
              <a:t>Handle generic meeting scheduling well, but lack campus-specific context.</a:t>
            </a:r>
          </a:p>
        </p:txBody>
      </p:sp>
      <p:grpSp>
        <p:nvGrpSpPr>
          <p:cNvPr id="14" name="Group 14"/>
          <p:cNvGrpSpPr/>
          <p:nvPr/>
        </p:nvGrpSpPr>
        <p:grpSpPr>
          <a:xfrm>
            <a:off x="957710" y="6312541"/>
            <a:ext cx="7864973" cy="2269036"/>
            <a:chOff x="0" y="0"/>
            <a:chExt cx="10486631" cy="3025381"/>
          </a:xfrm>
        </p:grpSpPr>
        <p:sp>
          <p:nvSpPr>
            <p:cNvPr id="15" name="Freeform 15"/>
            <p:cNvSpPr/>
            <p:nvPr/>
          </p:nvSpPr>
          <p:spPr>
            <a:xfrm>
              <a:off x="25400" y="25400"/>
              <a:ext cx="10435844" cy="2974594"/>
            </a:xfrm>
            <a:custGeom>
              <a:avLst/>
              <a:gdLst/>
              <a:ahLst/>
              <a:cxnLst/>
              <a:rect l="l" t="t" r="r" b="b"/>
              <a:pathLst>
                <a:path w="10435844" h="2974594">
                  <a:moveTo>
                    <a:pt x="0" y="243840"/>
                  </a:moveTo>
                  <a:cubicBezTo>
                    <a:pt x="0" y="109220"/>
                    <a:pt x="110490" y="0"/>
                    <a:pt x="246761" y="0"/>
                  </a:cubicBezTo>
                  <a:lnTo>
                    <a:pt x="10189083" y="0"/>
                  </a:lnTo>
                  <a:cubicBezTo>
                    <a:pt x="10325353" y="0"/>
                    <a:pt x="10435844" y="109220"/>
                    <a:pt x="10435844" y="243840"/>
                  </a:cubicBezTo>
                  <a:lnTo>
                    <a:pt x="10435844" y="2730754"/>
                  </a:lnTo>
                  <a:cubicBezTo>
                    <a:pt x="10435844" y="2865374"/>
                    <a:pt x="10325353" y="2974594"/>
                    <a:pt x="10189083" y="2974594"/>
                  </a:cubicBezTo>
                  <a:lnTo>
                    <a:pt x="246761" y="2974594"/>
                  </a:lnTo>
                  <a:cubicBezTo>
                    <a:pt x="110490" y="2974594"/>
                    <a:pt x="0" y="2865374"/>
                    <a:pt x="0" y="2730754"/>
                  </a:cubicBezTo>
                  <a:close/>
                </a:path>
              </a:pathLst>
            </a:custGeom>
            <a:solidFill>
              <a:srgbClr val="FFF8F0"/>
            </a:solidFill>
          </p:spPr>
        </p:sp>
        <p:sp>
          <p:nvSpPr>
            <p:cNvPr id="16" name="Freeform 16"/>
            <p:cNvSpPr/>
            <p:nvPr/>
          </p:nvSpPr>
          <p:spPr>
            <a:xfrm>
              <a:off x="0" y="0"/>
              <a:ext cx="10486644" cy="3025394"/>
            </a:xfrm>
            <a:custGeom>
              <a:avLst/>
              <a:gdLst/>
              <a:ahLst/>
              <a:cxnLst/>
              <a:rect l="l" t="t" r="r" b="b"/>
              <a:pathLst>
                <a:path w="10486644" h="3025394">
                  <a:moveTo>
                    <a:pt x="0" y="269240"/>
                  </a:moveTo>
                  <a:cubicBezTo>
                    <a:pt x="0" y="120269"/>
                    <a:pt x="122174" y="0"/>
                    <a:pt x="272161" y="0"/>
                  </a:cubicBezTo>
                  <a:lnTo>
                    <a:pt x="10214483" y="0"/>
                  </a:lnTo>
                  <a:lnTo>
                    <a:pt x="10214483" y="25400"/>
                  </a:lnTo>
                  <a:lnTo>
                    <a:pt x="10214483" y="0"/>
                  </a:lnTo>
                  <a:cubicBezTo>
                    <a:pt x="10364470" y="0"/>
                    <a:pt x="10486644" y="120269"/>
                    <a:pt x="10486644" y="269240"/>
                  </a:cubicBezTo>
                  <a:lnTo>
                    <a:pt x="10461244" y="269240"/>
                  </a:lnTo>
                  <a:lnTo>
                    <a:pt x="10486644" y="269240"/>
                  </a:lnTo>
                  <a:lnTo>
                    <a:pt x="10486644" y="2756154"/>
                  </a:lnTo>
                  <a:lnTo>
                    <a:pt x="10461244" y="2756154"/>
                  </a:lnTo>
                  <a:lnTo>
                    <a:pt x="10486644" y="2756154"/>
                  </a:lnTo>
                  <a:cubicBezTo>
                    <a:pt x="10486644" y="2905125"/>
                    <a:pt x="10364470" y="3025394"/>
                    <a:pt x="10214483" y="3025394"/>
                  </a:cubicBezTo>
                  <a:lnTo>
                    <a:pt x="10214483" y="2999994"/>
                  </a:lnTo>
                  <a:lnTo>
                    <a:pt x="10214483" y="3025394"/>
                  </a:lnTo>
                  <a:lnTo>
                    <a:pt x="272161" y="3025394"/>
                  </a:lnTo>
                  <a:lnTo>
                    <a:pt x="272161" y="2999994"/>
                  </a:lnTo>
                  <a:lnTo>
                    <a:pt x="272161" y="3025394"/>
                  </a:lnTo>
                  <a:cubicBezTo>
                    <a:pt x="122174" y="3025394"/>
                    <a:pt x="0" y="2905125"/>
                    <a:pt x="0" y="2756154"/>
                  </a:cubicBezTo>
                  <a:lnTo>
                    <a:pt x="0" y="269240"/>
                  </a:lnTo>
                  <a:lnTo>
                    <a:pt x="25400" y="269240"/>
                  </a:lnTo>
                  <a:lnTo>
                    <a:pt x="0" y="269240"/>
                  </a:lnTo>
                  <a:moveTo>
                    <a:pt x="50800" y="269240"/>
                  </a:moveTo>
                  <a:lnTo>
                    <a:pt x="50800" y="2756154"/>
                  </a:lnTo>
                  <a:lnTo>
                    <a:pt x="25400" y="2756154"/>
                  </a:lnTo>
                  <a:lnTo>
                    <a:pt x="50800" y="2756154"/>
                  </a:lnTo>
                  <a:cubicBezTo>
                    <a:pt x="50800" y="2876550"/>
                    <a:pt x="149606" y="2974594"/>
                    <a:pt x="272161" y="2974594"/>
                  </a:cubicBezTo>
                  <a:lnTo>
                    <a:pt x="10214483" y="2974594"/>
                  </a:lnTo>
                  <a:cubicBezTo>
                    <a:pt x="10337038" y="2974594"/>
                    <a:pt x="10435844" y="2876550"/>
                    <a:pt x="10435844" y="2756154"/>
                  </a:cubicBezTo>
                  <a:lnTo>
                    <a:pt x="10435844" y="269240"/>
                  </a:lnTo>
                  <a:cubicBezTo>
                    <a:pt x="10435844" y="148844"/>
                    <a:pt x="10337038" y="50800"/>
                    <a:pt x="10214483" y="50800"/>
                  </a:cubicBezTo>
                  <a:lnTo>
                    <a:pt x="272161" y="50800"/>
                  </a:lnTo>
                  <a:lnTo>
                    <a:pt x="272161" y="25400"/>
                  </a:lnTo>
                  <a:lnTo>
                    <a:pt x="272161" y="50800"/>
                  </a:lnTo>
                  <a:cubicBezTo>
                    <a:pt x="149606" y="50800"/>
                    <a:pt x="50800" y="148844"/>
                    <a:pt x="50800" y="269240"/>
                  </a:cubicBezTo>
                  <a:close/>
                </a:path>
              </a:pathLst>
            </a:custGeom>
            <a:solidFill>
              <a:srgbClr val="E2C8B5"/>
            </a:solidFill>
          </p:spPr>
        </p:sp>
      </p:grpSp>
      <p:grpSp>
        <p:nvGrpSpPr>
          <p:cNvPr id="17" name="Group 17"/>
          <p:cNvGrpSpPr/>
          <p:nvPr/>
        </p:nvGrpSpPr>
        <p:grpSpPr>
          <a:xfrm>
            <a:off x="938660" y="6331591"/>
            <a:ext cx="152400" cy="2230936"/>
            <a:chOff x="0" y="0"/>
            <a:chExt cx="203200" cy="2974581"/>
          </a:xfrm>
        </p:grpSpPr>
        <p:sp>
          <p:nvSpPr>
            <p:cNvPr id="18" name="Freeform 18"/>
            <p:cNvSpPr/>
            <p:nvPr/>
          </p:nvSpPr>
          <p:spPr>
            <a:xfrm>
              <a:off x="0" y="0"/>
              <a:ext cx="203200" cy="2974594"/>
            </a:xfrm>
            <a:custGeom>
              <a:avLst/>
              <a:gdLst/>
              <a:ahLst/>
              <a:cxnLst/>
              <a:rect l="l" t="t" r="r" b="b"/>
              <a:pathLst>
                <a:path w="203200" h="2974594">
                  <a:moveTo>
                    <a:pt x="0" y="101600"/>
                  </a:moveTo>
                  <a:cubicBezTo>
                    <a:pt x="0" y="45466"/>
                    <a:pt x="45466" y="0"/>
                    <a:pt x="101600" y="0"/>
                  </a:cubicBezTo>
                  <a:cubicBezTo>
                    <a:pt x="157734" y="0"/>
                    <a:pt x="203200" y="45466"/>
                    <a:pt x="203200" y="101600"/>
                  </a:cubicBezTo>
                  <a:lnTo>
                    <a:pt x="203200" y="2872994"/>
                  </a:lnTo>
                  <a:cubicBezTo>
                    <a:pt x="203200" y="2929128"/>
                    <a:pt x="157734" y="2974594"/>
                    <a:pt x="101600" y="2974594"/>
                  </a:cubicBezTo>
                  <a:cubicBezTo>
                    <a:pt x="45466" y="2974594"/>
                    <a:pt x="0" y="2929128"/>
                    <a:pt x="0" y="2872994"/>
                  </a:cubicBezTo>
                  <a:close/>
                </a:path>
              </a:pathLst>
            </a:custGeom>
            <a:solidFill>
              <a:srgbClr val="D2600F"/>
            </a:solidFill>
          </p:spPr>
        </p:sp>
      </p:grpSp>
      <p:sp>
        <p:nvSpPr>
          <p:cNvPr id="19" name="TextBox 19"/>
          <p:cNvSpPr txBox="1"/>
          <p:nvPr/>
        </p:nvSpPr>
        <p:spPr>
          <a:xfrm>
            <a:off x="1408214" y="6639220"/>
            <a:ext cx="2594729" cy="412166"/>
          </a:xfrm>
          <a:prstGeom prst="rect">
            <a:avLst/>
          </a:prstGeom>
        </p:spPr>
        <p:txBody>
          <a:bodyPr lIns="0" tIns="0" rIns="0" bIns="0" rtlCol="0" anchor="t">
            <a:spAutoFit/>
          </a:bodyPr>
          <a:lstStyle/>
          <a:p>
            <a:pPr algn="l">
              <a:lnSpc>
                <a:spcPts val="3369"/>
              </a:lnSpc>
            </a:pPr>
            <a:r>
              <a:rPr lang="en-US" sz="2700">
                <a:solidFill>
                  <a:srgbClr val="2B2E3C"/>
                </a:solidFill>
                <a:latin typeface="Merriweather"/>
                <a:ea typeface="Merriweather"/>
                <a:cs typeface="Merriweather"/>
                <a:sym typeface="Merriweather"/>
              </a:rPr>
              <a:t>Skedda / LibCal</a:t>
            </a:r>
          </a:p>
        </p:txBody>
      </p:sp>
      <p:sp>
        <p:nvSpPr>
          <p:cNvPr id="20" name="TextBox 20"/>
          <p:cNvSpPr txBox="1"/>
          <p:nvPr/>
        </p:nvSpPr>
        <p:spPr>
          <a:xfrm>
            <a:off x="1408214" y="7273823"/>
            <a:ext cx="7078266" cy="854736"/>
          </a:xfrm>
          <a:prstGeom prst="rect">
            <a:avLst/>
          </a:prstGeom>
        </p:spPr>
        <p:txBody>
          <a:bodyPr lIns="0" tIns="0" rIns="0" bIns="0" rtlCol="0" anchor="t">
            <a:spAutoFit/>
          </a:bodyPr>
          <a:lstStyle/>
          <a:p>
            <a:pPr algn="l">
              <a:lnSpc>
                <a:spcPts val="3484"/>
              </a:lnSpc>
            </a:pPr>
            <a:r>
              <a:rPr lang="en-US" sz="2199">
                <a:solidFill>
                  <a:srgbClr val="2B2E3C"/>
                </a:solidFill>
                <a:latin typeface="Roboto"/>
                <a:ea typeface="Roboto"/>
                <a:cs typeface="Roboto"/>
                <a:sym typeface="Roboto"/>
              </a:rPr>
              <a:t>Used for room reservations, but lacks academic and transit needs.</a:t>
            </a:r>
          </a:p>
        </p:txBody>
      </p:sp>
      <p:sp>
        <p:nvSpPr>
          <p:cNvPr id="21" name="TextBox 21"/>
          <p:cNvSpPr txBox="1"/>
          <p:nvPr/>
        </p:nvSpPr>
        <p:spPr>
          <a:xfrm>
            <a:off x="9493891" y="2353713"/>
            <a:ext cx="5669909" cy="417230"/>
          </a:xfrm>
          <a:prstGeom prst="rect">
            <a:avLst/>
          </a:prstGeom>
        </p:spPr>
        <p:txBody>
          <a:bodyPr wrap="square" lIns="0" tIns="0" rIns="0" bIns="0" rtlCol="0" anchor="t">
            <a:spAutoFit/>
          </a:bodyPr>
          <a:lstStyle/>
          <a:p>
            <a:pPr algn="l">
              <a:lnSpc>
                <a:spcPts val="3369"/>
              </a:lnSpc>
            </a:pPr>
            <a:r>
              <a:rPr lang="en-US" sz="2700" dirty="0" err="1">
                <a:solidFill>
                  <a:srgbClr val="2C3F42"/>
                </a:solidFill>
                <a:latin typeface="Merriweather"/>
                <a:ea typeface="Merriweather"/>
                <a:cs typeface="Merriweather"/>
                <a:sym typeface="Merriweather"/>
              </a:rPr>
              <a:t>UniQueue's</a:t>
            </a:r>
            <a:r>
              <a:rPr lang="en-US" sz="2700" dirty="0">
                <a:solidFill>
                  <a:srgbClr val="2C3F42"/>
                </a:solidFill>
                <a:latin typeface="Merriweather"/>
                <a:ea typeface="Merriweather"/>
                <a:cs typeface="Merriweather"/>
                <a:sym typeface="Merriweather"/>
              </a:rPr>
              <a:t> Novel Advantages</a:t>
            </a:r>
          </a:p>
        </p:txBody>
      </p:sp>
      <p:grpSp>
        <p:nvGrpSpPr>
          <p:cNvPr id="22" name="Group 22"/>
          <p:cNvGrpSpPr/>
          <p:nvPr/>
        </p:nvGrpSpPr>
        <p:grpSpPr>
          <a:xfrm>
            <a:off x="9474841" y="3089224"/>
            <a:ext cx="7864973" cy="2711948"/>
            <a:chOff x="0" y="0"/>
            <a:chExt cx="10486631" cy="3615931"/>
          </a:xfrm>
        </p:grpSpPr>
        <p:sp>
          <p:nvSpPr>
            <p:cNvPr id="23" name="Freeform 23"/>
            <p:cNvSpPr/>
            <p:nvPr/>
          </p:nvSpPr>
          <p:spPr>
            <a:xfrm>
              <a:off x="25400" y="25400"/>
              <a:ext cx="10435844" cy="3565144"/>
            </a:xfrm>
            <a:custGeom>
              <a:avLst/>
              <a:gdLst/>
              <a:ahLst/>
              <a:cxnLst/>
              <a:rect l="l" t="t" r="r" b="b"/>
              <a:pathLst>
                <a:path w="10435844" h="3565144">
                  <a:moveTo>
                    <a:pt x="0" y="243840"/>
                  </a:moveTo>
                  <a:cubicBezTo>
                    <a:pt x="0" y="109220"/>
                    <a:pt x="110236" y="0"/>
                    <a:pt x="246126" y="0"/>
                  </a:cubicBezTo>
                  <a:lnTo>
                    <a:pt x="10189718" y="0"/>
                  </a:lnTo>
                  <a:cubicBezTo>
                    <a:pt x="10325608" y="0"/>
                    <a:pt x="10435844" y="109220"/>
                    <a:pt x="10435844" y="243840"/>
                  </a:cubicBezTo>
                  <a:lnTo>
                    <a:pt x="10435844" y="3321304"/>
                  </a:lnTo>
                  <a:cubicBezTo>
                    <a:pt x="10435844" y="3455924"/>
                    <a:pt x="10325608" y="3565144"/>
                    <a:pt x="10189718" y="3565144"/>
                  </a:cubicBezTo>
                  <a:lnTo>
                    <a:pt x="246126" y="3565144"/>
                  </a:lnTo>
                  <a:cubicBezTo>
                    <a:pt x="110236" y="3565144"/>
                    <a:pt x="0" y="3455924"/>
                    <a:pt x="0" y="3321304"/>
                  </a:cubicBezTo>
                  <a:close/>
                </a:path>
              </a:pathLst>
            </a:custGeom>
            <a:solidFill>
              <a:srgbClr val="FFF8F0"/>
            </a:solidFill>
          </p:spPr>
        </p:sp>
        <p:sp>
          <p:nvSpPr>
            <p:cNvPr id="24" name="Freeform 24"/>
            <p:cNvSpPr/>
            <p:nvPr/>
          </p:nvSpPr>
          <p:spPr>
            <a:xfrm>
              <a:off x="0" y="0"/>
              <a:ext cx="10486644" cy="3615944"/>
            </a:xfrm>
            <a:custGeom>
              <a:avLst/>
              <a:gdLst/>
              <a:ahLst/>
              <a:cxnLst/>
              <a:rect l="l" t="t" r="r" b="b"/>
              <a:pathLst>
                <a:path w="10486644" h="3615944">
                  <a:moveTo>
                    <a:pt x="0" y="269240"/>
                  </a:moveTo>
                  <a:cubicBezTo>
                    <a:pt x="0" y="120269"/>
                    <a:pt x="121793" y="0"/>
                    <a:pt x="271526" y="0"/>
                  </a:cubicBezTo>
                  <a:lnTo>
                    <a:pt x="10215118" y="0"/>
                  </a:lnTo>
                  <a:lnTo>
                    <a:pt x="10215118" y="25400"/>
                  </a:lnTo>
                  <a:lnTo>
                    <a:pt x="10215118" y="0"/>
                  </a:lnTo>
                  <a:cubicBezTo>
                    <a:pt x="10364851" y="0"/>
                    <a:pt x="10486644" y="120269"/>
                    <a:pt x="10486644" y="269240"/>
                  </a:cubicBezTo>
                  <a:lnTo>
                    <a:pt x="10461244" y="269240"/>
                  </a:lnTo>
                  <a:lnTo>
                    <a:pt x="10486644" y="269240"/>
                  </a:lnTo>
                  <a:lnTo>
                    <a:pt x="10486644" y="3346704"/>
                  </a:lnTo>
                  <a:lnTo>
                    <a:pt x="10461244" y="3346704"/>
                  </a:lnTo>
                  <a:lnTo>
                    <a:pt x="10486644" y="3346704"/>
                  </a:lnTo>
                  <a:cubicBezTo>
                    <a:pt x="10486644" y="3495675"/>
                    <a:pt x="10364851" y="3615944"/>
                    <a:pt x="10215118" y="3615944"/>
                  </a:cubicBezTo>
                  <a:lnTo>
                    <a:pt x="10215118" y="3590544"/>
                  </a:lnTo>
                  <a:lnTo>
                    <a:pt x="10215118" y="3615944"/>
                  </a:lnTo>
                  <a:lnTo>
                    <a:pt x="271526" y="3615944"/>
                  </a:lnTo>
                  <a:lnTo>
                    <a:pt x="271526" y="3590544"/>
                  </a:lnTo>
                  <a:lnTo>
                    <a:pt x="271526" y="3615944"/>
                  </a:lnTo>
                  <a:cubicBezTo>
                    <a:pt x="121793" y="3615944"/>
                    <a:pt x="0" y="3495548"/>
                    <a:pt x="0" y="3346704"/>
                  </a:cubicBezTo>
                  <a:lnTo>
                    <a:pt x="0" y="269240"/>
                  </a:lnTo>
                  <a:lnTo>
                    <a:pt x="25400" y="269240"/>
                  </a:lnTo>
                  <a:lnTo>
                    <a:pt x="0" y="269240"/>
                  </a:lnTo>
                  <a:moveTo>
                    <a:pt x="50800" y="269240"/>
                  </a:moveTo>
                  <a:lnTo>
                    <a:pt x="50800" y="3346704"/>
                  </a:lnTo>
                  <a:lnTo>
                    <a:pt x="25400" y="3346704"/>
                  </a:lnTo>
                  <a:lnTo>
                    <a:pt x="50800" y="3346704"/>
                  </a:lnTo>
                  <a:cubicBezTo>
                    <a:pt x="50800" y="3467100"/>
                    <a:pt x="149352" y="3565144"/>
                    <a:pt x="271526" y="3565144"/>
                  </a:cubicBezTo>
                  <a:lnTo>
                    <a:pt x="10215118" y="3565144"/>
                  </a:lnTo>
                  <a:cubicBezTo>
                    <a:pt x="10337292" y="3565144"/>
                    <a:pt x="10435844" y="3467100"/>
                    <a:pt x="10435844" y="3346704"/>
                  </a:cubicBezTo>
                  <a:lnTo>
                    <a:pt x="10435844" y="269240"/>
                  </a:lnTo>
                  <a:cubicBezTo>
                    <a:pt x="10435844" y="148844"/>
                    <a:pt x="10337292" y="50800"/>
                    <a:pt x="10215118" y="50800"/>
                  </a:cubicBezTo>
                  <a:lnTo>
                    <a:pt x="271526" y="50800"/>
                  </a:lnTo>
                  <a:lnTo>
                    <a:pt x="271526" y="25400"/>
                  </a:lnTo>
                  <a:lnTo>
                    <a:pt x="271526" y="50800"/>
                  </a:lnTo>
                  <a:cubicBezTo>
                    <a:pt x="149352" y="50800"/>
                    <a:pt x="50800" y="148844"/>
                    <a:pt x="50800" y="269240"/>
                  </a:cubicBezTo>
                  <a:close/>
                </a:path>
              </a:pathLst>
            </a:custGeom>
            <a:solidFill>
              <a:srgbClr val="E2C8B5"/>
            </a:solidFill>
          </p:spPr>
        </p:sp>
      </p:grpSp>
      <p:grpSp>
        <p:nvGrpSpPr>
          <p:cNvPr id="25" name="Group 25"/>
          <p:cNvGrpSpPr/>
          <p:nvPr/>
        </p:nvGrpSpPr>
        <p:grpSpPr>
          <a:xfrm>
            <a:off x="9455791" y="3108274"/>
            <a:ext cx="152400" cy="2673848"/>
            <a:chOff x="0" y="0"/>
            <a:chExt cx="203200" cy="3565131"/>
          </a:xfrm>
        </p:grpSpPr>
        <p:sp>
          <p:nvSpPr>
            <p:cNvPr id="26" name="Freeform 26"/>
            <p:cNvSpPr/>
            <p:nvPr/>
          </p:nvSpPr>
          <p:spPr>
            <a:xfrm>
              <a:off x="0" y="0"/>
              <a:ext cx="203200" cy="3565144"/>
            </a:xfrm>
            <a:custGeom>
              <a:avLst/>
              <a:gdLst/>
              <a:ahLst/>
              <a:cxnLst/>
              <a:rect l="l" t="t" r="r" b="b"/>
              <a:pathLst>
                <a:path w="203200" h="3565144">
                  <a:moveTo>
                    <a:pt x="0" y="101600"/>
                  </a:moveTo>
                  <a:cubicBezTo>
                    <a:pt x="0" y="45466"/>
                    <a:pt x="45466" y="0"/>
                    <a:pt x="101600" y="0"/>
                  </a:cubicBezTo>
                  <a:cubicBezTo>
                    <a:pt x="157734" y="0"/>
                    <a:pt x="203200" y="45466"/>
                    <a:pt x="203200" y="101600"/>
                  </a:cubicBezTo>
                  <a:lnTo>
                    <a:pt x="203200" y="3463544"/>
                  </a:lnTo>
                  <a:cubicBezTo>
                    <a:pt x="203200" y="3519678"/>
                    <a:pt x="157734" y="3565144"/>
                    <a:pt x="101600" y="3565144"/>
                  </a:cubicBezTo>
                  <a:cubicBezTo>
                    <a:pt x="45466" y="3565144"/>
                    <a:pt x="0" y="3519678"/>
                    <a:pt x="0" y="3463544"/>
                  </a:cubicBezTo>
                  <a:close/>
                </a:path>
              </a:pathLst>
            </a:custGeom>
            <a:solidFill>
              <a:srgbClr val="D2600F"/>
            </a:solidFill>
          </p:spPr>
        </p:sp>
      </p:grpSp>
      <p:sp>
        <p:nvSpPr>
          <p:cNvPr id="27" name="TextBox 27"/>
          <p:cNvSpPr txBox="1"/>
          <p:nvPr/>
        </p:nvSpPr>
        <p:spPr>
          <a:xfrm>
            <a:off x="9925345" y="3415903"/>
            <a:ext cx="5055751" cy="417230"/>
          </a:xfrm>
          <a:prstGeom prst="rect">
            <a:avLst/>
          </a:prstGeom>
        </p:spPr>
        <p:txBody>
          <a:bodyPr wrap="square" lIns="0" tIns="0" rIns="0" bIns="0" rtlCol="0" anchor="t">
            <a:spAutoFit/>
          </a:bodyPr>
          <a:lstStyle/>
          <a:p>
            <a:pPr algn="l">
              <a:lnSpc>
                <a:spcPts val="3369"/>
              </a:lnSpc>
            </a:pPr>
            <a:r>
              <a:rPr lang="en-US" sz="2700" dirty="0">
                <a:solidFill>
                  <a:srgbClr val="2B2E3C"/>
                </a:solidFill>
                <a:latin typeface="Merriweather"/>
                <a:ea typeface="Merriweather"/>
                <a:cs typeface="Merriweather"/>
                <a:sym typeface="Merriweather"/>
              </a:rPr>
              <a:t>Unified Campus Experience</a:t>
            </a:r>
          </a:p>
        </p:txBody>
      </p:sp>
      <p:sp>
        <p:nvSpPr>
          <p:cNvPr id="28" name="TextBox 28"/>
          <p:cNvSpPr txBox="1"/>
          <p:nvPr/>
        </p:nvSpPr>
        <p:spPr>
          <a:xfrm>
            <a:off x="9925345" y="4050506"/>
            <a:ext cx="7078266" cy="1292886"/>
          </a:xfrm>
          <a:prstGeom prst="rect">
            <a:avLst/>
          </a:prstGeom>
        </p:spPr>
        <p:txBody>
          <a:bodyPr lIns="0" tIns="0" rIns="0" bIns="0" rtlCol="0" anchor="t">
            <a:spAutoFit/>
          </a:bodyPr>
          <a:lstStyle/>
          <a:p>
            <a:pPr algn="l">
              <a:lnSpc>
                <a:spcPts val="3484"/>
              </a:lnSpc>
            </a:pPr>
            <a:r>
              <a:rPr lang="en-US" sz="2199">
                <a:solidFill>
                  <a:srgbClr val="2B2E3C"/>
                </a:solidFill>
                <a:latin typeface="Roboto"/>
                <a:ea typeface="Roboto"/>
                <a:cs typeface="Roboto"/>
                <a:sym typeface="Roboto"/>
              </a:rPr>
              <a:t>Combines academic needs (office hours), facility needs (study rooms), and logistical needs (campus transit) into one cohesive system.</a:t>
            </a:r>
          </a:p>
        </p:txBody>
      </p:sp>
      <p:grpSp>
        <p:nvGrpSpPr>
          <p:cNvPr id="29" name="Group 29"/>
          <p:cNvGrpSpPr/>
          <p:nvPr/>
        </p:nvGrpSpPr>
        <p:grpSpPr>
          <a:xfrm>
            <a:off x="9474841" y="6037812"/>
            <a:ext cx="7864973" cy="3154861"/>
            <a:chOff x="0" y="0"/>
            <a:chExt cx="10486631" cy="4206481"/>
          </a:xfrm>
        </p:grpSpPr>
        <p:sp>
          <p:nvSpPr>
            <p:cNvPr id="30" name="Freeform 30"/>
            <p:cNvSpPr/>
            <p:nvPr/>
          </p:nvSpPr>
          <p:spPr>
            <a:xfrm>
              <a:off x="25400" y="25400"/>
              <a:ext cx="10435844" cy="4155694"/>
            </a:xfrm>
            <a:custGeom>
              <a:avLst/>
              <a:gdLst/>
              <a:ahLst/>
              <a:cxnLst/>
              <a:rect l="l" t="t" r="r" b="b"/>
              <a:pathLst>
                <a:path w="10435844" h="4155694">
                  <a:moveTo>
                    <a:pt x="0" y="243840"/>
                  </a:moveTo>
                  <a:cubicBezTo>
                    <a:pt x="0" y="109220"/>
                    <a:pt x="109982" y="0"/>
                    <a:pt x="245618" y="0"/>
                  </a:cubicBezTo>
                  <a:lnTo>
                    <a:pt x="10190226" y="0"/>
                  </a:lnTo>
                  <a:cubicBezTo>
                    <a:pt x="10325862" y="0"/>
                    <a:pt x="10435844" y="109220"/>
                    <a:pt x="10435844" y="243840"/>
                  </a:cubicBezTo>
                  <a:lnTo>
                    <a:pt x="10435844" y="3911854"/>
                  </a:lnTo>
                  <a:cubicBezTo>
                    <a:pt x="10435844" y="4046474"/>
                    <a:pt x="10325862" y="4155694"/>
                    <a:pt x="10190226" y="4155694"/>
                  </a:cubicBezTo>
                  <a:lnTo>
                    <a:pt x="245618" y="4155694"/>
                  </a:lnTo>
                  <a:cubicBezTo>
                    <a:pt x="109982" y="4155694"/>
                    <a:pt x="0" y="4046474"/>
                    <a:pt x="0" y="3911854"/>
                  </a:cubicBezTo>
                  <a:close/>
                </a:path>
              </a:pathLst>
            </a:custGeom>
            <a:solidFill>
              <a:srgbClr val="FFF8F0"/>
            </a:solidFill>
          </p:spPr>
        </p:sp>
        <p:sp>
          <p:nvSpPr>
            <p:cNvPr id="31" name="Freeform 31"/>
            <p:cNvSpPr/>
            <p:nvPr/>
          </p:nvSpPr>
          <p:spPr>
            <a:xfrm>
              <a:off x="0" y="0"/>
              <a:ext cx="10486644" cy="4206494"/>
            </a:xfrm>
            <a:custGeom>
              <a:avLst/>
              <a:gdLst/>
              <a:ahLst/>
              <a:cxnLst/>
              <a:rect l="l" t="t" r="r" b="b"/>
              <a:pathLst>
                <a:path w="10486644" h="4206494">
                  <a:moveTo>
                    <a:pt x="0" y="269240"/>
                  </a:moveTo>
                  <a:cubicBezTo>
                    <a:pt x="0" y="120396"/>
                    <a:pt x="121539" y="0"/>
                    <a:pt x="271018" y="0"/>
                  </a:cubicBezTo>
                  <a:lnTo>
                    <a:pt x="10215626" y="0"/>
                  </a:lnTo>
                  <a:lnTo>
                    <a:pt x="10215626" y="25400"/>
                  </a:lnTo>
                  <a:lnTo>
                    <a:pt x="10215626" y="0"/>
                  </a:lnTo>
                  <a:cubicBezTo>
                    <a:pt x="10365105" y="0"/>
                    <a:pt x="10486644" y="120396"/>
                    <a:pt x="10486644" y="269240"/>
                  </a:cubicBezTo>
                  <a:lnTo>
                    <a:pt x="10461244" y="269240"/>
                  </a:lnTo>
                  <a:lnTo>
                    <a:pt x="10486644" y="269240"/>
                  </a:lnTo>
                  <a:lnTo>
                    <a:pt x="10486644" y="3937254"/>
                  </a:lnTo>
                  <a:lnTo>
                    <a:pt x="10461244" y="3937254"/>
                  </a:lnTo>
                  <a:lnTo>
                    <a:pt x="10486644" y="3937254"/>
                  </a:lnTo>
                  <a:cubicBezTo>
                    <a:pt x="10486644" y="4086098"/>
                    <a:pt x="10365105" y="4206494"/>
                    <a:pt x="10215626" y="4206494"/>
                  </a:cubicBezTo>
                  <a:lnTo>
                    <a:pt x="10215626" y="4181094"/>
                  </a:lnTo>
                  <a:lnTo>
                    <a:pt x="10215626" y="4206494"/>
                  </a:lnTo>
                  <a:lnTo>
                    <a:pt x="271018" y="4206494"/>
                  </a:lnTo>
                  <a:lnTo>
                    <a:pt x="271018" y="4181094"/>
                  </a:lnTo>
                  <a:lnTo>
                    <a:pt x="271018" y="4206494"/>
                  </a:lnTo>
                  <a:cubicBezTo>
                    <a:pt x="121539" y="4206494"/>
                    <a:pt x="0" y="4086098"/>
                    <a:pt x="0" y="3937254"/>
                  </a:cubicBezTo>
                  <a:lnTo>
                    <a:pt x="0" y="269240"/>
                  </a:lnTo>
                  <a:lnTo>
                    <a:pt x="25400" y="269240"/>
                  </a:lnTo>
                  <a:lnTo>
                    <a:pt x="0" y="269240"/>
                  </a:lnTo>
                  <a:moveTo>
                    <a:pt x="50800" y="269240"/>
                  </a:moveTo>
                  <a:lnTo>
                    <a:pt x="50800" y="3937254"/>
                  </a:lnTo>
                  <a:lnTo>
                    <a:pt x="25400" y="3937254"/>
                  </a:lnTo>
                  <a:lnTo>
                    <a:pt x="50800" y="3937254"/>
                  </a:lnTo>
                  <a:cubicBezTo>
                    <a:pt x="50800" y="4057777"/>
                    <a:pt x="149225" y="4155694"/>
                    <a:pt x="271018" y="4155694"/>
                  </a:cubicBezTo>
                  <a:lnTo>
                    <a:pt x="10215626" y="4155694"/>
                  </a:lnTo>
                  <a:cubicBezTo>
                    <a:pt x="10337419" y="4155694"/>
                    <a:pt x="10435844" y="4057777"/>
                    <a:pt x="10435844" y="3937254"/>
                  </a:cubicBezTo>
                  <a:lnTo>
                    <a:pt x="10435844" y="269240"/>
                  </a:lnTo>
                  <a:cubicBezTo>
                    <a:pt x="10435844" y="148717"/>
                    <a:pt x="10337419" y="50800"/>
                    <a:pt x="10215626" y="50800"/>
                  </a:cubicBezTo>
                  <a:lnTo>
                    <a:pt x="271018" y="50800"/>
                  </a:lnTo>
                  <a:lnTo>
                    <a:pt x="271018" y="25400"/>
                  </a:lnTo>
                  <a:lnTo>
                    <a:pt x="271018" y="50800"/>
                  </a:lnTo>
                  <a:cubicBezTo>
                    <a:pt x="149225" y="50800"/>
                    <a:pt x="50800" y="148717"/>
                    <a:pt x="50800" y="269240"/>
                  </a:cubicBezTo>
                  <a:close/>
                </a:path>
              </a:pathLst>
            </a:custGeom>
            <a:solidFill>
              <a:srgbClr val="E2C8B5"/>
            </a:solidFill>
          </p:spPr>
        </p:sp>
      </p:grpSp>
      <p:grpSp>
        <p:nvGrpSpPr>
          <p:cNvPr id="32" name="Group 32"/>
          <p:cNvGrpSpPr/>
          <p:nvPr/>
        </p:nvGrpSpPr>
        <p:grpSpPr>
          <a:xfrm>
            <a:off x="9455791" y="6056862"/>
            <a:ext cx="152400" cy="3116761"/>
            <a:chOff x="0" y="0"/>
            <a:chExt cx="203200" cy="4155681"/>
          </a:xfrm>
        </p:grpSpPr>
        <p:sp>
          <p:nvSpPr>
            <p:cNvPr id="33" name="Freeform 33"/>
            <p:cNvSpPr/>
            <p:nvPr/>
          </p:nvSpPr>
          <p:spPr>
            <a:xfrm>
              <a:off x="0" y="0"/>
              <a:ext cx="203200" cy="4155694"/>
            </a:xfrm>
            <a:custGeom>
              <a:avLst/>
              <a:gdLst/>
              <a:ahLst/>
              <a:cxnLst/>
              <a:rect l="l" t="t" r="r" b="b"/>
              <a:pathLst>
                <a:path w="203200" h="4155694">
                  <a:moveTo>
                    <a:pt x="0" y="101600"/>
                  </a:moveTo>
                  <a:cubicBezTo>
                    <a:pt x="0" y="45466"/>
                    <a:pt x="45466" y="0"/>
                    <a:pt x="101600" y="0"/>
                  </a:cubicBezTo>
                  <a:cubicBezTo>
                    <a:pt x="157734" y="0"/>
                    <a:pt x="203200" y="45466"/>
                    <a:pt x="203200" y="101600"/>
                  </a:cubicBezTo>
                  <a:lnTo>
                    <a:pt x="203200" y="4054094"/>
                  </a:lnTo>
                  <a:cubicBezTo>
                    <a:pt x="203200" y="4110228"/>
                    <a:pt x="157734" y="4155694"/>
                    <a:pt x="101600" y="4155694"/>
                  </a:cubicBezTo>
                  <a:cubicBezTo>
                    <a:pt x="45466" y="4155694"/>
                    <a:pt x="0" y="4110228"/>
                    <a:pt x="0" y="4054094"/>
                  </a:cubicBezTo>
                  <a:close/>
                </a:path>
              </a:pathLst>
            </a:custGeom>
            <a:solidFill>
              <a:srgbClr val="D2600F"/>
            </a:solidFill>
          </p:spPr>
        </p:sp>
      </p:grpSp>
      <p:sp>
        <p:nvSpPr>
          <p:cNvPr id="34" name="TextBox 34"/>
          <p:cNvSpPr txBox="1"/>
          <p:nvPr/>
        </p:nvSpPr>
        <p:spPr>
          <a:xfrm>
            <a:off x="9925345" y="6364481"/>
            <a:ext cx="3836075" cy="412166"/>
          </a:xfrm>
          <a:prstGeom prst="rect">
            <a:avLst/>
          </a:prstGeom>
        </p:spPr>
        <p:txBody>
          <a:bodyPr lIns="0" tIns="0" rIns="0" bIns="0" rtlCol="0" anchor="t">
            <a:spAutoFit/>
          </a:bodyPr>
          <a:lstStyle/>
          <a:p>
            <a:pPr algn="l">
              <a:lnSpc>
                <a:spcPts val="3369"/>
              </a:lnSpc>
            </a:pPr>
            <a:r>
              <a:rPr lang="en-US" sz="2700">
                <a:solidFill>
                  <a:srgbClr val="2B2E3C"/>
                </a:solidFill>
                <a:latin typeface="Merriweather"/>
                <a:ea typeface="Merriweather"/>
                <a:cs typeface="Merriweather"/>
                <a:sym typeface="Merriweather"/>
              </a:rPr>
              <a:t>Automated Waitlisting</a:t>
            </a:r>
          </a:p>
        </p:txBody>
      </p:sp>
      <p:sp>
        <p:nvSpPr>
          <p:cNvPr id="35" name="TextBox 35"/>
          <p:cNvSpPr txBox="1"/>
          <p:nvPr/>
        </p:nvSpPr>
        <p:spPr>
          <a:xfrm>
            <a:off x="9925345" y="6999084"/>
            <a:ext cx="7078266" cy="1731036"/>
          </a:xfrm>
          <a:prstGeom prst="rect">
            <a:avLst/>
          </a:prstGeom>
        </p:spPr>
        <p:txBody>
          <a:bodyPr lIns="0" tIns="0" rIns="0" bIns="0" rtlCol="0" anchor="t">
            <a:spAutoFit/>
          </a:bodyPr>
          <a:lstStyle/>
          <a:p>
            <a:pPr algn="l">
              <a:lnSpc>
                <a:spcPts val="3484"/>
              </a:lnSpc>
            </a:pPr>
            <a:r>
              <a:rPr lang="en-US" sz="2199">
                <a:solidFill>
                  <a:srgbClr val="2B2E3C"/>
                </a:solidFill>
                <a:latin typeface="Roboto"/>
                <a:ea typeface="Roboto"/>
                <a:cs typeface="Roboto"/>
                <a:sym typeface="Roboto"/>
              </a:rPr>
              <a:t>When a lecturer cancels a session or a bus driver removes a route, affected students are immediately notified.</a:t>
            </a:r>
          </a:p>
          <a:p>
            <a:pPr algn="l">
              <a:lnSpc>
                <a:spcPts val="3484"/>
              </a:lnSpc>
            </a:pPr>
            <a:r>
              <a:rPr lang="en-US" sz="2199">
                <a:solidFill>
                  <a:srgbClr val="2B2E3C"/>
                </a:solidFill>
                <a:latin typeface="Roboto"/>
                <a:ea typeface="Roboto"/>
                <a:cs typeface="Roboto"/>
                <a:sym typeface="Roboto"/>
              </a:rPr>
              <a:t>A feature rarely found in standalone booking tools.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8F0"/>
            </a:solidFill>
          </p:spPr>
        </p:sp>
      </p:grpSp>
      <p:sp>
        <p:nvSpPr>
          <p:cNvPr id="4" name="TextBox 4"/>
          <p:cNvSpPr txBox="1"/>
          <p:nvPr/>
        </p:nvSpPr>
        <p:spPr>
          <a:xfrm>
            <a:off x="992238" y="1607191"/>
            <a:ext cx="11829693" cy="852297"/>
          </a:xfrm>
          <a:prstGeom prst="rect">
            <a:avLst/>
          </a:prstGeom>
        </p:spPr>
        <p:txBody>
          <a:bodyPr lIns="0" tIns="0" rIns="0" bIns="0" rtlCol="0" anchor="t">
            <a:spAutoFit/>
          </a:bodyPr>
          <a:lstStyle/>
          <a:p>
            <a:pPr algn="l">
              <a:lnSpc>
                <a:spcPts val="6864"/>
              </a:lnSpc>
            </a:pPr>
            <a:r>
              <a:rPr lang="en-US" sz="5500">
                <a:solidFill>
                  <a:srgbClr val="2C3F42"/>
                </a:solidFill>
                <a:latin typeface="Merriweather"/>
                <a:ea typeface="Merriweather"/>
                <a:cs typeface="Merriweather"/>
                <a:sym typeface="Merriweather"/>
              </a:rPr>
              <a:t>Scope: Constraints &amp; Assumptions</a:t>
            </a:r>
          </a:p>
        </p:txBody>
      </p:sp>
      <p:sp>
        <p:nvSpPr>
          <p:cNvPr id="5" name="TextBox 5"/>
          <p:cNvSpPr txBox="1"/>
          <p:nvPr/>
        </p:nvSpPr>
        <p:spPr>
          <a:xfrm>
            <a:off x="992238" y="3211411"/>
            <a:ext cx="3298388" cy="412166"/>
          </a:xfrm>
          <a:prstGeom prst="rect">
            <a:avLst/>
          </a:prstGeom>
        </p:spPr>
        <p:txBody>
          <a:bodyPr lIns="0" tIns="0" rIns="0" bIns="0" rtlCol="0" anchor="t">
            <a:spAutoFit/>
          </a:bodyPr>
          <a:lstStyle/>
          <a:p>
            <a:pPr algn="l">
              <a:lnSpc>
                <a:spcPts val="3369"/>
              </a:lnSpc>
            </a:pPr>
            <a:r>
              <a:rPr lang="en-US" sz="2700">
                <a:solidFill>
                  <a:srgbClr val="2C3F42"/>
                </a:solidFill>
                <a:latin typeface="Merriweather"/>
                <a:ea typeface="Merriweather"/>
                <a:cs typeface="Merriweather"/>
                <a:sym typeface="Merriweather"/>
              </a:rPr>
              <a:t>System Constraints</a:t>
            </a:r>
          </a:p>
        </p:txBody>
      </p:sp>
      <p:sp>
        <p:nvSpPr>
          <p:cNvPr id="6" name="Freeform 6" descr="preencoded.png"/>
          <p:cNvSpPr/>
          <p:nvPr/>
        </p:nvSpPr>
        <p:spPr>
          <a:xfrm>
            <a:off x="1098499" y="3996928"/>
            <a:ext cx="425206" cy="425206"/>
          </a:xfrm>
          <a:custGeom>
            <a:avLst/>
            <a:gdLst/>
            <a:ahLst/>
            <a:cxnLst/>
            <a:rect l="l" t="t" r="r" b="b"/>
            <a:pathLst>
              <a:path w="425206" h="425206">
                <a:moveTo>
                  <a:pt x="0" y="0"/>
                </a:moveTo>
                <a:lnTo>
                  <a:pt x="425206" y="0"/>
                </a:lnTo>
                <a:lnTo>
                  <a:pt x="425206" y="425206"/>
                </a:lnTo>
                <a:lnTo>
                  <a:pt x="0" y="425206"/>
                </a:lnTo>
                <a:lnTo>
                  <a:pt x="0" y="0"/>
                </a:lnTo>
                <a:close/>
              </a:path>
            </a:pathLst>
          </a:custGeom>
          <a:blipFill>
            <a:blip>
              <a:extLst>
                <a:ext uri="{96DAC541-7B7A-43D3-8B79-37D633B846F1}">
                  <asvg:svgBlip xmlns:asvg="http://schemas.microsoft.com/office/drawing/2016/SVG/main" r:embed="rId3"/>
                </a:ext>
              </a:extLst>
            </a:blip>
            <a:stretch>
              <a:fillRect l="-8888" r="-8888"/>
            </a:stretch>
          </a:blipFill>
        </p:spPr>
      </p:sp>
      <p:sp>
        <p:nvSpPr>
          <p:cNvPr id="7" name="TextBox 7"/>
          <p:cNvSpPr txBox="1"/>
          <p:nvPr/>
        </p:nvSpPr>
        <p:spPr>
          <a:xfrm>
            <a:off x="1913630" y="3887543"/>
            <a:ext cx="6884489" cy="860908"/>
          </a:xfrm>
          <a:prstGeom prst="rect">
            <a:avLst/>
          </a:prstGeom>
        </p:spPr>
        <p:txBody>
          <a:bodyPr lIns="0" tIns="0" rIns="0" bIns="0" rtlCol="0" anchor="t">
            <a:spAutoFit/>
          </a:bodyPr>
          <a:lstStyle/>
          <a:p>
            <a:pPr algn="l">
              <a:lnSpc>
                <a:spcPts val="3511"/>
              </a:lnSpc>
            </a:pPr>
            <a:r>
              <a:rPr lang="en-US" sz="2200">
                <a:solidFill>
                  <a:srgbClr val="2B2E3C"/>
                </a:solidFill>
                <a:latin typeface="Roboto"/>
                <a:ea typeface="Roboto"/>
                <a:cs typeface="Roboto"/>
                <a:sym typeface="Roboto"/>
              </a:rPr>
              <a:t>Designed purely for </a:t>
            </a:r>
            <a:r>
              <a:rPr lang="en-US" sz="2200" b="1">
                <a:solidFill>
                  <a:srgbClr val="2B2E3C"/>
                </a:solidFill>
                <a:latin typeface="Roboto Bold"/>
                <a:ea typeface="Roboto Bold"/>
                <a:cs typeface="Roboto Bold"/>
                <a:sym typeface="Roboto Bold"/>
              </a:rPr>
              <a:t>internal university use</a:t>
            </a:r>
            <a:r>
              <a:rPr lang="en-US" sz="2200">
                <a:solidFill>
                  <a:srgbClr val="2B2E3C"/>
                </a:solidFill>
                <a:latin typeface="Roboto"/>
                <a:ea typeface="Roboto"/>
                <a:cs typeface="Roboto"/>
                <a:sym typeface="Roboto"/>
              </a:rPr>
              <a:t> and no external payment gateways or public access portals.</a:t>
            </a:r>
          </a:p>
        </p:txBody>
      </p:sp>
      <p:sp>
        <p:nvSpPr>
          <p:cNvPr id="8" name="Freeform 8" descr="preencoded.png"/>
          <p:cNvSpPr/>
          <p:nvPr/>
        </p:nvSpPr>
        <p:spPr>
          <a:xfrm>
            <a:off x="1098499" y="5471217"/>
            <a:ext cx="425206" cy="425206"/>
          </a:xfrm>
          <a:custGeom>
            <a:avLst/>
            <a:gdLst/>
            <a:ahLst/>
            <a:cxnLst/>
            <a:rect l="l" t="t" r="r" b="b"/>
            <a:pathLst>
              <a:path w="425206" h="425206">
                <a:moveTo>
                  <a:pt x="0" y="0"/>
                </a:moveTo>
                <a:lnTo>
                  <a:pt x="425206" y="0"/>
                </a:lnTo>
                <a:lnTo>
                  <a:pt x="425206" y="425206"/>
                </a:lnTo>
                <a:lnTo>
                  <a:pt x="0" y="425206"/>
                </a:lnTo>
                <a:lnTo>
                  <a:pt x="0" y="0"/>
                </a:lnTo>
                <a:close/>
              </a:path>
            </a:pathLst>
          </a:custGeom>
          <a:blipFill>
            <a:blip>
              <a:extLst>
                <a:ext uri="{96DAC541-7B7A-43D3-8B79-37D633B846F1}">
                  <asvg:svgBlip xmlns:asvg="http://schemas.microsoft.com/office/drawing/2016/SVG/main" r:embed="rId3"/>
                </a:ext>
              </a:extLst>
            </a:blip>
            <a:stretch>
              <a:fillRect l="-8888" r="-8888"/>
            </a:stretch>
          </a:blipFill>
        </p:spPr>
      </p:sp>
      <p:sp>
        <p:nvSpPr>
          <p:cNvPr id="9" name="TextBox 9"/>
          <p:cNvSpPr txBox="1"/>
          <p:nvPr/>
        </p:nvSpPr>
        <p:spPr>
          <a:xfrm>
            <a:off x="1913630" y="5361832"/>
            <a:ext cx="6884489" cy="860908"/>
          </a:xfrm>
          <a:prstGeom prst="rect">
            <a:avLst/>
          </a:prstGeom>
        </p:spPr>
        <p:txBody>
          <a:bodyPr lIns="0" tIns="0" rIns="0" bIns="0" rtlCol="0" anchor="t">
            <a:spAutoFit/>
          </a:bodyPr>
          <a:lstStyle/>
          <a:p>
            <a:pPr algn="l">
              <a:lnSpc>
                <a:spcPts val="3511"/>
              </a:lnSpc>
            </a:pPr>
            <a:r>
              <a:rPr lang="en-US" sz="2200">
                <a:solidFill>
                  <a:srgbClr val="2B2E3C"/>
                </a:solidFill>
                <a:latin typeface="Roboto"/>
                <a:ea typeface="Roboto"/>
                <a:cs typeface="Roboto"/>
                <a:sym typeface="Roboto"/>
              </a:rPr>
              <a:t>Transit management is limited to </a:t>
            </a:r>
            <a:r>
              <a:rPr lang="en-US" sz="2200" b="1">
                <a:solidFill>
                  <a:srgbClr val="2B2E3C"/>
                </a:solidFill>
                <a:latin typeface="Roboto Bold"/>
                <a:ea typeface="Roboto Bold"/>
                <a:cs typeface="Roboto Bold"/>
                <a:sym typeface="Roboto Bold"/>
              </a:rPr>
              <a:t>scheduling</a:t>
            </a:r>
            <a:r>
              <a:rPr lang="en-US" sz="2200">
                <a:solidFill>
                  <a:srgbClr val="2B2E3C"/>
                </a:solidFill>
                <a:latin typeface="Roboto"/>
                <a:ea typeface="Roboto"/>
                <a:cs typeface="Roboto"/>
                <a:sym typeface="Roboto"/>
              </a:rPr>
              <a:t>; live GPS tracking of buses is not included in the current scope.</a:t>
            </a:r>
          </a:p>
        </p:txBody>
      </p:sp>
      <p:sp>
        <p:nvSpPr>
          <p:cNvPr id="10" name="TextBox 10"/>
          <p:cNvSpPr txBox="1"/>
          <p:nvPr/>
        </p:nvSpPr>
        <p:spPr>
          <a:xfrm>
            <a:off x="9499406" y="3211411"/>
            <a:ext cx="3987994" cy="417230"/>
          </a:xfrm>
          <a:prstGeom prst="rect">
            <a:avLst/>
          </a:prstGeom>
        </p:spPr>
        <p:txBody>
          <a:bodyPr wrap="square" lIns="0" tIns="0" rIns="0" bIns="0" rtlCol="0" anchor="t">
            <a:spAutoFit/>
          </a:bodyPr>
          <a:lstStyle/>
          <a:p>
            <a:pPr algn="l">
              <a:lnSpc>
                <a:spcPts val="3369"/>
              </a:lnSpc>
            </a:pPr>
            <a:r>
              <a:rPr lang="en-US" sz="2700" dirty="0">
                <a:solidFill>
                  <a:srgbClr val="2C3F42"/>
                </a:solidFill>
                <a:latin typeface="Merriweather"/>
                <a:ea typeface="Merriweather"/>
                <a:cs typeface="Merriweather"/>
                <a:sym typeface="Merriweather"/>
              </a:rPr>
              <a:t>System Assumptions</a:t>
            </a:r>
          </a:p>
        </p:txBody>
      </p:sp>
      <p:sp>
        <p:nvSpPr>
          <p:cNvPr id="11" name="Freeform 11" descr="preencoded.png"/>
          <p:cNvSpPr/>
          <p:nvPr/>
        </p:nvSpPr>
        <p:spPr>
          <a:xfrm>
            <a:off x="9605667" y="3996928"/>
            <a:ext cx="425206" cy="425206"/>
          </a:xfrm>
          <a:custGeom>
            <a:avLst/>
            <a:gdLst/>
            <a:ahLst/>
            <a:cxnLst/>
            <a:rect l="l" t="t" r="r" b="b"/>
            <a:pathLst>
              <a:path w="425206" h="425206">
                <a:moveTo>
                  <a:pt x="0" y="0"/>
                </a:moveTo>
                <a:lnTo>
                  <a:pt x="425206" y="0"/>
                </a:lnTo>
                <a:lnTo>
                  <a:pt x="425206" y="425206"/>
                </a:lnTo>
                <a:lnTo>
                  <a:pt x="0" y="425206"/>
                </a:lnTo>
                <a:lnTo>
                  <a:pt x="0" y="0"/>
                </a:lnTo>
                <a:close/>
              </a:path>
            </a:pathLst>
          </a:custGeom>
          <a:blipFill>
            <a:blip>
              <a:extLst>
                <a:ext uri="{96DAC541-7B7A-43D3-8B79-37D633B846F1}">
                  <asvg:svgBlip xmlns:asvg="http://schemas.microsoft.com/office/drawing/2016/SVG/main" r:embed="rId3"/>
                </a:ext>
              </a:extLst>
            </a:blip>
            <a:stretch>
              <a:fillRect l="-8888" r="-8888"/>
            </a:stretch>
          </a:blipFill>
        </p:spPr>
      </p:sp>
      <p:sp>
        <p:nvSpPr>
          <p:cNvPr id="12" name="TextBox 12"/>
          <p:cNvSpPr txBox="1"/>
          <p:nvPr/>
        </p:nvSpPr>
        <p:spPr>
          <a:xfrm>
            <a:off x="10420798" y="3887543"/>
            <a:ext cx="6884489" cy="860908"/>
          </a:xfrm>
          <a:prstGeom prst="rect">
            <a:avLst/>
          </a:prstGeom>
        </p:spPr>
        <p:txBody>
          <a:bodyPr lIns="0" tIns="0" rIns="0" bIns="0" rtlCol="0" anchor="t">
            <a:spAutoFit/>
          </a:bodyPr>
          <a:lstStyle/>
          <a:p>
            <a:pPr algn="l">
              <a:lnSpc>
                <a:spcPts val="3511"/>
              </a:lnSpc>
            </a:pPr>
            <a:r>
              <a:rPr lang="en-US" sz="2200">
                <a:solidFill>
                  <a:srgbClr val="2B2E3C"/>
                </a:solidFill>
                <a:latin typeface="Roboto"/>
                <a:ea typeface="Roboto"/>
                <a:cs typeface="Roboto"/>
                <a:sym typeface="Roboto"/>
              </a:rPr>
              <a:t>All users are </a:t>
            </a:r>
            <a:r>
              <a:rPr lang="en-US" sz="2200" b="1">
                <a:solidFill>
                  <a:srgbClr val="2B2E3C"/>
                </a:solidFill>
                <a:latin typeface="Roboto Bold"/>
                <a:ea typeface="Roboto Bold"/>
                <a:cs typeface="Roboto Bold"/>
                <a:sym typeface="Roboto Bold"/>
              </a:rPr>
              <a:t>verified members</a:t>
            </a:r>
            <a:r>
              <a:rPr lang="en-US" sz="2200">
                <a:solidFill>
                  <a:srgbClr val="2B2E3C"/>
                </a:solidFill>
                <a:latin typeface="Roboto"/>
                <a:ea typeface="Roboto"/>
                <a:cs typeface="Roboto"/>
                <a:sym typeface="Roboto"/>
              </a:rPr>
              <a:t> with accounts pre-provisioned or verified via an email address.</a:t>
            </a:r>
          </a:p>
        </p:txBody>
      </p:sp>
      <p:sp>
        <p:nvSpPr>
          <p:cNvPr id="13" name="Freeform 13" descr="preencoded.png"/>
          <p:cNvSpPr/>
          <p:nvPr/>
        </p:nvSpPr>
        <p:spPr>
          <a:xfrm>
            <a:off x="9605667" y="5471217"/>
            <a:ext cx="425206" cy="425206"/>
          </a:xfrm>
          <a:custGeom>
            <a:avLst/>
            <a:gdLst/>
            <a:ahLst/>
            <a:cxnLst/>
            <a:rect l="l" t="t" r="r" b="b"/>
            <a:pathLst>
              <a:path w="425206" h="425206">
                <a:moveTo>
                  <a:pt x="0" y="0"/>
                </a:moveTo>
                <a:lnTo>
                  <a:pt x="425206" y="0"/>
                </a:lnTo>
                <a:lnTo>
                  <a:pt x="425206" y="425206"/>
                </a:lnTo>
                <a:lnTo>
                  <a:pt x="0" y="425206"/>
                </a:lnTo>
                <a:lnTo>
                  <a:pt x="0" y="0"/>
                </a:lnTo>
                <a:close/>
              </a:path>
            </a:pathLst>
          </a:custGeom>
          <a:blipFill>
            <a:blip>
              <a:extLst>
                <a:ext uri="{96DAC541-7B7A-43D3-8B79-37D633B846F1}">
                  <asvg:svgBlip xmlns:asvg="http://schemas.microsoft.com/office/drawing/2016/SVG/main" r:embed="rId3"/>
                </a:ext>
              </a:extLst>
            </a:blip>
            <a:stretch>
              <a:fillRect l="-8888" r="-8888"/>
            </a:stretch>
          </a:blipFill>
        </p:spPr>
      </p:sp>
      <p:sp>
        <p:nvSpPr>
          <p:cNvPr id="14" name="TextBox 14"/>
          <p:cNvSpPr txBox="1"/>
          <p:nvPr/>
        </p:nvSpPr>
        <p:spPr>
          <a:xfrm>
            <a:off x="10420798" y="5361832"/>
            <a:ext cx="6884489" cy="860908"/>
          </a:xfrm>
          <a:prstGeom prst="rect">
            <a:avLst/>
          </a:prstGeom>
        </p:spPr>
        <p:txBody>
          <a:bodyPr lIns="0" tIns="0" rIns="0" bIns="0" rtlCol="0" anchor="t">
            <a:spAutoFit/>
          </a:bodyPr>
          <a:lstStyle/>
          <a:p>
            <a:pPr algn="l">
              <a:lnSpc>
                <a:spcPts val="3511"/>
              </a:lnSpc>
            </a:pPr>
            <a:r>
              <a:rPr lang="en-US" sz="2200">
                <a:solidFill>
                  <a:srgbClr val="2B2E3C"/>
                </a:solidFill>
                <a:latin typeface="Roboto"/>
                <a:ea typeface="Roboto"/>
                <a:cs typeface="Roboto"/>
                <a:sym typeface="Roboto"/>
              </a:rPr>
              <a:t>Lecturers and Bus Drivers can mange only their</a:t>
            </a:r>
            <a:r>
              <a:rPr lang="en-US" sz="2200" b="1">
                <a:solidFill>
                  <a:srgbClr val="2B2E3C"/>
                </a:solidFill>
                <a:latin typeface="Roboto Bold"/>
                <a:ea typeface="Roboto Bold"/>
                <a:cs typeface="Roboto Bold"/>
                <a:sym typeface="Roboto Bold"/>
              </a:rPr>
              <a:t> self-owned resources</a:t>
            </a:r>
            <a:r>
              <a:rPr lang="en-US" sz="2200">
                <a:solidFill>
                  <a:srgbClr val="2B2E3C"/>
                </a:solidFill>
                <a:latin typeface="Roboto"/>
                <a:ea typeface="Roboto"/>
                <a:cs typeface="Roboto"/>
                <a:sym typeface="Roboto"/>
              </a:rPr>
              <a:t> within the system.</a:t>
            </a:r>
          </a:p>
        </p:txBody>
      </p:sp>
      <p:grpSp>
        <p:nvGrpSpPr>
          <p:cNvPr id="15" name="Group 15"/>
          <p:cNvGrpSpPr/>
          <p:nvPr/>
        </p:nvGrpSpPr>
        <p:grpSpPr>
          <a:xfrm>
            <a:off x="992238" y="7455846"/>
            <a:ext cx="16303523" cy="1204760"/>
            <a:chOff x="0" y="0"/>
            <a:chExt cx="21738031" cy="1606347"/>
          </a:xfrm>
        </p:grpSpPr>
        <p:sp>
          <p:nvSpPr>
            <p:cNvPr id="16" name="Freeform 16"/>
            <p:cNvSpPr/>
            <p:nvPr/>
          </p:nvSpPr>
          <p:spPr>
            <a:xfrm>
              <a:off x="0" y="0"/>
              <a:ext cx="21737955" cy="1606296"/>
            </a:xfrm>
            <a:custGeom>
              <a:avLst/>
              <a:gdLst/>
              <a:ahLst/>
              <a:cxnLst/>
              <a:rect l="l" t="t" r="r" b="b"/>
              <a:pathLst>
                <a:path w="21737955" h="1606296">
                  <a:moveTo>
                    <a:pt x="0" y="158750"/>
                  </a:moveTo>
                  <a:cubicBezTo>
                    <a:pt x="0" y="71120"/>
                    <a:pt x="71120" y="0"/>
                    <a:pt x="158750" y="0"/>
                  </a:cubicBezTo>
                  <a:lnTo>
                    <a:pt x="21579205" y="0"/>
                  </a:lnTo>
                  <a:cubicBezTo>
                    <a:pt x="21666836" y="0"/>
                    <a:pt x="21737955" y="71120"/>
                    <a:pt x="21737955" y="158750"/>
                  </a:cubicBezTo>
                  <a:lnTo>
                    <a:pt x="21737955" y="1447546"/>
                  </a:lnTo>
                  <a:cubicBezTo>
                    <a:pt x="21737955" y="1535176"/>
                    <a:pt x="21666836" y="1606296"/>
                    <a:pt x="21579205" y="1606296"/>
                  </a:cubicBezTo>
                  <a:lnTo>
                    <a:pt x="158750" y="1606296"/>
                  </a:lnTo>
                  <a:cubicBezTo>
                    <a:pt x="71120" y="1606296"/>
                    <a:pt x="0" y="1535176"/>
                    <a:pt x="0" y="1447546"/>
                  </a:cubicBezTo>
                  <a:close/>
                </a:path>
              </a:pathLst>
            </a:custGeom>
            <a:solidFill>
              <a:srgbClr val="FAD3B8"/>
            </a:solidFill>
          </p:spPr>
        </p:sp>
      </p:grpSp>
      <p:grpSp>
        <p:nvGrpSpPr>
          <p:cNvPr id="17" name="Group 17"/>
          <p:cNvGrpSpPr/>
          <p:nvPr/>
        </p:nvGrpSpPr>
        <p:grpSpPr>
          <a:xfrm>
            <a:off x="1275750" y="7895482"/>
            <a:ext cx="354359" cy="283521"/>
            <a:chOff x="0" y="0"/>
            <a:chExt cx="472478" cy="378028"/>
          </a:xfrm>
        </p:grpSpPr>
        <p:sp>
          <p:nvSpPr>
            <p:cNvPr id="18" name="Freeform 18" descr="preencoded.png"/>
            <p:cNvSpPr/>
            <p:nvPr/>
          </p:nvSpPr>
          <p:spPr>
            <a:xfrm>
              <a:off x="0" y="0"/>
              <a:ext cx="472440" cy="378079"/>
            </a:xfrm>
            <a:custGeom>
              <a:avLst/>
              <a:gdLst/>
              <a:ahLst/>
              <a:cxnLst/>
              <a:rect l="l" t="t" r="r" b="b"/>
              <a:pathLst>
                <a:path w="472440" h="378079">
                  <a:moveTo>
                    <a:pt x="0" y="0"/>
                  </a:moveTo>
                  <a:lnTo>
                    <a:pt x="472440" y="0"/>
                  </a:lnTo>
                  <a:lnTo>
                    <a:pt x="472440" y="378079"/>
                  </a:lnTo>
                  <a:lnTo>
                    <a:pt x="0" y="378079"/>
                  </a:lnTo>
                  <a:lnTo>
                    <a:pt x="0" y="0"/>
                  </a:lnTo>
                  <a:close/>
                </a:path>
              </a:pathLst>
            </a:custGeom>
            <a:blipFill>
              <a:blip r:embed="rId4"/>
              <a:stretch>
                <a:fillRect t="-671" r="-8" b="-655"/>
              </a:stretch>
            </a:blipFill>
          </p:spPr>
        </p:sp>
      </p:grpSp>
      <p:sp>
        <p:nvSpPr>
          <p:cNvPr id="19" name="TextBox 19"/>
          <p:cNvSpPr txBox="1"/>
          <p:nvPr/>
        </p:nvSpPr>
        <p:spPr>
          <a:xfrm>
            <a:off x="1913630" y="7714955"/>
            <a:ext cx="16013011" cy="422758"/>
          </a:xfrm>
          <a:prstGeom prst="rect">
            <a:avLst/>
          </a:prstGeom>
        </p:spPr>
        <p:txBody>
          <a:bodyPr lIns="0" tIns="0" rIns="0" bIns="0" rtlCol="0" anchor="t">
            <a:spAutoFit/>
          </a:bodyPr>
          <a:lstStyle/>
          <a:p>
            <a:pPr algn="l">
              <a:lnSpc>
                <a:spcPts val="3511"/>
              </a:lnSpc>
            </a:pPr>
            <a:r>
              <a:rPr lang="en-US" sz="2200">
                <a:solidFill>
                  <a:srgbClr val="000000"/>
                </a:solidFill>
                <a:latin typeface="Roboto"/>
                <a:ea typeface="Roboto"/>
                <a:cs typeface="Roboto"/>
                <a:sym typeface="Roboto"/>
              </a:rPr>
              <a:t>These boundaries ensure UniQueue remains focused, secure, and maintainable within the university ecosystem.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8F0"/>
            </a:solidFill>
          </p:spPr>
        </p:sp>
      </p:grpSp>
      <p:sp>
        <p:nvSpPr>
          <p:cNvPr id="4" name="TextBox 4"/>
          <p:cNvSpPr txBox="1"/>
          <p:nvPr/>
        </p:nvSpPr>
        <p:spPr>
          <a:xfrm>
            <a:off x="914695" y="727624"/>
            <a:ext cx="11388566" cy="788060"/>
          </a:xfrm>
          <a:prstGeom prst="rect">
            <a:avLst/>
          </a:prstGeom>
        </p:spPr>
        <p:txBody>
          <a:bodyPr lIns="0" tIns="0" rIns="0" bIns="0" rtlCol="0" anchor="t">
            <a:spAutoFit/>
          </a:bodyPr>
          <a:lstStyle/>
          <a:p>
            <a:pPr algn="l">
              <a:lnSpc>
                <a:spcPts val="6364"/>
              </a:lnSpc>
            </a:pPr>
            <a:r>
              <a:rPr lang="en-US" sz="5100">
                <a:solidFill>
                  <a:srgbClr val="2C3F42"/>
                </a:solidFill>
                <a:latin typeface="Merriweather"/>
                <a:ea typeface="Merriweather"/>
                <a:cs typeface="Merriweather"/>
                <a:sym typeface="Merriweather"/>
              </a:rPr>
              <a:t>Methodology &amp; Technical Approach</a:t>
            </a:r>
          </a:p>
        </p:txBody>
      </p:sp>
      <p:grpSp>
        <p:nvGrpSpPr>
          <p:cNvPr id="5" name="Group 5"/>
          <p:cNvGrpSpPr/>
          <p:nvPr/>
        </p:nvGrpSpPr>
        <p:grpSpPr>
          <a:xfrm>
            <a:off x="900408" y="2031054"/>
            <a:ext cx="16487184" cy="2366220"/>
            <a:chOff x="0" y="0"/>
            <a:chExt cx="21982913" cy="3154959"/>
          </a:xfrm>
        </p:grpSpPr>
        <p:sp>
          <p:nvSpPr>
            <p:cNvPr id="6" name="Freeform 6"/>
            <p:cNvSpPr/>
            <p:nvPr/>
          </p:nvSpPr>
          <p:spPr>
            <a:xfrm>
              <a:off x="19050" y="19050"/>
              <a:ext cx="21944839" cy="3116961"/>
            </a:xfrm>
            <a:custGeom>
              <a:avLst/>
              <a:gdLst/>
              <a:ahLst/>
              <a:cxnLst/>
              <a:rect l="l" t="t" r="r" b="b"/>
              <a:pathLst>
                <a:path w="21944839" h="3116961">
                  <a:moveTo>
                    <a:pt x="0" y="146431"/>
                  </a:moveTo>
                  <a:cubicBezTo>
                    <a:pt x="0" y="65532"/>
                    <a:pt x="66167" y="0"/>
                    <a:pt x="147955" y="0"/>
                  </a:cubicBezTo>
                  <a:lnTo>
                    <a:pt x="21796883" y="0"/>
                  </a:lnTo>
                  <a:cubicBezTo>
                    <a:pt x="21878545" y="0"/>
                    <a:pt x="21944839" y="65532"/>
                    <a:pt x="21944839" y="146431"/>
                  </a:cubicBezTo>
                  <a:lnTo>
                    <a:pt x="21944839" y="2970530"/>
                  </a:lnTo>
                  <a:cubicBezTo>
                    <a:pt x="21944839" y="3051429"/>
                    <a:pt x="21878671" y="3116961"/>
                    <a:pt x="21796883" y="3116961"/>
                  </a:cubicBezTo>
                  <a:lnTo>
                    <a:pt x="147955" y="3116961"/>
                  </a:lnTo>
                  <a:cubicBezTo>
                    <a:pt x="66294" y="3116961"/>
                    <a:pt x="0" y="3051429"/>
                    <a:pt x="0" y="2970530"/>
                  </a:cubicBezTo>
                  <a:close/>
                </a:path>
              </a:pathLst>
            </a:custGeom>
            <a:solidFill>
              <a:srgbClr val="FFF8F0"/>
            </a:solidFill>
          </p:spPr>
        </p:sp>
        <p:sp>
          <p:nvSpPr>
            <p:cNvPr id="7" name="Freeform 7"/>
            <p:cNvSpPr/>
            <p:nvPr/>
          </p:nvSpPr>
          <p:spPr>
            <a:xfrm>
              <a:off x="0" y="0"/>
              <a:ext cx="21982939" cy="3155061"/>
            </a:xfrm>
            <a:custGeom>
              <a:avLst/>
              <a:gdLst/>
              <a:ahLst/>
              <a:cxnLst/>
              <a:rect l="l" t="t" r="r" b="b"/>
              <a:pathLst>
                <a:path w="21982939" h="3155061">
                  <a:moveTo>
                    <a:pt x="0" y="165481"/>
                  </a:moveTo>
                  <a:cubicBezTo>
                    <a:pt x="0" y="73914"/>
                    <a:pt x="74930" y="0"/>
                    <a:pt x="167005" y="0"/>
                  </a:cubicBezTo>
                  <a:lnTo>
                    <a:pt x="21815933" y="0"/>
                  </a:lnTo>
                  <a:lnTo>
                    <a:pt x="21815933" y="19050"/>
                  </a:lnTo>
                  <a:lnTo>
                    <a:pt x="21815933" y="0"/>
                  </a:lnTo>
                  <a:cubicBezTo>
                    <a:pt x="21908008" y="0"/>
                    <a:pt x="21982939" y="73914"/>
                    <a:pt x="21982939" y="165481"/>
                  </a:cubicBezTo>
                  <a:lnTo>
                    <a:pt x="21963889" y="165481"/>
                  </a:lnTo>
                  <a:lnTo>
                    <a:pt x="21982939" y="165481"/>
                  </a:lnTo>
                  <a:lnTo>
                    <a:pt x="21982939" y="2989580"/>
                  </a:lnTo>
                  <a:lnTo>
                    <a:pt x="21963889" y="2989580"/>
                  </a:lnTo>
                  <a:lnTo>
                    <a:pt x="21982939" y="2989580"/>
                  </a:lnTo>
                  <a:cubicBezTo>
                    <a:pt x="21982939" y="3081147"/>
                    <a:pt x="21908008" y="3155061"/>
                    <a:pt x="21815933" y="3155061"/>
                  </a:cubicBezTo>
                  <a:lnTo>
                    <a:pt x="21815933" y="3136011"/>
                  </a:lnTo>
                  <a:lnTo>
                    <a:pt x="21815933" y="3155061"/>
                  </a:lnTo>
                  <a:lnTo>
                    <a:pt x="167005" y="3155061"/>
                  </a:lnTo>
                  <a:lnTo>
                    <a:pt x="167005" y="3136011"/>
                  </a:lnTo>
                  <a:lnTo>
                    <a:pt x="167005" y="3155061"/>
                  </a:lnTo>
                  <a:cubicBezTo>
                    <a:pt x="74930" y="3154934"/>
                    <a:pt x="0" y="3081147"/>
                    <a:pt x="0" y="2989580"/>
                  </a:cubicBezTo>
                  <a:lnTo>
                    <a:pt x="0" y="165481"/>
                  </a:lnTo>
                  <a:lnTo>
                    <a:pt x="19050" y="165481"/>
                  </a:lnTo>
                  <a:lnTo>
                    <a:pt x="0" y="165481"/>
                  </a:lnTo>
                  <a:moveTo>
                    <a:pt x="38100" y="165481"/>
                  </a:moveTo>
                  <a:lnTo>
                    <a:pt x="38100" y="2989580"/>
                  </a:lnTo>
                  <a:lnTo>
                    <a:pt x="19050" y="2989580"/>
                  </a:lnTo>
                  <a:lnTo>
                    <a:pt x="38100" y="2989580"/>
                  </a:lnTo>
                  <a:cubicBezTo>
                    <a:pt x="38100" y="3059684"/>
                    <a:pt x="95631" y="3116834"/>
                    <a:pt x="167005" y="3116834"/>
                  </a:cubicBezTo>
                  <a:lnTo>
                    <a:pt x="21815933" y="3116834"/>
                  </a:lnTo>
                  <a:cubicBezTo>
                    <a:pt x="21887307" y="3116834"/>
                    <a:pt x="21944839" y="3059684"/>
                    <a:pt x="21944839" y="2989580"/>
                  </a:cubicBezTo>
                  <a:lnTo>
                    <a:pt x="21944839" y="165481"/>
                  </a:lnTo>
                  <a:cubicBezTo>
                    <a:pt x="21944839" y="95377"/>
                    <a:pt x="21887307" y="38227"/>
                    <a:pt x="21815933" y="38227"/>
                  </a:cubicBezTo>
                  <a:lnTo>
                    <a:pt x="167005" y="38227"/>
                  </a:lnTo>
                  <a:lnTo>
                    <a:pt x="167005" y="19050"/>
                  </a:lnTo>
                  <a:lnTo>
                    <a:pt x="167005" y="38100"/>
                  </a:lnTo>
                  <a:cubicBezTo>
                    <a:pt x="95631" y="38100"/>
                    <a:pt x="38100" y="95250"/>
                    <a:pt x="38100" y="165481"/>
                  </a:cubicBezTo>
                  <a:close/>
                </a:path>
              </a:pathLst>
            </a:custGeom>
            <a:solidFill>
              <a:srgbClr val="E2C8B5"/>
            </a:solidFill>
          </p:spPr>
        </p:sp>
      </p:grpSp>
      <p:grpSp>
        <p:nvGrpSpPr>
          <p:cNvPr id="8" name="Group 8"/>
          <p:cNvGrpSpPr/>
          <p:nvPr/>
        </p:nvGrpSpPr>
        <p:grpSpPr>
          <a:xfrm>
            <a:off x="943270" y="2073916"/>
            <a:ext cx="1045521" cy="2280495"/>
            <a:chOff x="0" y="0"/>
            <a:chExt cx="1394028" cy="3040659"/>
          </a:xfrm>
        </p:grpSpPr>
        <p:sp>
          <p:nvSpPr>
            <p:cNvPr id="9" name="Freeform 9"/>
            <p:cNvSpPr/>
            <p:nvPr/>
          </p:nvSpPr>
          <p:spPr>
            <a:xfrm>
              <a:off x="0" y="0"/>
              <a:ext cx="1394206" cy="3040761"/>
            </a:xfrm>
            <a:custGeom>
              <a:avLst/>
              <a:gdLst/>
              <a:ahLst/>
              <a:cxnLst/>
              <a:rect l="l" t="t" r="r" b="b"/>
              <a:pathLst>
                <a:path w="1394206" h="3040761">
                  <a:moveTo>
                    <a:pt x="0" y="100711"/>
                  </a:moveTo>
                  <a:cubicBezTo>
                    <a:pt x="0" y="45085"/>
                    <a:pt x="45085" y="0"/>
                    <a:pt x="100711" y="0"/>
                  </a:cubicBezTo>
                  <a:lnTo>
                    <a:pt x="1293495" y="0"/>
                  </a:lnTo>
                  <a:cubicBezTo>
                    <a:pt x="1349121" y="0"/>
                    <a:pt x="1394206" y="45085"/>
                    <a:pt x="1394206" y="100711"/>
                  </a:cubicBezTo>
                  <a:lnTo>
                    <a:pt x="1394206" y="2940050"/>
                  </a:lnTo>
                  <a:cubicBezTo>
                    <a:pt x="1394206" y="2995676"/>
                    <a:pt x="1349121" y="3040761"/>
                    <a:pt x="1293495" y="3040761"/>
                  </a:cubicBezTo>
                  <a:lnTo>
                    <a:pt x="100711" y="3040761"/>
                  </a:lnTo>
                  <a:cubicBezTo>
                    <a:pt x="45085" y="3040761"/>
                    <a:pt x="0" y="2995676"/>
                    <a:pt x="0" y="2940050"/>
                  </a:cubicBezTo>
                  <a:close/>
                </a:path>
              </a:pathLst>
            </a:custGeom>
            <a:solidFill>
              <a:srgbClr val="FCE2CF"/>
            </a:solidFill>
          </p:spPr>
        </p:sp>
      </p:grpSp>
      <p:grpSp>
        <p:nvGrpSpPr>
          <p:cNvPr id="10" name="Group 10"/>
          <p:cNvGrpSpPr/>
          <p:nvPr/>
        </p:nvGrpSpPr>
        <p:grpSpPr>
          <a:xfrm>
            <a:off x="1265187" y="2969123"/>
            <a:ext cx="392011" cy="585978"/>
            <a:chOff x="0" y="0"/>
            <a:chExt cx="522681" cy="781304"/>
          </a:xfrm>
        </p:grpSpPr>
        <p:sp>
          <p:nvSpPr>
            <p:cNvPr id="11" name="Freeform 11"/>
            <p:cNvSpPr/>
            <p:nvPr/>
          </p:nvSpPr>
          <p:spPr>
            <a:xfrm>
              <a:off x="0" y="0"/>
              <a:ext cx="522685" cy="781307"/>
            </a:xfrm>
            <a:custGeom>
              <a:avLst/>
              <a:gdLst/>
              <a:ahLst/>
              <a:cxnLst/>
              <a:rect l="l" t="t" r="r" b="b"/>
              <a:pathLst>
                <a:path w="522685" h="781307">
                  <a:moveTo>
                    <a:pt x="0" y="0"/>
                  </a:moveTo>
                  <a:lnTo>
                    <a:pt x="522685" y="0"/>
                  </a:lnTo>
                  <a:lnTo>
                    <a:pt x="522685" y="781307"/>
                  </a:lnTo>
                  <a:lnTo>
                    <a:pt x="0" y="781307"/>
                  </a:lnTo>
                  <a:close/>
                </a:path>
              </a:pathLst>
            </a:custGeom>
            <a:blipFill>
              <a:blip r:embed="rId3">
                <a:alphaModFix amt="0"/>
              </a:blip>
              <a:stretch>
                <a:fillRect l="-110403" r="-110402" b="16364"/>
              </a:stretch>
            </a:blipFill>
          </p:spPr>
        </p:sp>
        <p:sp>
          <p:nvSpPr>
            <p:cNvPr id="12" name="TextBox 12"/>
            <p:cNvSpPr txBox="1"/>
            <p:nvPr/>
          </p:nvSpPr>
          <p:spPr>
            <a:xfrm>
              <a:off x="0" y="0"/>
              <a:ext cx="522681" cy="781304"/>
            </a:xfrm>
            <a:prstGeom prst="rect">
              <a:avLst/>
            </a:prstGeom>
          </p:spPr>
          <p:txBody>
            <a:bodyPr lIns="0" tIns="0" rIns="0" bIns="0" rtlCol="0" anchor="ctr"/>
            <a:lstStyle/>
            <a:p>
              <a:pPr algn="ctr">
                <a:lnSpc>
                  <a:spcPts val="3600"/>
                </a:lnSpc>
              </a:pPr>
              <a:r>
                <a:rPr lang="en-US" sz="3000">
                  <a:solidFill>
                    <a:srgbClr val="2B2E3C"/>
                  </a:solidFill>
                  <a:latin typeface="Merriweather"/>
                  <a:ea typeface="Merriweather"/>
                  <a:cs typeface="Merriweather"/>
                  <a:sym typeface="Merriweather"/>
                </a:rPr>
                <a:t>1</a:t>
              </a:r>
            </a:p>
          </p:txBody>
        </p:sp>
      </p:grpSp>
      <p:sp>
        <p:nvSpPr>
          <p:cNvPr id="13" name="TextBox 13"/>
          <p:cNvSpPr txBox="1"/>
          <p:nvPr/>
        </p:nvSpPr>
        <p:spPr>
          <a:xfrm>
            <a:off x="2229745" y="2325738"/>
            <a:ext cx="3025497" cy="403250"/>
          </a:xfrm>
          <a:prstGeom prst="rect">
            <a:avLst/>
          </a:prstGeom>
        </p:spPr>
        <p:txBody>
          <a:bodyPr lIns="0" tIns="0" rIns="0" bIns="0" rtlCol="0" anchor="t">
            <a:spAutoFit/>
          </a:bodyPr>
          <a:lstStyle/>
          <a:p>
            <a:pPr algn="l">
              <a:lnSpc>
                <a:spcPts val="3244"/>
              </a:lnSpc>
            </a:pPr>
            <a:r>
              <a:rPr lang="en-US" sz="2600">
                <a:solidFill>
                  <a:srgbClr val="2B2E3C"/>
                </a:solidFill>
                <a:latin typeface="Merriweather"/>
                <a:ea typeface="Merriweather"/>
                <a:cs typeface="Merriweather"/>
                <a:sym typeface="Merriweather"/>
              </a:rPr>
              <a:t>Solution Approach</a:t>
            </a:r>
          </a:p>
        </p:txBody>
      </p:sp>
      <p:sp>
        <p:nvSpPr>
          <p:cNvPr id="14" name="TextBox 14"/>
          <p:cNvSpPr txBox="1"/>
          <p:nvPr/>
        </p:nvSpPr>
        <p:spPr>
          <a:xfrm>
            <a:off x="2229745" y="2811809"/>
            <a:ext cx="14853637" cy="1268197"/>
          </a:xfrm>
          <a:prstGeom prst="rect">
            <a:avLst/>
          </a:prstGeom>
        </p:spPr>
        <p:txBody>
          <a:bodyPr lIns="0" tIns="0" rIns="0" bIns="0" rtlCol="0" anchor="t">
            <a:spAutoFit/>
          </a:bodyPr>
          <a:lstStyle/>
          <a:p>
            <a:pPr algn="l">
              <a:lnSpc>
                <a:spcPts val="3379"/>
              </a:lnSpc>
            </a:pPr>
            <a:r>
              <a:rPr lang="en-US" sz="2199">
                <a:solidFill>
                  <a:srgbClr val="2B2E3C"/>
                </a:solidFill>
                <a:latin typeface="Roboto"/>
                <a:ea typeface="Roboto"/>
                <a:cs typeface="Roboto"/>
                <a:sym typeface="Roboto"/>
              </a:rPr>
              <a:t>UniQueue addresses campus resource congestion by centralizing bookings into one real-time web platform. Users can view availability, make reservations, and join a FIFO waitlist when capacity is full. Role-Based Access Control ensures students, lecturers, and bus drivers only access the functions and resources relevant to their roles.</a:t>
            </a:r>
          </a:p>
        </p:txBody>
      </p:sp>
      <p:grpSp>
        <p:nvGrpSpPr>
          <p:cNvPr id="15" name="Group 15"/>
          <p:cNvGrpSpPr/>
          <p:nvPr/>
        </p:nvGrpSpPr>
        <p:grpSpPr>
          <a:xfrm>
            <a:off x="900408" y="4609652"/>
            <a:ext cx="16487184" cy="2366220"/>
            <a:chOff x="0" y="0"/>
            <a:chExt cx="21982913" cy="3154959"/>
          </a:xfrm>
        </p:grpSpPr>
        <p:sp>
          <p:nvSpPr>
            <p:cNvPr id="16" name="Freeform 16"/>
            <p:cNvSpPr/>
            <p:nvPr/>
          </p:nvSpPr>
          <p:spPr>
            <a:xfrm>
              <a:off x="19050" y="19050"/>
              <a:ext cx="21944839" cy="3116961"/>
            </a:xfrm>
            <a:custGeom>
              <a:avLst/>
              <a:gdLst/>
              <a:ahLst/>
              <a:cxnLst/>
              <a:rect l="l" t="t" r="r" b="b"/>
              <a:pathLst>
                <a:path w="21944839" h="3116961">
                  <a:moveTo>
                    <a:pt x="0" y="146431"/>
                  </a:moveTo>
                  <a:cubicBezTo>
                    <a:pt x="0" y="65532"/>
                    <a:pt x="66167" y="0"/>
                    <a:pt x="147955" y="0"/>
                  </a:cubicBezTo>
                  <a:lnTo>
                    <a:pt x="21796883" y="0"/>
                  </a:lnTo>
                  <a:cubicBezTo>
                    <a:pt x="21878545" y="0"/>
                    <a:pt x="21944839" y="65532"/>
                    <a:pt x="21944839" y="146431"/>
                  </a:cubicBezTo>
                  <a:lnTo>
                    <a:pt x="21944839" y="2970530"/>
                  </a:lnTo>
                  <a:cubicBezTo>
                    <a:pt x="21944839" y="3051429"/>
                    <a:pt x="21878671" y="3116961"/>
                    <a:pt x="21796883" y="3116961"/>
                  </a:cubicBezTo>
                  <a:lnTo>
                    <a:pt x="147955" y="3116961"/>
                  </a:lnTo>
                  <a:cubicBezTo>
                    <a:pt x="66294" y="3116961"/>
                    <a:pt x="0" y="3051429"/>
                    <a:pt x="0" y="2970530"/>
                  </a:cubicBezTo>
                  <a:close/>
                </a:path>
              </a:pathLst>
            </a:custGeom>
            <a:solidFill>
              <a:srgbClr val="FFF8F0"/>
            </a:solidFill>
          </p:spPr>
        </p:sp>
        <p:sp>
          <p:nvSpPr>
            <p:cNvPr id="17" name="Freeform 17"/>
            <p:cNvSpPr/>
            <p:nvPr/>
          </p:nvSpPr>
          <p:spPr>
            <a:xfrm>
              <a:off x="0" y="0"/>
              <a:ext cx="21982939" cy="3155061"/>
            </a:xfrm>
            <a:custGeom>
              <a:avLst/>
              <a:gdLst/>
              <a:ahLst/>
              <a:cxnLst/>
              <a:rect l="l" t="t" r="r" b="b"/>
              <a:pathLst>
                <a:path w="21982939" h="3155061">
                  <a:moveTo>
                    <a:pt x="0" y="165481"/>
                  </a:moveTo>
                  <a:cubicBezTo>
                    <a:pt x="0" y="73914"/>
                    <a:pt x="74930" y="0"/>
                    <a:pt x="167005" y="0"/>
                  </a:cubicBezTo>
                  <a:lnTo>
                    <a:pt x="21815933" y="0"/>
                  </a:lnTo>
                  <a:lnTo>
                    <a:pt x="21815933" y="19050"/>
                  </a:lnTo>
                  <a:lnTo>
                    <a:pt x="21815933" y="0"/>
                  </a:lnTo>
                  <a:cubicBezTo>
                    <a:pt x="21908008" y="0"/>
                    <a:pt x="21982939" y="73914"/>
                    <a:pt x="21982939" y="165481"/>
                  </a:cubicBezTo>
                  <a:lnTo>
                    <a:pt x="21963889" y="165481"/>
                  </a:lnTo>
                  <a:lnTo>
                    <a:pt x="21982939" y="165481"/>
                  </a:lnTo>
                  <a:lnTo>
                    <a:pt x="21982939" y="2989580"/>
                  </a:lnTo>
                  <a:lnTo>
                    <a:pt x="21963889" y="2989580"/>
                  </a:lnTo>
                  <a:lnTo>
                    <a:pt x="21982939" y="2989580"/>
                  </a:lnTo>
                  <a:cubicBezTo>
                    <a:pt x="21982939" y="3081147"/>
                    <a:pt x="21908008" y="3155061"/>
                    <a:pt x="21815933" y="3155061"/>
                  </a:cubicBezTo>
                  <a:lnTo>
                    <a:pt x="21815933" y="3136011"/>
                  </a:lnTo>
                  <a:lnTo>
                    <a:pt x="21815933" y="3155061"/>
                  </a:lnTo>
                  <a:lnTo>
                    <a:pt x="167005" y="3155061"/>
                  </a:lnTo>
                  <a:lnTo>
                    <a:pt x="167005" y="3136011"/>
                  </a:lnTo>
                  <a:lnTo>
                    <a:pt x="167005" y="3155061"/>
                  </a:lnTo>
                  <a:cubicBezTo>
                    <a:pt x="74930" y="3154934"/>
                    <a:pt x="0" y="3081147"/>
                    <a:pt x="0" y="2989580"/>
                  </a:cubicBezTo>
                  <a:lnTo>
                    <a:pt x="0" y="165481"/>
                  </a:lnTo>
                  <a:lnTo>
                    <a:pt x="19050" y="165481"/>
                  </a:lnTo>
                  <a:lnTo>
                    <a:pt x="0" y="165481"/>
                  </a:lnTo>
                  <a:moveTo>
                    <a:pt x="38100" y="165481"/>
                  </a:moveTo>
                  <a:lnTo>
                    <a:pt x="38100" y="2989580"/>
                  </a:lnTo>
                  <a:lnTo>
                    <a:pt x="19050" y="2989580"/>
                  </a:lnTo>
                  <a:lnTo>
                    <a:pt x="38100" y="2989580"/>
                  </a:lnTo>
                  <a:cubicBezTo>
                    <a:pt x="38100" y="3059684"/>
                    <a:pt x="95631" y="3116834"/>
                    <a:pt x="167005" y="3116834"/>
                  </a:cubicBezTo>
                  <a:lnTo>
                    <a:pt x="21815933" y="3116834"/>
                  </a:lnTo>
                  <a:cubicBezTo>
                    <a:pt x="21887307" y="3116834"/>
                    <a:pt x="21944839" y="3059684"/>
                    <a:pt x="21944839" y="2989580"/>
                  </a:cubicBezTo>
                  <a:lnTo>
                    <a:pt x="21944839" y="165481"/>
                  </a:lnTo>
                  <a:cubicBezTo>
                    <a:pt x="21944839" y="95377"/>
                    <a:pt x="21887307" y="38227"/>
                    <a:pt x="21815933" y="38227"/>
                  </a:cubicBezTo>
                  <a:lnTo>
                    <a:pt x="167005" y="38227"/>
                  </a:lnTo>
                  <a:lnTo>
                    <a:pt x="167005" y="19050"/>
                  </a:lnTo>
                  <a:lnTo>
                    <a:pt x="167005" y="38100"/>
                  </a:lnTo>
                  <a:cubicBezTo>
                    <a:pt x="95631" y="38100"/>
                    <a:pt x="38100" y="95250"/>
                    <a:pt x="38100" y="165481"/>
                  </a:cubicBezTo>
                  <a:close/>
                </a:path>
              </a:pathLst>
            </a:custGeom>
            <a:solidFill>
              <a:srgbClr val="E2C8B5"/>
            </a:solidFill>
          </p:spPr>
        </p:sp>
      </p:grpSp>
      <p:grpSp>
        <p:nvGrpSpPr>
          <p:cNvPr id="18" name="Group 18"/>
          <p:cNvGrpSpPr/>
          <p:nvPr/>
        </p:nvGrpSpPr>
        <p:grpSpPr>
          <a:xfrm>
            <a:off x="943270" y="4652515"/>
            <a:ext cx="1045521" cy="2280495"/>
            <a:chOff x="0" y="0"/>
            <a:chExt cx="1394028" cy="3040659"/>
          </a:xfrm>
        </p:grpSpPr>
        <p:sp>
          <p:nvSpPr>
            <p:cNvPr id="19" name="Freeform 19"/>
            <p:cNvSpPr/>
            <p:nvPr/>
          </p:nvSpPr>
          <p:spPr>
            <a:xfrm>
              <a:off x="0" y="0"/>
              <a:ext cx="1394206" cy="3040761"/>
            </a:xfrm>
            <a:custGeom>
              <a:avLst/>
              <a:gdLst/>
              <a:ahLst/>
              <a:cxnLst/>
              <a:rect l="l" t="t" r="r" b="b"/>
              <a:pathLst>
                <a:path w="1394206" h="3040761">
                  <a:moveTo>
                    <a:pt x="0" y="100711"/>
                  </a:moveTo>
                  <a:cubicBezTo>
                    <a:pt x="0" y="45085"/>
                    <a:pt x="45085" y="0"/>
                    <a:pt x="100711" y="0"/>
                  </a:cubicBezTo>
                  <a:lnTo>
                    <a:pt x="1293495" y="0"/>
                  </a:lnTo>
                  <a:cubicBezTo>
                    <a:pt x="1349121" y="0"/>
                    <a:pt x="1394206" y="45085"/>
                    <a:pt x="1394206" y="100711"/>
                  </a:cubicBezTo>
                  <a:lnTo>
                    <a:pt x="1394206" y="2940050"/>
                  </a:lnTo>
                  <a:cubicBezTo>
                    <a:pt x="1394206" y="2995676"/>
                    <a:pt x="1349121" y="3040761"/>
                    <a:pt x="1293495" y="3040761"/>
                  </a:cubicBezTo>
                  <a:lnTo>
                    <a:pt x="100711" y="3040761"/>
                  </a:lnTo>
                  <a:cubicBezTo>
                    <a:pt x="45085" y="3040761"/>
                    <a:pt x="0" y="2995676"/>
                    <a:pt x="0" y="2940050"/>
                  </a:cubicBezTo>
                  <a:close/>
                </a:path>
              </a:pathLst>
            </a:custGeom>
            <a:solidFill>
              <a:srgbClr val="FCE2CF"/>
            </a:solidFill>
          </p:spPr>
        </p:sp>
      </p:grpSp>
      <p:grpSp>
        <p:nvGrpSpPr>
          <p:cNvPr id="20" name="Group 20"/>
          <p:cNvGrpSpPr/>
          <p:nvPr/>
        </p:nvGrpSpPr>
        <p:grpSpPr>
          <a:xfrm>
            <a:off x="1265187" y="5547722"/>
            <a:ext cx="392011" cy="585978"/>
            <a:chOff x="0" y="0"/>
            <a:chExt cx="522681" cy="781304"/>
          </a:xfrm>
        </p:grpSpPr>
        <p:sp>
          <p:nvSpPr>
            <p:cNvPr id="21" name="Freeform 21"/>
            <p:cNvSpPr/>
            <p:nvPr/>
          </p:nvSpPr>
          <p:spPr>
            <a:xfrm>
              <a:off x="0" y="0"/>
              <a:ext cx="522685" cy="781307"/>
            </a:xfrm>
            <a:custGeom>
              <a:avLst/>
              <a:gdLst/>
              <a:ahLst/>
              <a:cxnLst/>
              <a:rect l="l" t="t" r="r" b="b"/>
              <a:pathLst>
                <a:path w="522685" h="781307">
                  <a:moveTo>
                    <a:pt x="0" y="0"/>
                  </a:moveTo>
                  <a:lnTo>
                    <a:pt x="522685" y="0"/>
                  </a:lnTo>
                  <a:lnTo>
                    <a:pt x="522685" y="781307"/>
                  </a:lnTo>
                  <a:lnTo>
                    <a:pt x="0" y="781307"/>
                  </a:lnTo>
                  <a:close/>
                </a:path>
              </a:pathLst>
            </a:custGeom>
            <a:blipFill>
              <a:blip r:embed="rId3">
                <a:alphaModFix amt="0"/>
              </a:blip>
              <a:stretch>
                <a:fillRect l="-110403" r="-110402" b="16364"/>
              </a:stretch>
            </a:blipFill>
          </p:spPr>
        </p:sp>
        <p:sp>
          <p:nvSpPr>
            <p:cNvPr id="22" name="TextBox 22"/>
            <p:cNvSpPr txBox="1"/>
            <p:nvPr/>
          </p:nvSpPr>
          <p:spPr>
            <a:xfrm>
              <a:off x="0" y="0"/>
              <a:ext cx="522681" cy="781304"/>
            </a:xfrm>
            <a:prstGeom prst="rect">
              <a:avLst/>
            </a:prstGeom>
          </p:spPr>
          <p:txBody>
            <a:bodyPr lIns="0" tIns="0" rIns="0" bIns="0" rtlCol="0" anchor="ctr"/>
            <a:lstStyle/>
            <a:p>
              <a:pPr algn="ctr">
                <a:lnSpc>
                  <a:spcPts val="3600"/>
                </a:lnSpc>
              </a:pPr>
              <a:r>
                <a:rPr lang="en-US" sz="3000">
                  <a:solidFill>
                    <a:srgbClr val="2B2E3C"/>
                  </a:solidFill>
                  <a:latin typeface="Merriweather"/>
                  <a:ea typeface="Merriweather"/>
                  <a:cs typeface="Merriweather"/>
                  <a:sym typeface="Merriweather"/>
                </a:rPr>
                <a:t>2</a:t>
              </a:r>
            </a:p>
          </p:txBody>
        </p:sp>
      </p:grpSp>
      <p:sp>
        <p:nvSpPr>
          <p:cNvPr id="23" name="TextBox 23"/>
          <p:cNvSpPr txBox="1"/>
          <p:nvPr/>
        </p:nvSpPr>
        <p:spPr>
          <a:xfrm>
            <a:off x="2229745" y="4904337"/>
            <a:ext cx="4786551" cy="403250"/>
          </a:xfrm>
          <a:prstGeom prst="rect">
            <a:avLst/>
          </a:prstGeom>
        </p:spPr>
        <p:txBody>
          <a:bodyPr lIns="0" tIns="0" rIns="0" bIns="0" rtlCol="0" anchor="t">
            <a:spAutoFit/>
          </a:bodyPr>
          <a:lstStyle/>
          <a:p>
            <a:pPr algn="l">
              <a:lnSpc>
                <a:spcPts val="3244"/>
              </a:lnSpc>
            </a:pPr>
            <a:r>
              <a:rPr lang="en-US" sz="2600">
                <a:solidFill>
                  <a:srgbClr val="2B2E3C"/>
                </a:solidFill>
                <a:latin typeface="Merriweather"/>
                <a:ea typeface="Merriweather"/>
                <a:cs typeface="Merriweather"/>
                <a:sym typeface="Merriweather"/>
              </a:rPr>
              <a:t>Resources (Hardware &amp; Data)</a:t>
            </a:r>
          </a:p>
        </p:txBody>
      </p:sp>
      <p:sp>
        <p:nvSpPr>
          <p:cNvPr id="24" name="TextBox 24"/>
          <p:cNvSpPr txBox="1"/>
          <p:nvPr/>
        </p:nvSpPr>
        <p:spPr>
          <a:xfrm>
            <a:off x="2229745" y="5390407"/>
            <a:ext cx="14853637" cy="1268197"/>
          </a:xfrm>
          <a:prstGeom prst="rect">
            <a:avLst/>
          </a:prstGeom>
        </p:spPr>
        <p:txBody>
          <a:bodyPr lIns="0" tIns="0" rIns="0" bIns="0" rtlCol="0" anchor="t">
            <a:spAutoFit/>
          </a:bodyPr>
          <a:lstStyle/>
          <a:p>
            <a:pPr algn="l">
              <a:lnSpc>
                <a:spcPts val="3379"/>
              </a:lnSpc>
            </a:pPr>
            <a:r>
              <a:rPr lang="en-US" sz="2199">
                <a:solidFill>
                  <a:srgbClr val="2B2E3C"/>
                </a:solidFill>
                <a:latin typeface="Roboto"/>
                <a:ea typeface="Roboto"/>
                <a:cs typeface="Roboto"/>
                <a:sym typeface="Roboto"/>
              </a:rPr>
              <a:t>No specialized hardware is required. The system runs on standard cloud servers and is accessible through a web browser on any modern device. It relies on three core data types: user profiles, resource capacities and schedules, and timestamped reservation records that support booking history and waitlist order.</a:t>
            </a:r>
          </a:p>
        </p:txBody>
      </p:sp>
      <p:grpSp>
        <p:nvGrpSpPr>
          <p:cNvPr id="25" name="Group 25"/>
          <p:cNvGrpSpPr/>
          <p:nvPr/>
        </p:nvGrpSpPr>
        <p:grpSpPr>
          <a:xfrm>
            <a:off x="900408" y="7188251"/>
            <a:ext cx="16487184" cy="2366220"/>
            <a:chOff x="0" y="0"/>
            <a:chExt cx="21982913" cy="3154959"/>
          </a:xfrm>
        </p:grpSpPr>
        <p:sp>
          <p:nvSpPr>
            <p:cNvPr id="26" name="Freeform 26"/>
            <p:cNvSpPr/>
            <p:nvPr/>
          </p:nvSpPr>
          <p:spPr>
            <a:xfrm>
              <a:off x="19050" y="19050"/>
              <a:ext cx="21944839" cy="3116961"/>
            </a:xfrm>
            <a:custGeom>
              <a:avLst/>
              <a:gdLst/>
              <a:ahLst/>
              <a:cxnLst/>
              <a:rect l="l" t="t" r="r" b="b"/>
              <a:pathLst>
                <a:path w="21944839" h="3116961">
                  <a:moveTo>
                    <a:pt x="0" y="146431"/>
                  </a:moveTo>
                  <a:cubicBezTo>
                    <a:pt x="0" y="65532"/>
                    <a:pt x="66167" y="0"/>
                    <a:pt x="147955" y="0"/>
                  </a:cubicBezTo>
                  <a:lnTo>
                    <a:pt x="21796883" y="0"/>
                  </a:lnTo>
                  <a:cubicBezTo>
                    <a:pt x="21878545" y="0"/>
                    <a:pt x="21944839" y="65532"/>
                    <a:pt x="21944839" y="146431"/>
                  </a:cubicBezTo>
                  <a:lnTo>
                    <a:pt x="21944839" y="2970530"/>
                  </a:lnTo>
                  <a:cubicBezTo>
                    <a:pt x="21944839" y="3051429"/>
                    <a:pt x="21878671" y="3116961"/>
                    <a:pt x="21796883" y="3116961"/>
                  </a:cubicBezTo>
                  <a:lnTo>
                    <a:pt x="147955" y="3116961"/>
                  </a:lnTo>
                  <a:cubicBezTo>
                    <a:pt x="66294" y="3116961"/>
                    <a:pt x="0" y="3051429"/>
                    <a:pt x="0" y="2970530"/>
                  </a:cubicBezTo>
                  <a:close/>
                </a:path>
              </a:pathLst>
            </a:custGeom>
            <a:solidFill>
              <a:srgbClr val="FFF8F0"/>
            </a:solidFill>
          </p:spPr>
        </p:sp>
        <p:sp>
          <p:nvSpPr>
            <p:cNvPr id="27" name="Freeform 27"/>
            <p:cNvSpPr/>
            <p:nvPr/>
          </p:nvSpPr>
          <p:spPr>
            <a:xfrm>
              <a:off x="0" y="0"/>
              <a:ext cx="21982939" cy="3155061"/>
            </a:xfrm>
            <a:custGeom>
              <a:avLst/>
              <a:gdLst/>
              <a:ahLst/>
              <a:cxnLst/>
              <a:rect l="l" t="t" r="r" b="b"/>
              <a:pathLst>
                <a:path w="21982939" h="3155061">
                  <a:moveTo>
                    <a:pt x="0" y="165481"/>
                  </a:moveTo>
                  <a:cubicBezTo>
                    <a:pt x="0" y="73914"/>
                    <a:pt x="74930" y="0"/>
                    <a:pt x="167005" y="0"/>
                  </a:cubicBezTo>
                  <a:lnTo>
                    <a:pt x="21815933" y="0"/>
                  </a:lnTo>
                  <a:lnTo>
                    <a:pt x="21815933" y="19050"/>
                  </a:lnTo>
                  <a:lnTo>
                    <a:pt x="21815933" y="0"/>
                  </a:lnTo>
                  <a:cubicBezTo>
                    <a:pt x="21908008" y="0"/>
                    <a:pt x="21982939" y="73914"/>
                    <a:pt x="21982939" y="165481"/>
                  </a:cubicBezTo>
                  <a:lnTo>
                    <a:pt x="21963889" y="165481"/>
                  </a:lnTo>
                  <a:lnTo>
                    <a:pt x="21982939" y="165481"/>
                  </a:lnTo>
                  <a:lnTo>
                    <a:pt x="21982939" y="2989580"/>
                  </a:lnTo>
                  <a:lnTo>
                    <a:pt x="21963889" y="2989580"/>
                  </a:lnTo>
                  <a:lnTo>
                    <a:pt x="21982939" y="2989580"/>
                  </a:lnTo>
                  <a:cubicBezTo>
                    <a:pt x="21982939" y="3081147"/>
                    <a:pt x="21908008" y="3155061"/>
                    <a:pt x="21815933" y="3155061"/>
                  </a:cubicBezTo>
                  <a:lnTo>
                    <a:pt x="21815933" y="3136011"/>
                  </a:lnTo>
                  <a:lnTo>
                    <a:pt x="21815933" y="3155061"/>
                  </a:lnTo>
                  <a:lnTo>
                    <a:pt x="167005" y="3155061"/>
                  </a:lnTo>
                  <a:lnTo>
                    <a:pt x="167005" y="3136011"/>
                  </a:lnTo>
                  <a:lnTo>
                    <a:pt x="167005" y="3155061"/>
                  </a:lnTo>
                  <a:cubicBezTo>
                    <a:pt x="74930" y="3154934"/>
                    <a:pt x="0" y="3081147"/>
                    <a:pt x="0" y="2989580"/>
                  </a:cubicBezTo>
                  <a:lnTo>
                    <a:pt x="0" y="165481"/>
                  </a:lnTo>
                  <a:lnTo>
                    <a:pt x="19050" y="165481"/>
                  </a:lnTo>
                  <a:lnTo>
                    <a:pt x="0" y="165481"/>
                  </a:lnTo>
                  <a:moveTo>
                    <a:pt x="38100" y="165481"/>
                  </a:moveTo>
                  <a:lnTo>
                    <a:pt x="38100" y="2989580"/>
                  </a:lnTo>
                  <a:lnTo>
                    <a:pt x="19050" y="2989580"/>
                  </a:lnTo>
                  <a:lnTo>
                    <a:pt x="38100" y="2989580"/>
                  </a:lnTo>
                  <a:cubicBezTo>
                    <a:pt x="38100" y="3059684"/>
                    <a:pt x="95631" y="3116834"/>
                    <a:pt x="167005" y="3116834"/>
                  </a:cubicBezTo>
                  <a:lnTo>
                    <a:pt x="21815933" y="3116834"/>
                  </a:lnTo>
                  <a:cubicBezTo>
                    <a:pt x="21887307" y="3116834"/>
                    <a:pt x="21944839" y="3059684"/>
                    <a:pt x="21944839" y="2989580"/>
                  </a:cubicBezTo>
                  <a:lnTo>
                    <a:pt x="21944839" y="165481"/>
                  </a:lnTo>
                  <a:cubicBezTo>
                    <a:pt x="21944839" y="95377"/>
                    <a:pt x="21887307" y="38227"/>
                    <a:pt x="21815933" y="38227"/>
                  </a:cubicBezTo>
                  <a:lnTo>
                    <a:pt x="167005" y="38227"/>
                  </a:lnTo>
                  <a:lnTo>
                    <a:pt x="167005" y="19050"/>
                  </a:lnTo>
                  <a:lnTo>
                    <a:pt x="167005" y="38100"/>
                  </a:lnTo>
                  <a:cubicBezTo>
                    <a:pt x="95631" y="38100"/>
                    <a:pt x="38100" y="95250"/>
                    <a:pt x="38100" y="165481"/>
                  </a:cubicBezTo>
                  <a:close/>
                </a:path>
              </a:pathLst>
            </a:custGeom>
            <a:solidFill>
              <a:srgbClr val="E2C8B5"/>
            </a:solidFill>
          </p:spPr>
        </p:sp>
      </p:grpSp>
      <p:grpSp>
        <p:nvGrpSpPr>
          <p:cNvPr id="28" name="Group 28"/>
          <p:cNvGrpSpPr/>
          <p:nvPr/>
        </p:nvGrpSpPr>
        <p:grpSpPr>
          <a:xfrm>
            <a:off x="943270" y="7231113"/>
            <a:ext cx="1045521" cy="2280495"/>
            <a:chOff x="0" y="0"/>
            <a:chExt cx="1394028" cy="3040659"/>
          </a:xfrm>
        </p:grpSpPr>
        <p:sp>
          <p:nvSpPr>
            <p:cNvPr id="29" name="Freeform 29"/>
            <p:cNvSpPr/>
            <p:nvPr/>
          </p:nvSpPr>
          <p:spPr>
            <a:xfrm>
              <a:off x="0" y="0"/>
              <a:ext cx="1394206" cy="3040761"/>
            </a:xfrm>
            <a:custGeom>
              <a:avLst/>
              <a:gdLst/>
              <a:ahLst/>
              <a:cxnLst/>
              <a:rect l="l" t="t" r="r" b="b"/>
              <a:pathLst>
                <a:path w="1394206" h="3040761">
                  <a:moveTo>
                    <a:pt x="0" y="100711"/>
                  </a:moveTo>
                  <a:cubicBezTo>
                    <a:pt x="0" y="45085"/>
                    <a:pt x="45085" y="0"/>
                    <a:pt x="100711" y="0"/>
                  </a:cubicBezTo>
                  <a:lnTo>
                    <a:pt x="1293495" y="0"/>
                  </a:lnTo>
                  <a:cubicBezTo>
                    <a:pt x="1349121" y="0"/>
                    <a:pt x="1394206" y="45085"/>
                    <a:pt x="1394206" y="100711"/>
                  </a:cubicBezTo>
                  <a:lnTo>
                    <a:pt x="1394206" y="2940050"/>
                  </a:lnTo>
                  <a:cubicBezTo>
                    <a:pt x="1394206" y="2995676"/>
                    <a:pt x="1349121" y="3040761"/>
                    <a:pt x="1293495" y="3040761"/>
                  </a:cubicBezTo>
                  <a:lnTo>
                    <a:pt x="100711" y="3040761"/>
                  </a:lnTo>
                  <a:cubicBezTo>
                    <a:pt x="45085" y="3040761"/>
                    <a:pt x="0" y="2995676"/>
                    <a:pt x="0" y="2940050"/>
                  </a:cubicBezTo>
                  <a:close/>
                </a:path>
              </a:pathLst>
            </a:custGeom>
            <a:solidFill>
              <a:srgbClr val="FCE2CF"/>
            </a:solidFill>
          </p:spPr>
        </p:sp>
      </p:grpSp>
      <p:grpSp>
        <p:nvGrpSpPr>
          <p:cNvPr id="30" name="Group 30"/>
          <p:cNvGrpSpPr/>
          <p:nvPr/>
        </p:nvGrpSpPr>
        <p:grpSpPr>
          <a:xfrm>
            <a:off x="1265187" y="8126311"/>
            <a:ext cx="392011" cy="585978"/>
            <a:chOff x="0" y="0"/>
            <a:chExt cx="522681" cy="781304"/>
          </a:xfrm>
        </p:grpSpPr>
        <p:sp>
          <p:nvSpPr>
            <p:cNvPr id="31" name="Freeform 31"/>
            <p:cNvSpPr/>
            <p:nvPr/>
          </p:nvSpPr>
          <p:spPr>
            <a:xfrm>
              <a:off x="0" y="0"/>
              <a:ext cx="522685" cy="781307"/>
            </a:xfrm>
            <a:custGeom>
              <a:avLst/>
              <a:gdLst/>
              <a:ahLst/>
              <a:cxnLst/>
              <a:rect l="l" t="t" r="r" b="b"/>
              <a:pathLst>
                <a:path w="522685" h="781307">
                  <a:moveTo>
                    <a:pt x="0" y="0"/>
                  </a:moveTo>
                  <a:lnTo>
                    <a:pt x="522685" y="0"/>
                  </a:lnTo>
                  <a:lnTo>
                    <a:pt x="522685" y="781307"/>
                  </a:lnTo>
                  <a:lnTo>
                    <a:pt x="0" y="781307"/>
                  </a:lnTo>
                  <a:close/>
                </a:path>
              </a:pathLst>
            </a:custGeom>
            <a:blipFill>
              <a:blip r:embed="rId3">
                <a:alphaModFix amt="0"/>
              </a:blip>
              <a:stretch>
                <a:fillRect l="-110403" r="-110402" b="16364"/>
              </a:stretch>
            </a:blipFill>
          </p:spPr>
        </p:sp>
        <p:sp>
          <p:nvSpPr>
            <p:cNvPr id="32" name="TextBox 32"/>
            <p:cNvSpPr txBox="1"/>
            <p:nvPr/>
          </p:nvSpPr>
          <p:spPr>
            <a:xfrm>
              <a:off x="0" y="0"/>
              <a:ext cx="522681" cy="781304"/>
            </a:xfrm>
            <a:prstGeom prst="rect">
              <a:avLst/>
            </a:prstGeom>
          </p:spPr>
          <p:txBody>
            <a:bodyPr lIns="0" tIns="0" rIns="0" bIns="0" rtlCol="0" anchor="ctr"/>
            <a:lstStyle/>
            <a:p>
              <a:pPr algn="ctr">
                <a:lnSpc>
                  <a:spcPts val="3600"/>
                </a:lnSpc>
              </a:pPr>
              <a:r>
                <a:rPr lang="en-US" sz="3000">
                  <a:solidFill>
                    <a:srgbClr val="2B2E3C"/>
                  </a:solidFill>
                  <a:latin typeface="Merriweather"/>
                  <a:ea typeface="Merriweather"/>
                  <a:cs typeface="Merriweather"/>
                  <a:sym typeface="Merriweather"/>
                </a:rPr>
                <a:t>3</a:t>
              </a:r>
            </a:p>
          </p:txBody>
        </p:sp>
      </p:grpSp>
      <p:sp>
        <p:nvSpPr>
          <p:cNvPr id="33" name="TextBox 33"/>
          <p:cNvSpPr txBox="1"/>
          <p:nvPr/>
        </p:nvSpPr>
        <p:spPr>
          <a:xfrm>
            <a:off x="2229745" y="7482926"/>
            <a:ext cx="4019550" cy="403250"/>
          </a:xfrm>
          <a:prstGeom prst="rect">
            <a:avLst/>
          </a:prstGeom>
        </p:spPr>
        <p:txBody>
          <a:bodyPr lIns="0" tIns="0" rIns="0" bIns="0" rtlCol="0" anchor="t">
            <a:spAutoFit/>
          </a:bodyPr>
          <a:lstStyle/>
          <a:p>
            <a:pPr algn="l">
              <a:lnSpc>
                <a:spcPts val="3244"/>
              </a:lnSpc>
            </a:pPr>
            <a:r>
              <a:rPr lang="en-US" sz="2600">
                <a:solidFill>
                  <a:srgbClr val="2B2E3C"/>
                </a:solidFill>
                <a:latin typeface="Merriweather"/>
                <a:ea typeface="Merriweather"/>
                <a:cs typeface="Merriweather"/>
                <a:sym typeface="Merriweather"/>
              </a:rPr>
              <a:t>Technologies &amp; Methods</a:t>
            </a:r>
          </a:p>
        </p:txBody>
      </p:sp>
      <p:sp>
        <p:nvSpPr>
          <p:cNvPr id="34" name="TextBox 34"/>
          <p:cNvSpPr txBox="1"/>
          <p:nvPr/>
        </p:nvSpPr>
        <p:spPr>
          <a:xfrm>
            <a:off x="2229745" y="7969006"/>
            <a:ext cx="14853637" cy="1268197"/>
          </a:xfrm>
          <a:prstGeom prst="rect">
            <a:avLst/>
          </a:prstGeom>
        </p:spPr>
        <p:txBody>
          <a:bodyPr lIns="0" tIns="0" rIns="0" bIns="0" rtlCol="0" anchor="t">
            <a:spAutoFit/>
          </a:bodyPr>
          <a:lstStyle/>
          <a:p>
            <a:pPr algn="l">
              <a:lnSpc>
                <a:spcPts val="3379"/>
              </a:lnSpc>
            </a:pPr>
            <a:r>
              <a:rPr lang="en-US" sz="2199">
                <a:solidFill>
                  <a:srgbClr val="2B2E3C"/>
                </a:solidFill>
                <a:latin typeface="Roboto"/>
                <a:ea typeface="Roboto"/>
                <a:cs typeface="Roboto"/>
                <a:sym typeface="Roboto"/>
              </a:rPr>
              <a:t>The system follows a client-server architecture with a Node.js and Express backend, a Vanilla JavaScript frontend, and a Microsoft SQL Server database. Pessimistic SQL locking is used to preserve data integrity during concurrent bookings. JWT handles authentication, while bcrypt secures passwords through hashing.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8F0"/>
            </a:solidFill>
          </p:spPr>
        </p:sp>
      </p:grpSp>
      <p:sp>
        <p:nvSpPr>
          <p:cNvPr id="4" name="TextBox 4"/>
          <p:cNvSpPr txBox="1"/>
          <p:nvPr/>
        </p:nvSpPr>
        <p:spPr>
          <a:xfrm>
            <a:off x="1960358" y="673294"/>
            <a:ext cx="7183641" cy="614592"/>
          </a:xfrm>
          <a:prstGeom prst="rect">
            <a:avLst/>
          </a:prstGeom>
        </p:spPr>
        <p:txBody>
          <a:bodyPr wrap="square" lIns="0" tIns="0" rIns="0" bIns="0" rtlCol="0" anchor="t">
            <a:spAutoFit/>
          </a:bodyPr>
          <a:lstStyle/>
          <a:p>
            <a:pPr algn="l">
              <a:lnSpc>
                <a:spcPts val="4992"/>
              </a:lnSpc>
            </a:pPr>
            <a:r>
              <a:rPr lang="en-US" sz="4000" dirty="0">
                <a:solidFill>
                  <a:srgbClr val="2C3F42"/>
                </a:solidFill>
                <a:latin typeface="Merriweather"/>
                <a:ea typeface="Merriweather"/>
                <a:cs typeface="Merriweather"/>
                <a:sym typeface="Merriweather"/>
              </a:rPr>
              <a:t>Technologies &amp; Methods</a:t>
            </a:r>
          </a:p>
        </p:txBody>
      </p:sp>
      <p:grpSp>
        <p:nvGrpSpPr>
          <p:cNvPr id="5" name="Group 5"/>
          <p:cNvGrpSpPr/>
          <p:nvPr/>
        </p:nvGrpSpPr>
        <p:grpSpPr>
          <a:xfrm>
            <a:off x="1946072" y="1634433"/>
            <a:ext cx="14395704" cy="1969141"/>
            <a:chOff x="0" y="0"/>
            <a:chExt cx="19194272" cy="2625522"/>
          </a:xfrm>
        </p:grpSpPr>
        <p:sp>
          <p:nvSpPr>
            <p:cNvPr id="6" name="Freeform 6"/>
            <p:cNvSpPr/>
            <p:nvPr/>
          </p:nvSpPr>
          <p:spPr>
            <a:xfrm>
              <a:off x="19050" y="19050"/>
              <a:ext cx="19156173" cy="2587371"/>
            </a:xfrm>
            <a:custGeom>
              <a:avLst/>
              <a:gdLst/>
              <a:ahLst/>
              <a:cxnLst/>
              <a:rect l="l" t="t" r="r" b="b"/>
              <a:pathLst>
                <a:path w="19156173" h="2587371">
                  <a:moveTo>
                    <a:pt x="0" y="116586"/>
                  </a:moveTo>
                  <a:cubicBezTo>
                    <a:pt x="0" y="52197"/>
                    <a:pt x="52832" y="0"/>
                    <a:pt x="118110" y="0"/>
                  </a:cubicBezTo>
                  <a:lnTo>
                    <a:pt x="19038063" y="0"/>
                  </a:lnTo>
                  <a:cubicBezTo>
                    <a:pt x="19103341" y="0"/>
                    <a:pt x="19156173" y="52197"/>
                    <a:pt x="19156173" y="116586"/>
                  </a:cubicBezTo>
                  <a:lnTo>
                    <a:pt x="19156173" y="2470785"/>
                  </a:lnTo>
                  <a:cubicBezTo>
                    <a:pt x="19156173" y="2535174"/>
                    <a:pt x="19103341" y="2587371"/>
                    <a:pt x="19038063" y="2587371"/>
                  </a:cubicBezTo>
                  <a:lnTo>
                    <a:pt x="118110" y="2587371"/>
                  </a:lnTo>
                  <a:cubicBezTo>
                    <a:pt x="52832" y="2587371"/>
                    <a:pt x="0" y="2535174"/>
                    <a:pt x="0" y="2470785"/>
                  </a:cubicBezTo>
                  <a:close/>
                </a:path>
              </a:pathLst>
            </a:custGeom>
            <a:solidFill>
              <a:srgbClr val="FFF8F0"/>
            </a:solidFill>
          </p:spPr>
        </p:sp>
        <p:sp>
          <p:nvSpPr>
            <p:cNvPr id="7" name="Freeform 7"/>
            <p:cNvSpPr/>
            <p:nvPr/>
          </p:nvSpPr>
          <p:spPr>
            <a:xfrm>
              <a:off x="0" y="0"/>
              <a:ext cx="19194273" cy="2625471"/>
            </a:xfrm>
            <a:custGeom>
              <a:avLst/>
              <a:gdLst/>
              <a:ahLst/>
              <a:cxnLst/>
              <a:rect l="l" t="t" r="r" b="b"/>
              <a:pathLst>
                <a:path w="19194273" h="2625471">
                  <a:moveTo>
                    <a:pt x="0" y="135636"/>
                  </a:moveTo>
                  <a:cubicBezTo>
                    <a:pt x="0" y="60452"/>
                    <a:pt x="61595" y="0"/>
                    <a:pt x="137160" y="0"/>
                  </a:cubicBezTo>
                  <a:lnTo>
                    <a:pt x="19057113" y="0"/>
                  </a:lnTo>
                  <a:lnTo>
                    <a:pt x="19057113" y="19050"/>
                  </a:lnTo>
                  <a:lnTo>
                    <a:pt x="19057113" y="0"/>
                  </a:lnTo>
                  <a:cubicBezTo>
                    <a:pt x="19132677" y="0"/>
                    <a:pt x="19194273" y="60452"/>
                    <a:pt x="19194273" y="135636"/>
                  </a:cubicBezTo>
                  <a:lnTo>
                    <a:pt x="19175223" y="135636"/>
                  </a:lnTo>
                  <a:lnTo>
                    <a:pt x="19194273" y="135636"/>
                  </a:lnTo>
                  <a:lnTo>
                    <a:pt x="19194273" y="2489835"/>
                  </a:lnTo>
                  <a:lnTo>
                    <a:pt x="19175223" y="2489835"/>
                  </a:lnTo>
                  <a:lnTo>
                    <a:pt x="19194273" y="2489835"/>
                  </a:lnTo>
                  <a:cubicBezTo>
                    <a:pt x="19194273" y="2565019"/>
                    <a:pt x="19132677" y="2625471"/>
                    <a:pt x="19057113" y="2625471"/>
                  </a:cubicBezTo>
                  <a:lnTo>
                    <a:pt x="19057113" y="2606421"/>
                  </a:lnTo>
                  <a:lnTo>
                    <a:pt x="19057113" y="2625471"/>
                  </a:lnTo>
                  <a:lnTo>
                    <a:pt x="137160" y="2625471"/>
                  </a:lnTo>
                  <a:lnTo>
                    <a:pt x="137160" y="2606421"/>
                  </a:lnTo>
                  <a:lnTo>
                    <a:pt x="137160" y="2625471"/>
                  </a:lnTo>
                  <a:cubicBezTo>
                    <a:pt x="61595" y="2625471"/>
                    <a:pt x="0" y="2565019"/>
                    <a:pt x="0" y="2489835"/>
                  </a:cubicBezTo>
                  <a:lnTo>
                    <a:pt x="0" y="135636"/>
                  </a:lnTo>
                  <a:lnTo>
                    <a:pt x="19050" y="135636"/>
                  </a:lnTo>
                  <a:lnTo>
                    <a:pt x="0" y="135636"/>
                  </a:lnTo>
                  <a:moveTo>
                    <a:pt x="38100" y="135636"/>
                  </a:moveTo>
                  <a:lnTo>
                    <a:pt x="38100" y="2489835"/>
                  </a:lnTo>
                  <a:lnTo>
                    <a:pt x="19050" y="2489835"/>
                  </a:lnTo>
                  <a:lnTo>
                    <a:pt x="38100" y="2489835"/>
                  </a:lnTo>
                  <a:cubicBezTo>
                    <a:pt x="38100" y="2543429"/>
                    <a:pt x="82169" y="2587371"/>
                    <a:pt x="137160" y="2587371"/>
                  </a:cubicBezTo>
                  <a:lnTo>
                    <a:pt x="19057113" y="2587371"/>
                  </a:lnTo>
                  <a:cubicBezTo>
                    <a:pt x="19112103" y="2587371"/>
                    <a:pt x="19156173" y="2543429"/>
                    <a:pt x="19156173" y="2489835"/>
                  </a:cubicBezTo>
                  <a:lnTo>
                    <a:pt x="19156173" y="135636"/>
                  </a:lnTo>
                  <a:cubicBezTo>
                    <a:pt x="19156173" y="82042"/>
                    <a:pt x="19112103" y="38100"/>
                    <a:pt x="19057113" y="38100"/>
                  </a:cubicBezTo>
                  <a:lnTo>
                    <a:pt x="137160" y="38100"/>
                  </a:lnTo>
                  <a:lnTo>
                    <a:pt x="137160" y="19050"/>
                  </a:lnTo>
                  <a:lnTo>
                    <a:pt x="137160" y="38100"/>
                  </a:lnTo>
                  <a:cubicBezTo>
                    <a:pt x="82169" y="38100"/>
                    <a:pt x="38100" y="82042"/>
                    <a:pt x="38100" y="135636"/>
                  </a:cubicBezTo>
                  <a:close/>
                </a:path>
              </a:pathLst>
            </a:custGeom>
            <a:solidFill>
              <a:srgbClr val="E2C8B5"/>
            </a:solidFill>
          </p:spPr>
        </p:sp>
      </p:grpSp>
      <p:grpSp>
        <p:nvGrpSpPr>
          <p:cNvPr id="8" name="Group 8"/>
          <p:cNvGrpSpPr/>
          <p:nvPr/>
        </p:nvGrpSpPr>
        <p:grpSpPr>
          <a:xfrm>
            <a:off x="1988944" y="1677295"/>
            <a:ext cx="832837" cy="1883416"/>
            <a:chOff x="0" y="0"/>
            <a:chExt cx="1110450" cy="2511222"/>
          </a:xfrm>
        </p:grpSpPr>
        <p:sp>
          <p:nvSpPr>
            <p:cNvPr id="9" name="Freeform 9"/>
            <p:cNvSpPr/>
            <p:nvPr/>
          </p:nvSpPr>
          <p:spPr>
            <a:xfrm>
              <a:off x="0" y="0"/>
              <a:ext cx="1110488" cy="2511171"/>
            </a:xfrm>
            <a:custGeom>
              <a:avLst/>
              <a:gdLst/>
              <a:ahLst/>
              <a:cxnLst/>
              <a:rect l="l" t="t" r="r" b="b"/>
              <a:pathLst>
                <a:path w="1110488" h="2511171">
                  <a:moveTo>
                    <a:pt x="0" y="70866"/>
                  </a:moveTo>
                  <a:cubicBezTo>
                    <a:pt x="0" y="31750"/>
                    <a:pt x="31750" y="0"/>
                    <a:pt x="70866" y="0"/>
                  </a:cubicBezTo>
                  <a:lnTo>
                    <a:pt x="1039622" y="0"/>
                  </a:lnTo>
                  <a:cubicBezTo>
                    <a:pt x="1078738" y="0"/>
                    <a:pt x="1110488" y="31750"/>
                    <a:pt x="1110488" y="70866"/>
                  </a:cubicBezTo>
                  <a:lnTo>
                    <a:pt x="1110488" y="2440305"/>
                  </a:lnTo>
                  <a:cubicBezTo>
                    <a:pt x="1110488" y="2479421"/>
                    <a:pt x="1078738" y="2511171"/>
                    <a:pt x="1039622" y="2511171"/>
                  </a:cubicBezTo>
                  <a:lnTo>
                    <a:pt x="70866" y="2511171"/>
                  </a:lnTo>
                  <a:cubicBezTo>
                    <a:pt x="31750" y="2511171"/>
                    <a:pt x="0" y="2479421"/>
                    <a:pt x="0" y="2440305"/>
                  </a:cubicBezTo>
                  <a:close/>
                </a:path>
              </a:pathLst>
            </a:custGeom>
            <a:solidFill>
              <a:srgbClr val="FCE2CF"/>
            </a:solidFill>
          </p:spPr>
        </p:sp>
      </p:grpSp>
      <p:grpSp>
        <p:nvGrpSpPr>
          <p:cNvPr id="10" name="Group 10"/>
          <p:cNvGrpSpPr/>
          <p:nvPr/>
        </p:nvGrpSpPr>
        <p:grpSpPr>
          <a:xfrm>
            <a:off x="2244481" y="2423817"/>
            <a:ext cx="312239" cy="464972"/>
            <a:chOff x="0" y="0"/>
            <a:chExt cx="416319" cy="619963"/>
          </a:xfrm>
        </p:grpSpPr>
        <p:sp>
          <p:nvSpPr>
            <p:cNvPr id="11" name="Freeform 11"/>
            <p:cNvSpPr/>
            <p:nvPr/>
          </p:nvSpPr>
          <p:spPr>
            <a:xfrm>
              <a:off x="0" y="0"/>
              <a:ext cx="416323" cy="619968"/>
            </a:xfrm>
            <a:custGeom>
              <a:avLst/>
              <a:gdLst/>
              <a:ahLst/>
              <a:cxnLst/>
              <a:rect l="l" t="t" r="r" b="b"/>
              <a:pathLst>
                <a:path w="416323" h="619968">
                  <a:moveTo>
                    <a:pt x="0" y="0"/>
                  </a:moveTo>
                  <a:lnTo>
                    <a:pt x="416323" y="0"/>
                  </a:lnTo>
                  <a:lnTo>
                    <a:pt x="416323" y="619968"/>
                  </a:lnTo>
                  <a:lnTo>
                    <a:pt x="0" y="619968"/>
                  </a:lnTo>
                  <a:close/>
                </a:path>
              </a:pathLst>
            </a:custGeom>
            <a:blipFill>
              <a:blip r:embed="rId3">
                <a:alphaModFix amt="0"/>
              </a:blip>
              <a:stretch>
                <a:fillRect l="-110408" r="-110407" b="16044"/>
              </a:stretch>
            </a:blipFill>
          </p:spPr>
        </p:sp>
        <p:sp>
          <p:nvSpPr>
            <p:cNvPr id="12" name="TextBox 12"/>
            <p:cNvSpPr txBox="1"/>
            <p:nvPr/>
          </p:nvSpPr>
          <p:spPr>
            <a:xfrm>
              <a:off x="0" y="0"/>
              <a:ext cx="416319" cy="619963"/>
            </a:xfrm>
            <a:prstGeom prst="rect">
              <a:avLst/>
            </a:prstGeom>
          </p:spPr>
          <p:txBody>
            <a:bodyPr lIns="0" tIns="0" rIns="0" bIns="0" rtlCol="0" anchor="ctr"/>
            <a:lstStyle/>
            <a:p>
              <a:pPr algn="ctr">
                <a:lnSpc>
                  <a:spcPts val="2879"/>
                </a:lnSpc>
              </a:pPr>
              <a:r>
                <a:rPr lang="en-US" sz="2400">
                  <a:solidFill>
                    <a:srgbClr val="2B2E3C"/>
                  </a:solidFill>
                  <a:latin typeface="Merriweather"/>
                  <a:ea typeface="Merriweather"/>
                  <a:cs typeface="Merriweather"/>
                  <a:sym typeface="Merriweather"/>
                </a:rPr>
                <a:t>1</a:t>
              </a:r>
            </a:p>
          </p:txBody>
        </p:sp>
      </p:grpSp>
      <p:sp>
        <p:nvSpPr>
          <p:cNvPr id="13" name="TextBox 13"/>
          <p:cNvSpPr txBox="1"/>
          <p:nvPr/>
        </p:nvSpPr>
        <p:spPr>
          <a:xfrm>
            <a:off x="2974629" y="1875977"/>
            <a:ext cx="3454360" cy="366370"/>
          </a:xfrm>
          <a:prstGeom prst="rect">
            <a:avLst/>
          </a:prstGeom>
        </p:spPr>
        <p:txBody>
          <a:bodyPr lIns="0" tIns="0" rIns="0" bIns="0" rtlCol="0" anchor="t">
            <a:spAutoFit/>
          </a:bodyPr>
          <a:lstStyle/>
          <a:p>
            <a:pPr algn="l">
              <a:lnSpc>
                <a:spcPts val="2995"/>
              </a:lnSpc>
            </a:pPr>
            <a:r>
              <a:rPr lang="en-US" sz="2399">
                <a:solidFill>
                  <a:srgbClr val="2B2E3C"/>
                </a:solidFill>
                <a:latin typeface="Merriweather"/>
                <a:ea typeface="Merriweather"/>
                <a:cs typeface="Merriweather"/>
                <a:sym typeface="Merriweather"/>
              </a:rPr>
              <a:t>Frontend (Client-Side)</a:t>
            </a:r>
          </a:p>
        </p:txBody>
      </p:sp>
      <p:sp>
        <p:nvSpPr>
          <p:cNvPr id="14" name="TextBox 14"/>
          <p:cNvSpPr txBox="1"/>
          <p:nvPr/>
        </p:nvSpPr>
        <p:spPr>
          <a:xfrm>
            <a:off x="2974629" y="2254891"/>
            <a:ext cx="13116077" cy="1056132"/>
          </a:xfrm>
          <a:prstGeom prst="rect">
            <a:avLst/>
          </a:prstGeom>
        </p:spPr>
        <p:txBody>
          <a:bodyPr lIns="0" tIns="0" rIns="0" bIns="0" rtlCol="0" anchor="t">
            <a:spAutoFit/>
          </a:bodyPr>
          <a:lstStyle/>
          <a:p>
            <a:pPr algn="l">
              <a:lnSpc>
                <a:spcPts val="2783"/>
              </a:lnSpc>
            </a:pPr>
            <a:r>
              <a:rPr lang="en-US" sz="1999" b="1">
                <a:solidFill>
                  <a:srgbClr val="2B2E3C"/>
                </a:solidFill>
                <a:latin typeface="Roboto Bold"/>
                <a:ea typeface="Roboto Bold"/>
                <a:cs typeface="Roboto Bold"/>
                <a:sym typeface="Roboto Bold"/>
              </a:rPr>
              <a:t>HTML5:</a:t>
            </a:r>
            <a:r>
              <a:rPr lang="en-US" sz="1999">
                <a:solidFill>
                  <a:srgbClr val="2B2E3C"/>
                </a:solidFill>
                <a:latin typeface="Roboto"/>
                <a:ea typeface="Roboto"/>
                <a:cs typeface="Roboto"/>
                <a:sym typeface="Roboto"/>
              </a:rPr>
              <a:t> Provides the semantic structure and layout of the web application.</a:t>
            </a:r>
          </a:p>
          <a:p>
            <a:pPr algn="l">
              <a:lnSpc>
                <a:spcPts val="2783"/>
              </a:lnSpc>
            </a:pPr>
            <a:r>
              <a:rPr lang="en-US" sz="1999" b="1">
                <a:solidFill>
                  <a:srgbClr val="2B2E3C"/>
                </a:solidFill>
                <a:latin typeface="Roboto Bold"/>
                <a:ea typeface="Roboto Bold"/>
                <a:cs typeface="Roboto Bold"/>
                <a:sym typeface="Roboto Bold"/>
              </a:rPr>
              <a:t>Vanilla CSS3:</a:t>
            </a:r>
            <a:r>
              <a:rPr lang="en-US" sz="1999">
                <a:solidFill>
                  <a:srgbClr val="2B2E3C"/>
                </a:solidFill>
                <a:latin typeface="Roboto"/>
                <a:ea typeface="Roboto"/>
                <a:cs typeface="Roboto"/>
                <a:sym typeface="Roboto"/>
              </a:rPr>
              <a:t> Handles all styling, theming, and responsive design without the need for external CSS frameworks.</a:t>
            </a:r>
          </a:p>
          <a:p>
            <a:pPr algn="l">
              <a:lnSpc>
                <a:spcPts val="2783"/>
              </a:lnSpc>
            </a:pPr>
            <a:r>
              <a:rPr lang="en-US" sz="1999" b="1">
                <a:solidFill>
                  <a:srgbClr val="2B2E3C"/>
                </a:solidFill>
                <a:latin typeface="Roboto Bold"/>
                <a:ea typeface="Roboto Bold"/>
                <a:cs typeface="Roboto Bold"/>
                <a:sym typeface="Roboto Bold"/>
              </a:rPr>
              <a:t>Vanilla JavaScript (ES6+):</a:t>
            </a:r>
            <a:r>
              <a:rPr lang="en-US" sz="1999">
                <a:solidFill>
                  <a:srgbClr val="2B2E3C"/>
                </a:solidFill>
                <a:latin typeface="Roboto"/>
                <a:ea typeface="Roboto"/>
                <a:cs typeface="Roboto"/>
                <a:sym typeface="Roboto"/>
              </a:rPr>
              <a:t> Controls the client-side logic, DOM manipulation, and dynamic UI updates.</a:t>
            </a:r>
          </a:p>
        </p:txBody>
      </p:sp>
      <p:grpSp>
        <p:nvGrpSpPr>
          <p:cNvPr id="15" name="Group 15"/>
          <p:cNvGrpSpPr/>
          <p:nvPr/>
        </p:nvGrpSpPr>
        <p:grpSpPr>
          <a:xfrm>
            <a:off x="1946072" y="3727847"/>
            <a:ext cx="14395704" cy="1877473"/>
            <a:chOff x="0" y="0"/>
            <a:chExt cx="19194272" cy="2503297"/>
          </a:xfrm>
        </p:grpSpPr>
        <p:sp>
          <p:nvSpPr>
            <p:cNvPr id="16" name="Freeform 16"/>
            <p:cNvSpPr/>
            <p:nvPr/>
          </p:nvSpPr>
          <p:spPr>
            <a:xfrm>
              <a:off x="19050" y="19050"/>
              <a:ext cx="19156046" cy="2465197"/>
            </a:xfrm>
            <a:custGeom>
              <a:avLst/>
              <a:gdLst/>
              <a:ahLst/>
              <a:cxnLst/>
              <a:rect l="l" t="t" r="r" b="b"/>
              <a:pathLst>
                <a:path w="19156046" h="2465197">
                  <a:moveTo>
                    <a:pt x="0" y="116586"/>
                  </a:moveTo>
                  <a:cubicBezTo>
                    <a:pt x="0" y="52197"/>
                    <a:pt x="52959" y="0"/>
                    <a:pt x="118110" y="0"/>
                  </a:cubicBezTo>
                  <a:lnTo>
                    <a:pt x="19037936" y="0"/>
                  </a:lnTo>
                  <a:cubicBezTo>
                    <a:pt x="19103214" y="0"/>
                    <a:pt x="19156046" y="52197"/>
                    <a:pt x="19156046" y="116586"/>
                  </a:cubicBezTo>
                  <a:lnTo>
                    <a:pt x="19156046" y="2348611"/>
                  </a:lnTo>
                  <a:cubicBezTo>
                    <a:pt x="19156046" y="2413000"/>
                    <a:pt x="19103087" y="2465197"/>
                    <a:pt x="19037936" y="2465197"/>
                  </a:cubicBezTo>
                  <a:lnTo>
                    <a:pt x="118110" y="2465197"/>
                  </a:lnTo>
                  <a:cubicBezTo>
                    <a:pt x="52832" y="2465197"/>
                    <a:pt x="0" y="2413000"/>
                    <a:pt x="0" y="2348611"/>
                  </a:cubicBezTo>
                  <a:close/>
                </a:path>
              </a:pathLst>
            </a:custGeom>
            <a:solidFill>
              <a:srgbClr val="FFF8F0"/>
            </a:solidFill>
          </p:spPr>
        </p:sp>
        <p:sp>
          <p:nvSpPr>
            <p:cNvPr id="17" name="Freeform 17"/>
            <p:cNvSpPr/>
            <p:nvPr/>
          </p:nvSpPr>
          <p:spPr>
            <a:xfrm>
              <a:off x="0" y="0"/>
              <a:ext cx="19194146" cy="2503297"/>
            </a:xfrm>
            <a:custGeom>
              <a:avLst/>
              <a:gdLst/>
              <a:ahLst/>
              <a:cxnLst/>
              <a:rect l="l" t="t" r="r" b="b"/>
              <a:pathLst>
                <a:path w="19194146" h="2503297">
                  <a:moveTo>
                    <a:pt x="0" y="135636"/>
                  </a:moveTo>
                  <a:cubicBezTo>
                    <a:pt x="0" y="60452"/>
                    <a:pt x="61722" y="0"/>
                    <a:pt x="137160" y="0"/>
                  </a:cubicBezTo>
                  <a:lnTo>
                    <a:pt x="19056986" y="0"/>
                  </a:lnTo>
                  <a:lnTo>
                    <a:pt x="19056986" y="19050"/>
                  </a:lnTo>
                  <a:lnTo>
                    <a:pt x="19056986" y="0"/>
                  </a:lnTo>
                  <a:cubicBezTo>
                    <a:pt x="19132550" y="0"/>
                    <a:pt x="19194146" y="60452"/>
                    <a:pt x="19194146" y="135636"/>
                  </a:cubicBezTo>
                  <a:lnTo>
                    <a:pt x="19175096" y="135636"/>
                  </a:lnTo>
                  <a:lnTo>
                    <a:pt x="19194146" y="135636"/>
                  </a:lnTo>
                  <a:lnTo>
                    <a:pt x="19194146" y="2367661"/>
                  </a:lnTo>
                  <a:lnTo>
                    <a:pt x="19175096" y="2367661"/>
                  </a:lnTo>
                  <a:lnTo>
                    <a:pt x="19194146" y="2367661"/>
                  </a:lnTo>
                  <a:cubicBezTo>
                    <a:pt x="19194146" y="2442845"/>
                    <a:pt x="19132423" y="2503297"/>
                    <a:pt x="19056986" y="2503297"/>
                  </a:cubicBezTo>
                  <a:lnTo>
                    <a:pt x="19056986" y="2484247"/>
                  </a:lnTo>
                  <a:lnTo>
                    <a:pt x="19056986" y="2503297"/>
                  </a:lnTo>
                  <a:lnTo>
                    <a:pt x="137160" y="2503297"/>
                  </a:lnTo>
                  <a:lnTo>
                    <a:pt x="137160" y="2484247"/>
                  </a:lnTo>
                  <a:lnTo>
                    <a:pt x="137160" y="2503297"/>
                  </a:lnTo>
                  <a:cubicBezTo>
                    <a:pt x="61595" y="2503297"/>
                    <a:pt x="0" y="2442845"/>
                    <a:pt x="0" y="2367661"/>
                  </a:cubicBezTo>
                  <a:lnTo>
                    <a:pt x="0" y="135636"/>
                  </a:lnTo>
                  <a:lnTo>
                    <a:pt x="19050" y="135636"/>
                  </a:lnTo>
                  <a:lnTo>
                    <a:pt x="0" y="135636"/>
                  </a:lnTo>
                  <a:moveTo>
                    <a:pt x="38100" y="135636"/>
                  </a:moveTo>
                  <a:lnTo>
                    <a:pt x="38100" y="2367661"/>
                  </a:lnTo>
                  <a:lnTo>
                    <a:pt x="19050" y="2367661"/>
                  </a:lnTo>
                  <a:lnTo>
                    <a:pt x="38100" y="2367661"/>
                  </a:lnTo>
                  <a:cubicBezTo>
                    <a:pt x="38100" y="2421255"/>
                    <a:pt x="82296" y="2465197"/>
                    <a:pt x="137160" y="2465197"/>
                  </a:cubicBezTo>
                  <a:lnTo>
                    <a:pt x="19056986" y="2465197"/>
                  </a:lnTo>
                  <a:cubicBezTo>
                    <a:pt x="19111976" y="2465197"/>
                    <a:pt x="19156046" y="2421255"/>
                    <a:pt x="19156046" y="2367661"/>
                  </a:cubicBezTo>
                  <a:lnTo>
                    <a:pt x="19156046" y="135636"/>
                  </a:lnTo>
                  <a:cubicBezTo>
                    <a:pt x="19156046" y="82042"/>
                    <a:pt x="19111849" y="38100"/>
                    <a:pt x="19056986" y="38100"/>
                  </a:cubicBezTo>
                  <a:lnTo>
                    <a:pt x="137160" y="38100"/>
                  </a:lnTo>
                  <a:lnTo>
                    <a:pt x="137160" y="19050"/>
                  </a:lnTo>
                  <a:lnTo>
                    <a:pt x="137160" y="38100"/>
                  </a:lnTo>
                  <a:cubicBezTo>
                    <a:pt x="82296" y="38100"/>
                    <a:pt x="38100" y="82042"/>
                    <a:pt x="38100" y="135636"/>
                  </a:cubicBezTo>
                  <a:close/>
                </a:path>
              </a:pathLst>
            </a:custGeom>
            <a:solidFill>
              <a:srgbClr val="E2C8B5"/>
            </a:solidFill>
          </p:spPr>
        </p:sp>
      </p:grpSp>
      <p:grpSp>
        <p:nvGrpSpPr>
          <p:cNvPr id="18" name="Group 18"/>
          <p:cNvGrpSpPr/>
          <p:nvPr/>
        </p:nvGrpSpPr>
        <p:grpSpPr>
          <a:xfrm>
            <a:off x="1988944" y="3770709"/>
            <a:ext cx="832837" cy="1791738"/>
            <a:chOff x="0" y="0"/>
            <a:chExt cx="1110450" cy="2388984"/>
          </a:xfrm>
        </p:grpSpPr>
        <p:sp>
          <p:nvSpPr>
            <p:cNvPr id="19" name="Freeform 19"/>
            <p:cNvSpPr/>
            <p:nvPr/>
          </p:nvSpPr>
          <p:spPr>
            <a:xfrm>
              <a:off x="0" y="0"/>
              <a:ext cx="1110488" cy="2388997"/>
            </a:xfrm>
            <a:custGeom>
              <a:avLst/>
              <a:gdLst/>
              <a:ahLst/>
              <a:cxnLst/>
              <a:rect l="l" t="t" r="r" b="b"/>
              <a:pathLst>
                <a:path w="1110488" h="2388997">
                  <a:moveTo>
                    <a:pt x="0" y="70866"/>
                  </a:moveTo>
                  <a:cubicBezTo>
                    <a:pt x="0" y="31750"/>
                    <a:pt x="31750" y="0"/>
                    <a:pt x="70866" y="0"/>
                  </a:cubicBezTo>
                  <a:lnTo>
                    <a:pt x="1039622" y="0"/>
                  </a:lnTo>
                  <a:cubicBezTo>
                    <a:pt x="1078738" y="0"/>
                    <a:pt x="1110488" y="31750"/>
                    <a:pt x="1110488" y="70866"/>
                  </a:cubicBezTo>
                  <a:lnTo>
                    <a:pt x="1110488" y="2318131"/>
                  </a:lnTo>
                  <a:cubicBezTo>
                    <a:pt x="1110488" y="2357247"/>
                    <a:pt x="1078738" y="2388997"/>
                    <a:pt x="1039622" y="2388997"/>
                  </a:cubicBezTo>
                  <a:lnTo>
                    <a:pt x="70866" y="2388997"/>
                  </a:lnTo>
                  <a:cubicBezTo>
                    <a:pt x="31750" y="2388997"/>
                    <a:pt x="0" y="2357247"/>
                    <a:pt x="0" y="2318131"/>
                  </a:cubicBezTo>
                  <a:close/>
                </a:path>
              </a:pathLst>
            </a:custGeom>
            <a:solidFill>
              <a:srgbClr val="FCE2CF"/>
            </a:solidFill>
          </p:spPr>
        </p:sp>
      </p:grpSp>
      <p:grpSp>
        <p:nvGrpSpPr>
          <p:cNvPr id="20" name="Group 20"/>
          <p:cNvGrpSpPr/>
          <p:nvPr/>
        </p:nvGrpSpPr>
        <p:grpSpPr>
          <a:xfrm>
            <a:off x="2244481" y="4471387"/>
            <a:ext cx="312239" cy="464972"/>
            <a:chOff x="0" y="0"/>
            <a:chExt cx="416319" cy="619963"/>
          </a:xfrm>
        </p:grpSpPr>
        <p:sp>
          <p:nvSpPr>
            <p:cNvPr id="21" name="Freeform 21"/>
            <p:cNvSpPr/>
            <p:nvPr/>
          </p:nvSpPr>
          <p:spPr>
            <a:xfrm>
              <a:off x="0" y="0"/>
              <a:ext cx="416323" cy="619968"/>
            </a:xfrm>
            <a:custGeom>
              <a:avLst/>
              <a:gdLst/>
              <a:ahLst/>
              <a:cxnLst/>
              <a:rect l="l" t="t" r="r" b="b"/>
              <a:pathLst>
                <a:path w="416323" h="619968">
                  <a:moveTo>
                    <a:pt x="0" y="0"/>
                  </a:moveTo>
                  <a:lnTo>
                    <a:pt x="416323" y="0"/>
                  </a:lnTo>
                  <a:lnTo>
                    <a:pt x="416323" y="619968"/>
                  </a:lnTo>
                  <a:lnTo>
                    <a:pt x="0" y="619968"/>
                  </a:lnTo>
                  <a:close/>
                </a:path>
              </a:pathLst>
            </a:custGeom>
            <a:blipFill>
              <a:blip r:embed="rId3">
                <a:alphaModFix amt="0"/>
              </a:blip>
              <a:stretch>
                <a:fillRect l="-110408" r="-110407" b="16044"/>
              </a:stretch>
            </a:blipFill>
          </p:spPr>
        </p:sp>
        <p:sp>
          <p:nvSpPr>
            <p:cNvPr id="22" name="TextBox 22"/>
            <p:cNvSpPr txBox="1"/>
            <p:nvPr/>
          </p:nvSpPr>
          <p:spPr>
            <a:xfrm>
              <a:off x="0" y="0"/>
              <a:ext cx="416319" cy="619963"/>
            </a:xfrm>
            <a:prstGeom prst="rect">
              <a:avLst/>
            </a:prstGeom>
          </p:spPr>
          <p:txBody>
            <a:bodyPr lIns="0" tIns="0" rIns="0" bIns="0" rtlCol="0" anchor="ctr"/>
            <a:lstStyle/>
            <a:p>
              <a:pPr algn="ctr">
                <a:lnSpc>
                  <a:spcPts val="2879"/>
                </a:lnSpc>
              </a:pPr>
              <a:r>
                <a:rPr lang="en-US" sz="2400">
                  <a:solidFill>
                    <a:srgbClr val="2B2E3C"/>
                  </a:solidFill>
                  <a:latin typeface="Merriweather"/>
                  <a:ea typeface="Merriweather"/>
                  <a:cs typeface="Merriweather"/>
                  <a:sym typeface="Merriweather"/>
                </a:rPr>
                <a:t>2</a:t>
              </a:r>
            </a:p>
          </p:txBody>
        </p:sp>
      </p:grpSp>
      <p:sp>
        <p:nvSpPr>
          <p:cNvPr id="23" name="TextBox 23"/>
          <p:cNvSpPr txBox="1"/>
          <p:nvPr/>
        </p:nvSpPr>
        <p:spPr>
          <a:xfrm>
            <a:off x="2974629" y="3969391"/>
            <a:ext cx="3404116" cy="366370"/>
          </a:xfrm>
          <a:prstGeom prst="rect">
            <a:avLst/>
          </a:prstGeom>
        </p:spPr>
        <p:txBody>
          <a:bodyPr lIns="0" tIns="0" rIns="0" bIns="0" rtlCol="0" anchor="t">
            <a:spAutoFit/>
          </a:bodyPr>
          <a:lstStyle/>
          <a:p>
            <a:pPr algn="l">
              <a:lnSpc>
                <a:spcPts val="2995"/>
              </a:lnSpc>
            </a:pPr>
            <a:r>
              <a:rPr lang="en-US" sz="2399">
                <a:solidFill>
                  <a:srgbClr val="2B2E3C"/>
                </a:solidFill>
                <a:latin typeface="Merriweather"/>
                <a:ea typeface="Merriweather"/>
                <a:cs typeface="Merriweather"/>
                <a:sym typeface="Merriweather"/>
              </a:rPr>
              <a:t>Backend (Server-Side)</a:t>
            </a:r>
          </a:p>
        </p:txBody>
      </p:sp>
      <p:sp>
        <p:nvSpPr>
          <p:cNvPr id="24" name="TextBox 24"/>
          <p:cNvSpPr txBox="1"/>
          <p:nvPr/>
        </p:nvSpPr>
        <p:spPr>
          <a:xfrm>
            <a:off x="2974629" y="4348315"/>
            <a:ext cx="13116077" cy="1056132"/>
          </a:xfrm>
          <a:prstGeom prst="rect">
            <a:avLst/>
          </a:prstGeom>
        </p:spPr>
        <p:txBody>
          <a:bodyPr lIns="0" tIns="0" rIns="0" bIns="0" rtlCol="0" anchor="t">
            <a:spAutoFit/>
          </a:bodyPr>
          <a:lstStyle/>
          <a:p>
            <a:pPr algn="l">
              <a:lnSpc>
                <a:spcPts val="2783"/>
              </a:lnSpc>
            </a:pPr>
            <a:r>
              <a:rPr lang="en-US" sz="1999" b="1">
                <a:solidFill>
                  <a:srgbClr val="2B2E3C"/>
                </a:solidFill>
                <a:latin typeface="Roboto Bold"/>
                <a:ea typeface="Roboto Bold"/>
                <a:cs typeface="Roboto Bold"/>
                <a:sym typeface="Roboto Bold"/>
              </a:rPr>
              <a:t>Node.js:</a:t>
            </a:r>
            <a:r>
              <a:rPr lang="en-US" sz="1999">
                <a:solidFill>
                  <a:srgbClr val="2B2E3C"/>
                </a:solidFill>
                <a:latin typeface="Roboto"/>
                <a:ea typeface="Roboto"/>
                <a:cs typeface="Roboto"/>
                <a:sym typeface="Roboto"/>
              </a:rPr>
              <a:t> The JavaScript runtime environment that executes the server-side code.</a:t>
            </a:r>
          </a:p>
          <a:p>
            <a:pPr algn="l">
              <a:lnSpc>
                <a:spcPts val="2783"/>
              </a:lnSpc>
            </a:pPr>
            <a:r>
              <a:rPr lang="en-US" sz="1999" b="1">
                <a:solidFill>
                  <a:srgbClr val="2B2E3C"/>
                </a:solidFill>
                <a:latin typeface="Roboto Bold"/>
                <a:ea typeface="Roboto Bold"/>
                <a:cs typeface="Roboto Bold"/>
                <a:sym typeface="Roboto Bold"/>
              </a:rPr>
              <a:t>Express.js:</a:t>
            </a:r>
            <a:r>
              <a:rPr lang="en-US" sz="1999">
                <a:solidFill>
                  <a:srgbClr val="2B2E3C"/>
                </a:solidFill>
                <a:latin typeface="Roboto"/>
                <a:ea typeface="Roboto"/>
                <a:cs typeface="Roboto"/>
                <a:sym typeface="Roboto"/>
              </a:rPr>
              <a:t> A fast, minimalist web framework for Node.js used to set up the RESTful API routes, handle HTTP requests/responses, and manage server middleware.</a:t>
            </a:r>
          </a:p>
        </p:txBody>
      </p:sp>
      <p:grpSp>
        <p:nvGrpSpPr>
          <p:cNvPr id="25" name="Group 25"/>
          <p:cNvGrpSpPr/>
          <p:nvPr/>
        </p:nvGrpSpPr>
        <p:grpSpPr>
          <a:xfrm>
            <a:off x="1946072" y="5729583"/>
            <a:ext cx="14395704" cy="1877473"/>
            <a:chOff x="0" y="0"/>
            <a:chExt cx="19194272" cy="2503297"/>
          </a:xfrm>
        </p:grpSpPr>
        <p:sp>
          <p:nvSpPr>
            <p:cNvPr id="26" name="Freeform 26"/>
            <p:cNvSpPr/>
            <p:nvPr/>
          </p:nvSpPr>
          <p:spPr>
            <a:xfrm>
              <a:off x="19050" y="19050"/>
              <a:ext cx="19156046" cy="2465197"/>
            </a:xfrm>
            <a:custGeom>
              <a:avLst/>
              <a:gdLst/>
              <a:ahLst/>
              <a:cxnLst/>
              <a:rect l="l" t="t" r="r" b="b"/>
              <a:pathLst>
                <a:path w="19156046" h="2465197">
                  <a:moveTo>
                    <a:pt x="0" y="116586"/>
                  </a:moveTo>
                  <a:cubicBezTo>
                    <a:pt x="0" y="52197"/>
                    <a:pt x="52959" y="0"/>
                    <a:pt x="118110" y="0"/>
                  </a:cubicBezTo>
                  <a:lnTo>
                    <a:pt x="19037936" y="0"/>
                  </a:lnTo>
                  <a:cubicBezTo>
                    <a:pt x="19103214" y="0"/>
                    <a:pt x="19156046" y="52197"/>
                    <a:pt x="19156046" y="116586"/>
                  </a:cubicBezTo>
                  <a:lnTo>
                    <a:pt x="19156046" y="2348611"/>
                  </a:lnTo>
                  <a:cubicBezTo>
                    <a:pt x="19156046" y="2413000"/>
                    <a:pt x="19103087" y="2465197"/>
                    <a:pt x="19037936" y="2465197"/>
                  </a:cubicBezTo>
                  <a:lnTo>
                    <a:pt x="118110" y="2465197"/>
                  </a:lnTo>
                  <a:cubicBezTo>
                    <a:pt x="52832" y="2465197"/>
                    <a:pt x="0" y="2413000"/>
                    <a:pt x="0" y="2348611"/>
                  </a:cubicBezTo>
                  <a:close/>
                </a:path>
              </a:pathLst>
            </a:custGeom>
            <a:solidFill>
              <a:srgbClr val="FFF8F0"/>
            </a:solidFill>
          </p:spPr>
        </p:sp>
        <p:sp>
          <p:nvSpPr>
            <p:cNvPr id="27" name="Freeform 27"/>
            <p:cNvSpPr/>
            <p:nvPr/>
          </p:nvSpPr>
          <p:spPr>
            <a:xfrm>
              <a:off x="0" y="0"/>
              <a:ext cx="19194146" cy="2503297"/>
            </a:xfrm>
            <a:custGeom>
              <a:avLst/>
              <a:gdLst/>
              <a:ahLst/>
              <a:cxnLst/>
              <a:rect l="l" t="t" r="r" b="b"/>
              <a:pathLst>
                <a:path w="19194146" h="2503297">
                  <a:moveTo>
                    <a:pt x="0" y="135636"/>
                  </a:moveTo>
                  <a:cubicBezTo>
                    <a:pt x="0" y="60452"/>
                    <a:pt x="61722" y="0"/>
                    <a:pt x="137160" y="0"/>
                  </a:cubicBezTo>
                  <a:lnTo>
                    <a:pt x="19056986" y="0"/>
                  </a:lnTo>
                  <a:lnTo>
                    <a:pt x="19056986" y="19050"/>
                  </a:lnTo>
                  <a:lnTo>
                    <a:pt x="19056986" y="0"/>
                  </a:lnTo>
                  <a:cubicBezTo>
                    <a:pt x="19132550" y="0"/>
                    <a:pt x="19194146" y="60452"/>
                    <a:pt x="19194146" y="135636"/>
                  </a:cubicBezTo>
                  <a:lnTo>
                    <a:pt x="19175096" y="135636"/>
                  </a:lnTo>
                  <a:lnTo>
                    <a:pt x="19194146" y="135636"/>
                  </a:lnTo>
                  <a:lnTo>
                    <a:pt x="19194146" y="2367661"/>
                  </a:lnTo>
                  <a:lnTo>
                    <a:pt x="19175096" y="2367661"/>
                  </a:lnTo>
                  <a:lnTo>
                    <a:pt x="19194146" y="2367661"/>
                  </a:lnTo>
                  <a:cubicBezTo>
                    <a:pt x="19194146" y="2442845"/>
                    <a:pt x="19132423" y="2503297"/>
                    <a:pt x="19056986" y="2503297"/>
                  </a:cubicBezTo>
                  <a:lnTo>
                    <a:pt x="19056986" y="2484247"/>
                  </a:lnTo>
                  <a:lnTo>
                    <a:pt x="19056986" y="2503297"/>
                  </a:lnTo>
                  <a:lnTo>
                    <a:pt x="137160" y="2503297"/>
                  </a:lnTo>
                  <a:lnTo>
                    <a:pt x="137160" y="2484247"/>
                  </a:lnTo>
                  <a:lnTo>
                    <a:pt x="137160" y="2503297"/>
                  </a:lnTo>
                  <a:cubicBezTo>
                    <a:pt x="61595" y="2503297"/>
                    <a:pt x="0" y="2442845"/>
                    <a:pt x="0" y="2367661"/>
                  </a:cubicBezTo>
                  <a:lnTo>
                    <a:pt x="0" y="135636"/>
                  </a:lnTo>
                  <a:lnTo>
                    <a:pt x="19050" y="135636"/>
                  </a:lnTo>
                  <a:lnTo>
                    <a:pt x="0" y="135636"/>
                  </a:lnTo>
                  <a:moveTo>
                    <a:pt x="38100" y="135636"/>
                  </a:moveTo>
                  <a:lnTo>
                    <a:pt x="38100" y="2367661"/>
                  </a:lnTo>
                  <a:lnTo>
                    <a:pt x="19050" y="2367661"/>
                  </a:lnTo>
                  <a:lnTo>
                    <a:pt x="38100" y="2367661"/>
                  </a:lnTo>
                  <a:cubicBezTo>
                    <a:pt x="38100" y="2421255"/>
                    <a:pt x="82296" y="2465197"/>
                    <a:pt x="137160" y="2465197"/>
                  </a:cubicBezTo>
                  <a:lnTo>
                    <a:pt x="19056986" y="2465197"/>
                  </a:lnTo>
                  <a:cubicBezTo>
                    <a:pt x="19111976" y="2465197"/>
                    <a:pt x="19156046" y="2421255"/>
                    <a:pt x="19156046" y="2367661"/>
                  </a:cubicBezTo>
                  <a:lnTo>
                    <a:pt x="19156046" y="135636"/>
                  </a:lnTo>
                  <a:cubicBezTo>
                    <a:pt x="19156046" y="82042"/>
                    <a:pt x="19111849" y="38100"/>
                    <a:pt x="19056986" y="38100"/>
                  </a:cubicBezTo>
                  <a:lnTo>
                    <a:pt x="137160" y="38100"/>
                  </a:lnTo>
                  <a:lnTo>
                    <a:pt x="137160" y="19050"/>
                  </a:lnTo>
                  <a:lnTo>
                    <a:pt x="137160" y="38100"/>
                  </a:lnTo>
                  <a:cubicBezTo>
                    <a:pt x="82296" y="38100"/>
                    <a:pt x="38100" y="82042"/>
                    <a:pt x="38100" y="135636"/>
                  </a:cubicBezTo>
                  <a:close/>
                </a:path>
              </a:pathLst>
            </a:custGeom>
            <a:solidFill>
              <a:srgbClr val="E2C8B5"/>
            </a:solidFill>
          </p:spPr>
        </p:sp>
      </p:grpSp>
      <p:grpSp>
        <p:nvGrpSpPr>
          <p:cNvPr id="28" name="Group 28"/>
          <p:cNvGrpSpPr/>
          <p:nvPr/>
        </p:nvGrpSpPr>
        <p:grpSpPr>
          <a:xfrm>
            <a:off x="1988944" y="5772445"/>
            <a:ext cx="832837" cy="1791738"/>
            <a:chOff x="0" y="0"/>
            <a:chExt cx="1110450" cy="2388984"/>
          </a:xfrm>
        </p:grpSpPr>
        <p:sp>
          <p:nvSpPr>
            <p:cNvPr id="29" name="Freeform 29"/>
            <p:cNvSpPr/>
            <p:nvPr/>
          </p:nvSpPr>
          <p:spPr>
            <a:xfrm>
              <a:off x="0" y="0"/>
              <a:ext cx="1110488" cy="2388997"/>
            </a:xfrm>
            <a:custGeom>
              <a:avLst/>
              <a:gdLst/>
              <a:ahLst/>
              <a:cxnLst/>
              <a:rect l="l" t="t" r="r" b="b"/>
              <a:pathLst>
                <a:path w="1110488" h="2388997">
                  <a:moveTo>
                    <a:pt x="0" y="70866"/>
                  </a:moveTo>
                  <a:cubicBezTo>
                    <a:pt x="0" y="31750"/>
                    <a:pt x="31750" y="0"/>
                    <a:pt x="70866" y="0"/>
                  </a:cubicBezTo>
                  <a:lnTo>
                    <a:pt x="1039622" y="0"/>
                  </a:lnTo>
                  <a:cubicBezTo>
                    <a:pt x="1078738" y="0"/>
                    <a:pt x="1110488" y="31750"/>
                    <a:pt x="1110488" y="70866"/>
                  </a:cubicBezTo>
                  <a:lnTo>
                    <a:pt x="1110488" y="2318131"/>
                  </a:lnTo>
                  <a:cubicBezTo>
                    <a:pt x="1110488" y="2357247"/>
                    <a:pt x="1078738" y="2388997"/>
                    <a:pt x="1039622" y="2388997"/>
                  </a:cubicBezTo>
                  <a:lnTo>
                    <a:pt x="70866" y="2388997"/>
                  </a:lnTo>
                  <a:cubicBezTo>
                    <a:pt x="31750" y="2388997"/>
                    <a:pt x="0" y="2357247"/>
                    <a:pt x="0" y="2318131"/>
                  </a:cubicBezTo>
                  <a:close/>
                </a:path>
              </a:pathLst>
            </a:custGeom>
            <a:solidFill>
              <a:srgbClr val="FCE2CF"/>
            </a:solidFill>
          </p:spPr>
        </p:sp>
      </p:grpSp>
      <p:grpSp>
        <p:nvGrpSpPr>
          <p:cNvPr id="30" name="Group 30"/>
          <p:cNvGrpSpPr/>
          <p:nvPr/>
        </p:nvGrpSpPr>
        <p:grpSpPr>
          <a:xfrm>
            <a:off x="2244481" y="6473133"/>
            <a:ext cx="312239" cy="464972"/>
            <a:chOff x="0" y="0"/>
            <a:chExt cx="416319" cy="619963"/>
          </a:xfrm>
        </p:grpSpPr>
        <p:sp>
          <p:nvSpPr>
            <p:cNvPr id="31" name="Freeform 31"/>
            <p:cNvSpPr/>
            <p:nvPr/>
          </p:nvSpPr>
          <p:spPr>
            <a:xfrm>
              <a:off x="0" y="0"/>
              <a:ext cx="416323" cy="619968"/>
            </a:xfrm>
            <a:custGeom>
              <a:avLst/>
              <a:gdLst/>
              <a:ahLst/>
              <a:cxnLst/>
              <a:rect l="l" t="t" r="r" b="b"/>
              <a:pathLst>
                <a:path w="416323" h="619968">
                  <a:moveTo>
                    <a:pt x="0" y="0"/>
                  </a:moveTo>
                  <a:lnTo>
                    <a:pt x="416323" y="0"/>
                  </a:lnTo>
                  <a:lnTo>
                    <a:pt x="416323" y="619968"/>
                  </a:lnTo>
                  <a:lnTo>
                    <a:pt x="0" y="619968"/>
                  </a:lnTo>
                  <a:close/>
                </a:path>
              </a:pathLst>
            </a:custGeom>
            <a:blipFill>
              <a:blip r:embed="rId3">
                <a:alphaModFix amt="0"/>
              </a:blip>
              <a:stretch>
                <a:fillRect l="-110408" r="-110407" b="16044"/>
              </a:stretch>
            </a:blipFill>
          </p:spPr>
        </p:sp>
        <p:sp>
          <p:nvSpPr>
            <p:cNvPr id="32" name="TextBox 32"/>
            <p:cNvSpPr txBox="1"/>
            <p:nvPr/>
          </p:nvSpPr>
          <p:spPr>
            <a:xfrm>
              <a:off x="0" y="0"/>
              <a:ext cx="416319" cy="619963"/>
            </a:xfrm>
            <a:prstGeom prst="rect">
              <a:avLst/>
            </a:prstGeom>
          </p:spPr>
          <p:txBody>
            <a:bodyPr lIns="0" tIns="0" rIns="0" bIns="0" rtlCol="0" anchor="ctr"/>
            <a:lstStyle/>
            <a:p>
              <a:pPr algn="ctr">
                <a:lnSpc>
                  <a:spcPts val="2879"/>
                </a:lnSpc>
              </a:pPr>
              <a:r>
                <a:rPr lang="en-US" sz="2400">
                  <a:solidFill>
                    <a:srgbClr val="2B2E3C"/>
                  </a:solidFill>
                  <a:latin typeface="Merriweather"/>
                  <a:ea typeface="Merriweather"/>
                  <a:cs typeface="Merriweather"/>
                  <a:sym typeface="Merriweather"/>
                </a:rPr>
                <a:t>3</a:t>
              </a:r>
            </a:p>
          </p:txBody>
        </p:sp>
      </p:grpSp>
      <p:sp>
        <p:nvSpPr>
          <p:cNvPr id="33" name="TextBox 33"/>
          <p:cNvSpPr txBox="1"/>
          <p:nvPr/>
        </p:nvSpPr>
        <p:spPr>
          <a:xfrm>
            <a:off x="2974629" y="5971137"/>
            <a:ext cx="1372553" cy="366370"/>
          </a:xfrm>
          <a:prstGeom prst="rect">
            <a:avLst/>
          </a:prstGeom>
        </p:spPr>
        <p:txBody>
          <a:bodyPr lIns="0" tIns="0" rIns="0" bIns="0" rtlCol="0" anchor="t">
            <a:spAutoFit/>
          </a:bodyPr>
          <a:lstStyle/>
          <a:p>
            <a:pPr algn="l">
              <a:lnSpc>
                <a:spcPts val="2995"/>
              </a:lnSpc>
            </a:pPr>
            <a:r>
              <a:rPr lang="en-US" sz="2399">
                <a:solidFill>
                  <a:srgbClr val="2B2E3C"/>
                </a:solidFill>
                <a:latin typeface="Merriweather"/>
                <a:ea typeface="Merriweather"/>
                <a:cs typeface="Merriweather"/>
                <a:sym typeface="Merriweather"/>
              </a:rPr>
              <a:t>Database</a:t>
            </a:r>
          </a:p>
        </p:txBody>
      </p:sp>
      <p:sp>
        <p:nvSpPr>
          <p:cNvPr id="34" name="TextBox 34"/>
          <p:cNvSpPr txBox="1"/>
          <p:nvPr/>
        </p:nvSpPr>
        <p:spPr>
          <a:xfrm>
            <a:off x="2974629" y="6350051"/>
            <a:ext cx="13116077" cy="1056132"/>
          </a:xfrm>
          <a:prstGeom prst="rect">
            <a:avLst/>
          </a:prstGeom>
        </p:spPr>
        <p:txBody>
          <a:bodyPr lIns="0" tIns="0" rIns="0" bIns="0" rtlCol="0" anchor="t">
            <a:spAutoFit/>
          </a:bodyPr>
          <a:lstStyle/>
          <a:p>
            <a:pPr algn="l">
              <a:lnSpc>
                <a:spcPts val="2783"/>
              </a:lnSpc>
            </a:pPr>
            <a:r>
              <a:rPr lang="en-US" sz="1999" b="1">
                <a:solidFill>
                  <a:srgbClr val="2B2E3C"/>
                </a:solidFill>
                <a:latin typeface="Roboto Bold"/>
                <a:ea typeface="Roboto Bold"/>
                <a:cs typeface="Roboto Bold"/>
                <a:sym typeface="Roboto Bold"/>
              </a:rPr>
              <a:t>Microsoft SQL Server (MSSQL):</a:t>
            </a:r>
            <a:r>
              <a:rPr lang="en-US" sz="1999">
                <a:solidFill>
                  <a:srgbClr val="2B2E3C"/>
                </a:solidFill>
                <a:latin typeface="Roboto"/>
                <a:ea typeface="Roboto"/>
                <a:cs typeface="Roboto"/>
                <a:sym typeface="Roboto"/>
              </a:rPr>
              <a:t> A relational database management system used to store all persistent data (users, resources, reservations, and notifications).</a:t>
            </a:r>
          </a:p>
          <a:p>
            <a:pPr algn="l">
              <a:lnSpc>
                <a:spcPts val="2783"/>
              </a:lnSpc>
            </a:pPr>
            <a:r>
              <a:rPr lang="en-US" sz="1999">
                <a:solidFill>
                  <a:srgbClr val="2B2E3C"/>
                </a:solidFill>
                <a:latin typeface="Roboto"/>
                <a:ea typeface="Roboto"/>
                <a:cs typeface="Roboto"/>
                <a:sym typeface="Roboto"/>
              </a:rPr>
              <a:t>mssql</a:t>
            </a:r>
            <a:r>
              <a:rPr lang="en-US" sz="1999" b="1">
                <a:solidFill>
                  <a:srgbClr val="2B2E3C"/>
                </a:solidFill>
                <a:latin typeface="Roboto Bold"/>
                <a:ea typeface="Roboto Bold"/>
                <a:cs typeface="Roboto Bold"/>
                <a:sym typeface="Roboto Bold"/>
              </a:rPr>
              <a:t> (Node Package):</a:t>
            </a:r>
            <a:r>
              <a:rPr lang="en-US" sz="1999">
                <a:solidFill>
                  <a:srgbClr val="2B2E3C"/>
                </a:solidFill>
                <a:latin typeface="Roboto"/>
                <a:ea typeface="Roboto"/>
                <a:cs typeface="Roboto"/>
                <a:sym typeface="Roboto"/>
              </a:rPr>
              <a:t> The official database driver used to connect the Node.js backend to the SQL Server.</a:t>
            </a:r>
          </a:p>
        </p:txBody>
      </p:sp>
      <p:grpSp>
        <p:nvGrpSpPr>
          <p:cNvPr id="35" name="Group 35"/>
          <p:cNvGrpSpPr/>
          <p:nvPr/>
        </p:nvGrpSpPr>
        <p:grpSpPr>
          <a:xfrm>
            <a:off x="1946072" y="7731319"/>
            <a:ext cx="14395704" cy="1877473"/>
            <a:chOff x="0" y="0"/>
            <a:chExt cx="19194272" cy="2503297"/>
          </a:xfrm>
        </p:grpSpPr>
        <p:sp>
          <p:nvSpPr>
            <p:cNvPr id="36" name="Freeform 36"/>
            <p:cNvSpPr/>
            <p:nvPr/>
          </p:nvSpPr>
          <p:spPr>
            <a:xfrm>
              <a:off x="19050" y="19050"/>
              <a:ext cx="19156046" cy="2465197"/>
            </a:xfrm>
            <a:custGeom>
              <a:avLst/>
              <a:gdLst/>
              <a:ahLst/>
              <a:cxnLst/>
              <a:rect l="l" t="t" r="r" b="b"/>
              <a:pathLst>
                <a:path w="19156046" h="2465197">
                  <a:moveTo>
                    <a:pt x="0" y="116586"/>
                  </a:moveTo>
                  <a:cubicBezTo>
                    <a:pt x="0" y="52197"/>
                    <a:pt x="52959" y="0"/>
                    <a:pt x="118110" y="0"/>
                  </a:cubicBezTo>
                  <a:lnTo>
                    <a:pt x="19037936" y="0"/>
                  </a:lnTo>
                  <a:cubicBezTo>
                    <a:pt x="19103214" y="0"/>
                    <a:pt x="19156046" y="52197"/>
                    <a:pt x="19156046" y="116586"/>
                  </a:cubicBezTo>
                  <a:lnTo>
                    <a:pt x="19156046" y="2348611"/>
                  </a:lnTo>
                  <a:cubicBezTo>
                    <a:pt x="19156046" y="2413000"/>
                    <a:pt x="19103087" y="2465197"/>
                    <a:pt x="19037936" y="2465197"/>
                  </a:cubicBezTo>
                  <a:lnTo>
                    <a:pt x="118110" y="2465197"/>
                  </a:lnTo>
                  <a:cubicBezTo>
                    <a:pt x="52832" y="2465197"/>
                    <a:pt x="0" y="2413000"/>
                    <a:pt x="0" y="2348611"/>
                  </a:cubicBezTo>
                  <a:close/>
                </a:path>
              </a:pathLst>
            </a:custGeom>
            <a:solidFill>
              <a:srgbClr val="FFF8F0"/>
            </a:solidFill>
          </p:spPr>
        </p:sp>
        <p:sp>
          <p:nvSpPr>
            <p:cNvPr id="37" name="Freeform 37"/>
            <p:cNvSpPr/>
            <p:nvPr/>
          </p:nvSpPr>
          <p:spPr>
            <a:xfrm>
              <a:off x="0" y="0"/>
              <a:ext cx="19194146" cy="2503297"/>
            </a:xfrm>
            <a:custGeom>
              <a:avLst/>
              <a:gdLst/>
              <a:ahLst/>
              <a:cxnLst/>
              <a:rect l="l" t="t" r="r" b="b"/>
              <a:pathLst>
                <a:path w="19194146" h="2503297">
                  <a:moveTo>
                    <a:pt x="0" y="135636"/>
                  </a:moveTo>
                  <a:cubicBezTo>
                    <a:pt x="0" y="60452"/>
                    <a:pt x="61722" y="0"/>
                    <a:pt x="137160" y="0"/>
                  </a:cubicBezTo>
                  <a:lnTo>
                    <a:pt x="19056986" y="0"/>
                  </a:lnTo>
                  <a:lnTo>
                    <a:pt x="19056986" y="19050"/>
                  </a:lnTo>
                  <a:lnTo>
                    <a:pt x="19056986" y="0"/>
                  </a:lnTo>
                  <a:cubicBezTo>
                    <a:pt x="19132550" y="0"/>
                    <a:pt x="19194146" y="60452"/>
                    <a:pt x="19194146" y="135636"/>
                  </a:cubicBezTo>
                  <a:lnTo>
                    <a:pt x="19175096" y="135636"/>
                  </a:lnTo>
                  <a:lnTo>
                    <a:pt x="19194146" y="135636"/>
                  </a:lnTo>
                  <a:lnTo>
                    <a:pt x="19194146" y="2367661"/>
                  </a:lnTo>
                  <a:lnTo>
                    <a:pt x="19175096" y="2367661"/>
                  </a:lnTo>
                  <a:lnTo>
                    <a:pt x="19194146" y="2367661"/>
                  </a:lnTo>
                  <a:cubicBezTo>
                    <a:pt x="19194146" y="2442845"/>
                    <a:pt x="19132423" y="2503297"/>
                    <a:pt x="19056986" y="2503297"/>
                  </a:cubicBezTo>
                  <a:lnTo>
                    <a:pt x="19056986" y="2484247"/>
                  </a:lnTo>
                  <a:lnTo>
                    <a:pt x="19056986" y="2503297"/>
                  </a:lnTo>
                  <a:lnTo>
                    <a:pt x="137160" y="2503297"/>
                  </a:lnTo>
                  <a:lnTo>
                    <a:pt x="137160" y="2484247"/>
                  </a:lnTo>
                  <a:lnTo>
                    <a:pt x="137160" y="2503297"/>
                  </a:lnTo>
                  <a:cubicBezTo>
                    <a:pt x="61595" y="2503297"/>
                    <a:pt x="0" y="2442845"/>
                    <a:pt x="0" y="2367661"/>
                  </a:cubicBezTo>
                  <a:lnTo>
                    <a:pt x="0" y="135636"/>
                  </a:lnTo>
                  <a:lnTo>
                    <a:pt x="19050" y="135636"/>
                  </a:lnTo>
                  <a:lnTo>
                    <a:pt x="0" y="135636"/>
                  </a:lnTo>
                  <a:moveTo>
                    <a:pt x="38100" y="135636"/>
                  </a:moveTo>
                  <a:lnTo>
                    <a:pt x="38100" y="2367661"/>
                  </a:lnTo>
                  <a:lnTo>
                    <a:pt x="19050" y="2367661"/>
                  </a:lnTo>
                  <a:lnTo>
                    <a:pt x="38100" y="2367661"/>
                  </a:lnTo>
                  <a:cubicBezTo>
                    <a:pt x="38100" y="2421255"/>
                    <a:pt x="82296" y="2465197"/>
                    <a:pt x="137160" y="2465197"/>
                  </a:cubicBezTo>
                  <a:lnTo>
                    <a:pt x="19056986" y="2465197"/>
                  </a:lnTo>
                  <a:cubicBezTo>
                    <a:pt x="19111976" y="2465197"/>
                    <a:pt x="19156046" y="2421255"/>
                    <a:pt x="19156046" y="2367661"/>
                  </a:cubicBezTo>
                  <a:lnTo>
                    <a:pt x="19156046" y="135636"/>
                  </a:lnTo>
                  <a:cubicBezTo>
                    <a:pt x="19156046" y="82042"/>
                    <a:pt x="19111849" y="38100"/>
                    <a:pt x="19056986" y="38100"/>
                  </a:cubicBezTo>
                  <a:lnTo>
                    <a:pt x="137160" y="38100"/>
                  </a:lnTo>
                  <a:lnTo>
                    <a:pt x="137160" y="19050"/>
                  </a:lnTo>
                  <a:lnTo>
                    <a:pt x="137160" y="38100"/>
                  </a:lnTo>
                  <a:cubicBezTo>
                    <a:pt x="82296" y="38100"/>
                    <a:pt x="38100" y="82042"/>
                    <a:pt x="38100" y="135636"/>
                  </a:cubicBezTo>
                  <a:close/>
                </a:path>
              </a:pathLst>
            </a:custGeom>
            <a:solidFill>
              <a:srgbClr val="E2C8B5"/>
            </a:solidFill>
          </p:spPr>
        </p:sp>
      </p:grpSp>
      <p:grpSp>
        <p:nvGrpSpPr>
          <p:cNvPr id="38" name="Group 38"/>
          <p:cNvGrpSpPr/>
          <p:nvPr/>
        </p:nvGrpSpPr>
        <p:grpSpPr>
          <a:xfrm>
            <a:off x="1988944" y="7774191"/>
            <a:ext cx="832837" cy="1791738"/>
            <a:chOff x="0" y="0"/>
            <a:chExt cx="1110450" cy="2388984"/>
          </a:xfrm>
        </p:grpSpPr>
        <p:sp>
          <p:nvSpPr>
            <p:cNvPr id="39" name="Freeform 39"/>
            <p:cNvSpPr/>
            <p:nvPr/>
          </p:nvSpPr>
          <p:spPr>
            <a:xfrm>
              <a:off x="0" y="0"/>
              <a:ext cx="1110488" cy="2388997"/>
            </a:xfrm>
            <a:custGeom>
              <a:avLst/>
              <a:gdLst/>
              <a:ahLst/>
              <a:cxnLst/>
              <a:rect l="l" t="t" r="r" b="b"/>
              <a:pathLst>
                <a:path w="1110488" h="2388997">
                  <a:moveTo>
                    <a:pt x="0" y="70866"/>
                  </a:moveTo>
                  <a:cubicBezTo>
                    <a:pt x="0" y="31750"/>
                    <a:pt x="31750" y="0"/>
                    <a:pt x="70866" y="0"/>
                  </a:cubicBezTo>
                  <a:lnTo>
                    <a:pt x="1039622" y="0"/>
                  </a:lnTo>
                  <a:cubicBezTo>
                    <a:pt x="1078738" y="0"/>
                    <a:pt x="1110488" y="31750"/>
                    <a:pt x="1110488" y="70866"/>
                  </a:cubicBezTo>
                  <a:lnTo>
                    <a:pt x="1110488" y="2318131"/>
                  </a:lnTo>
                  <a:cubicBezTo>
                    <a:pt x="1110488" y="2357247"/>
                    <a:pt x="1078738" y="2388997"/>
                    <a:pt x="1039622" y="2388997"/>
                  </a:cubicBezTo>
                  <a:lnTo>
                    <a:pt x="70866" y="2388997"/>
                  </a:lnTo>
                  <a:cubicBezTo>
                    <a:pt x="31750" y="2388997"/>
                    <a:pt x="0" y="2357247"/>
                    <a:pt x="0" y="2318131"/>
                  </a:cubicBezTo>
                  <a:close/>
                </a:path>
              </a:pathLst>
            </a:custGeom>
            <a:solidFill>
              <a:srgbClr val="FCE2CF"/>
            </a:solidFill>
          </p:spPr>
        </p:sp>
      </p:grpSp>
      <p:grpSp>
        <p:nvGrpSpPr>
          <p:cNvPr id="40" name="Group 40"/>
          <p:cNvGrpSpPr/>
          <p:nvPr/>
        </p:nvGrpSpPr>
        <p:grpSpPr>
          <a:xfrm>
            <a:off x="2244481" y="8474869"/>
            <a:ext cx="312239" cy="464972"/>
            <a:chOff x="0" y="0"/>
            <a:chExt cx="416319" cy="619963"/>
          </a:xfrm>
        </p:grpSpPr>
        <p:sp>
          <p:nvSpPr>
            <p:cNvPr id="41" name="Freeform 41"/>
            <p:cNvSpPr/>
            <p:nvPr/>
          </p:nvSpPr>
          <p:spPr>
            <a:xfrm>
              <a:off x="0" y="0"/>
              <a:ext cx="416323" cy="619968"/>
            </a:xfrm>
            <a:custGeom>
              <a:avLst/>
              <a:gdLst/>
              <a:ahLst/>
              <a:cxnLst/>
              <a:rect l="l" t="t" r="r" b="b"/>
              <a:pathLst>
                <a:path w="416323" h="619968">
                  <a:moveTo>
                    <a:pt x="0" y="0"/>
                  </a:moveTo>
                  <a:lnTo>
                    <a:pt x="416323" y="0"/>
                  </a:lnTo>
                  <a:lnTo>
                    <a:pt x="416323" y="619968"/>
                  </a:lnTo>
                  <a:lnTo>
                    <a:pt x="0" y="619968"/>
                  </a:lnTo>
                  <a:close/>
                </a:path>
              </a:pathLst>
            </a:custGeom>
            <a:blipFill>
              <a:blip r:embed="rId3">
                <a:alphaModFix amt="0"/>
              </a:blip>
              <a:stretch>
                <a:fillRect l="-110408" r="-110407" b="16044"/>
              </a:stretch>
            </a:blipFill>
          </p:spPr>
        </p:sp>
        <p:sp>
          <p:nvSpPr>
            <p:cNvPr id="42" name="TextBox 42"/>
            <p:cNvSpPr txBox="1"/>
            <p:nvPr/>
          </p:nvSpPr>
          <p:spPr>
            <a:xfrm>
              <a:off x="0" y="0"/>
              <a:ext cx="416319" cy="619963"/>
            </a:xfrm>
            <a:prstGeom prst="rect">
              <a:avLst/>
            </a:prstGeom>
          </p:spPr>
          <p:txBody>
            <a:bodyPr lIns="0" tIns="0" rIns="0" bIns="0" rtlCol="0" anchor="ctr"/>
            <a:lstStyle/>
            <a:p>
              <a:pPr algn="ctr">
                <a:lnSpc>
                  <a:spcPts val="2879"/>
                </a:lnSpc>
              </a:pPr>
              <a:r>
                <a:rPr lang="en-US" sz="2400">
                  <a:solidFill>
                    <a:srgbClr val="2B2E3C"/>
                  </a:solidFill>
                  <a:latin typeface="Merriweather"/>
                  <a:ea typeface="Merriweather"/>
                  <a:cs typeface="Merriweather"/>
                  <a:sym typeface="Merriweather"/>
                </a:rPr>
                <a:t>4</a:t>
              </a:r>
            </a:p>
          </p:txBody>
        </p:sp>
      </p:grpSp>
      <p:sp>
        <p:nvSpPr>
          <p:cNvPr id="43" name="TextBox 43"/>
          <p:cNvSpPr txBox="1"/>
          <p:nvPr/>
        </p:nvSpPr>
        <p:spPr>
          <a:xfrm>
            <a:off x="2974629" y="7972873"/>
            <a:ext cx="3872151" cy="366370"/>
          </a:xfrm>
          <a:prstGeom prst="rect">
            <a:avLst/>
          </a:prstGeom>
        </p:spPr>
        <p:txBody>
          <a:bodyPr lIns="0" tIns="0" rIns="0" bIns="0" rtlCol="0" anchor="t">
            <a:spAutoFit/>
          </a:bodyPr>
          <a:lstStyle/>
          <a:p>
            <a:pPr algn="l">
              <a:lnSpc>
                <a:spcPts val="2995"/>
              </a:lnSpc>
            </a:pPr>
            <a:r>
              <a:rPr lang="en-US" sz="2399">
                <a:solidFill>
                  <a:srgbClr val="2B2E3C"/>
                </a:solidFill>
                <a:latin typeface="Merriweather"/>
                <a:ea typeface="Merriweather"/>
                <a:cs typeface="Merriweather"/>
                <a:sym typeface="Merriweather"/>
              </a:rPr>
              <a:t>Security &amp; Authentication</a:t>
            </a:r>
          </a:p>
        </p:txBody>
      </p:sp>
      <p:sp>
        <p:nvSpPr>
          <p:cNvPr id="44" name="TextBox 44"/>
          <p:cNvSpPr txBox="1"/>
          <p:nvPr/>
        </p:nvSpPr>
        <p:spPr>
          <a:xfrm>
            <a:off x="2974629" y="8351787"/>
            <a:ext cx="13116077" cy="1056132"/>
          </a:xfrm>
          <a:prstGeom prst="rect">
            <a:avLst/>
          </a:prstGeom>
        </p:spPr>
        <p:txBody>
          <a:bodyPr lIns="0" tIns="0" rIns="0" bIns="0" rtlCol="0" anchor="t">
            <a:spAutoFit/>
          </a:bodyPr>
          <a:lstStyle/>
          <a:p>
            <a:pPr algn="l">
              <a:lnSpc>
                <a:spcPts val="2783"/>
              </a:lnSpc>
            </a:pPr>
            <a:r>
              <a:rPr lang="en-US" sz="1999" b="1">
                <a:solidFill>
                  <a:srgbClr val="2B2E3C"/>
                </a:solidFill>
                <a:latin typeface="Roboto Bold"/>
                <a:ea typeface="Roboto Bold"/>
                <a:cs typeface="Roboto Bold"/>
                <a:sym typeface="Roboto Bold"/>
              </a:rPr>
              <a:t>SON Web Tokens (JWT via </a:t>
            </a:r>
            <a:r>
              <a:rPr lang="en-US" sz="1999">
                <a:solidFill>
                  <a:srgbClr val="2B2E3C"/>
                </a:solidFill>
                <a:latin typeface="Roboto"/>
                <a:ea typeface="Roboto"/>
                <a:cs typeface="Roboto"/>
                <a:sym typeface="Roboto"/>
              </a:rPr>
              <a:t>jsonwebtoken</a:t>
            </a:r>
            <a:r>
              <a:rPr lang="en-US" sz="1999" b="1">
                <a:solidFill>
                  <a:srgbClr val="2B2E3C"/>
                </a:solidFill>
                <a:latin typeface="Roboto Bold"/>
                <a:ea typeface="Roboto Bold"/>
                <a:cs typeface="Roboto Bold"/>
                <a:sym typeface="Roboto Bold"/>
              </a:rPr>
              <a:t>):</a:t>
            </a:r>
            <a:r>
              <a:rPr lang="en-US" sz="1999">
                <a:solidFill>
                  <a:srgbClr val="2B2E3C"/>
                </a:solidFill>
                <a:latin typeface="Roboto"/>
                <a:ea typeface="Roboto"/>
                <a:cs typeface="Roboto"/>
                <a:sym typeface="Roboto"/>
              </a:rPr>
              <a:t> Used for stateless, secure user authentication.</a:t>
            </a:r>
          </a:p>
          <a:p>
            <a:pPr algn="l">
              <a:lnSpc>
                <a:spcPts val="2783"/>
              </a:lnSpc>
            </a:pPr>
            <a:r>
              <a:rPr lang="en-US" sz="1999" b="1">
                <a:solidFill>
                  <a:srgbClr val="2B2E3C"/>
                </a:solidFill>
                <a:latin typeface="Roboto Bold"/>
                <a:ea typeface="Roboto Bold"/>
                <a:cs typeface="Roboto Bold"/>
                <a:sym typeface="Roboto Bold"/>
              </a:rPr>
              <a:t>Bcrypt (</a:t>
            </a:r>
            <a:r>
              <a:rPr lang="en-US" sz="1999">
                <a:solidFill>
                  <a:srgbClr val="2B2E3C"/>
                </a:solidFill>
                <a:latin typeface="Roboto"/>
                <a:ea typeface="Roboto"/>
                <a:cs typeface="Roboto"/>
                <a:sym typeface="Roboto"/>
              </a:rPr>
              <a:t>bcrypt</a:t>
            </a:r>
            <a:r>
              <a:rPr lang="en-US" sz="1999" b="1">
                <a:solidFill>
                  <a:srgbClr val="2B2E3C"/>
                </a:solidFill>
                <a:latin typeface="Roboto Bold"/>
                <a:ea typeface="Roboto Bold"/>
                <a:cs typeface="Roboto Bold"/>
                <a:sym typeface="Roboto Bold"/>
              </a:rPr>
              <a:t>):</a:t>
            </a:r>
            <a:r>
              <a:rPr lang="en-US" sz="1999">
                <a:solidFill>
                  <a:srgbClr val="2B2E3C"/>
                </a:solidFill>
                <a:latin typeface="Roboto"/>
                <a:ea typeface="Roboto"/>
                <a:cs typeface="Roboto"/>
                <a:sym typeface="Roboto"/>
              </a:rPr>
              <a:t> A cryptographic library used to securely hash user passwords before they are stored in the database. It prevents passwords from being readable even if the database is compromised.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8F0"/>
            </a:solidFill>
          </p:spPr>
        </p:sp>
      </p:grpSp>
      <p:sp>
        <p:nvSpPr>
          <p:cNvPr id="4" name="TextBox 4"/>
          <p:cNvSpPr txBox="1"/>
          <p:nvPr/>
        </p:nvSpPr>
        <p:spPr>
          <a:xfrm>
            <a:off x="1348978" y="615401"/>
            <a:ext cx="6956822" cy="678028"/>
          </a:xfrm>
          <a:prstGeom prst="rect">
            <a:avLst/>
          </a:prstGeom>
        </p:spPr>
        <p:txBody>
          <a:bodyPr wrap="square" lIns="0" tIns="0" rIns="0" bIns="0" rtlCol="0" anchor="t">
            <a:spAutoFit/>
          </a:bodyPr>
          <a:lstStyle/>
          <a:p>
            <a:pPr algn="l">
              <a:lnSpc>
                <a:spcPts val="5491"/>
              </a:lnSpc>
            </a:pPr>
            <a:r>
              <a:rPr lang="en-US" sz="4400" dirty="0">
                <a:solidFill>
                  <a:srgbClr val="2C3F42"/>
                </a:solidFill>
                <a:latin typeface="Merriweather"/>
                <a:ea typeface="Merriweather"/>
                <a:cs typeface="Merriweather"/>
                <a:sym typeface="Merriweather"/>
              </a:rPr>
              <a:t>Tasks Accomplished</a:t>
            </a:r>
          </a:p>
        </p:txBody>
      </p:sp>
      <p:sp>
        <p:nvSpPr>
          <p:cNvPr id="5" name="TextBox 5"/>
          <p:cNvSpPr txBox="1"/>
          <p:nvPr/>
        </p:nvSpPr>
        <p:spPr>
          <a:xfrm>
            <a:off x="1348978" y="1643215"/>
            <a:ext cx="16504291" cy="316611"/>
          </a:xfrm>
          <a:prstGeom prst="rect">
            <a:avLst/>
          </a:prstGeom>
        </p:spPr>
        <p:txBody>
          <a:bodyPr lIns="0" tIns="0" rIns="0" bIns="0" rtlCol="0" anchor="t">
            <a:spAutoFit/>
          </a:bodyPr>
          <a:lstStyle/>
          <a:p>
            <a:pPr algn="l">
              <a:lnSpc>
                <a:spcPts val="2592"/>
              </a:lnSpc>
            </a:pPr>
            <a:r>
              <a:rPr lang="en-US" sz="1800">
                <a:solidFill>
                  <a:srgbClr val="2B2E3C"/>
                </a:solidFill>
                <a:latin typeface="Roboto"/>
                <a:ea typeface="Roboto"/>
                <a:cs typeface="Roboto"/>
                <a:sym typeface="Roboto"/>
              </a:rPr>
              <a:t>The following core phases of the UniQueue project have been successfully completed and are fully operational.</a:t>
            </a:r>
          </a:p>
        </p:txBody>
      </p:sp>
      <p:grpSp>
        <p:nvGrpSpPr>
          <p:cNvPr id="6" name="Group 6"/>
          <p:cNvGrpSpPr/>
          <p:nvPr/>
        </p:nvGrpSpPr>
        <p:grpSpPr>
          <a:xfrm>
            <a:off x="1518342" y="2217982"/>
            <a:ext cx="28575" cy="6405562"/>
            <a:chOff x="0" y="0"/>
            <a:chExt cx="38100" cy="8540750"/>
          </a:xfrm>
        </p:grpSpPr>
        <p:sp>
          <p:nvSpPr>
            <p:cNvPr id="7" name="Freeform 7"/>
            <p:cNvSpPr/>
            <p:nvPr/>
          </p:nvSpPr>
          <p:spPr>
            <a:xfrm>
              <a:off x="0" y="0"/>
              <a:ext cx="38100" cy="8540750"/>
            </a:xfrm>
            <a:custGeom>
              <a:avLst/>
              <a:gdLst/>
              <a:ahLst/>
              <a:cxnLst/>
              <a:rect l="l" t="t" r="r" b="b"/>
              <a:pathLst>
                <a:path w="38100" h="8540750">
                  <a:moveTo>
                    <a:pt x="0" y="19050"/>
                  </a:moveTo>
                  <a:cubicBezTo>
                    <a:pt x="0" y="8509"/>
                    <a:pt x="8509" y="0"/>
                    <a:pt x="19050" y="0"/>
                  </a:cubicBezTo>
                  <a:cubicBezTo>
                    <a:pt x="29591" y="0"/>
                    <a:pt x="38100" y="8509"/>
                    <a:pt x="38100" y="19050"/>
                  </a:cubicBezTo>
                  <a:lnTo>
                    <a:pt x="38100" y="8521700"/>
                  </a:lnTo>
                  <a:cubicBezTo>
                    <a:pt x="38100" y="8532241"/>
                    <a:pt x="29591" y="8540750"/>
                    <a:pt x="19050" y="8540750"/>
                  </a:cubicBezTo>
                  <a:cubicBezTo>
                    <a:pt x="8509" y="8540750"/>
                    <a:pt x="0" y="8532241"/>
                    <a:pt x="0" y="8521700"/>
                  </a:cubicBezTo>
                  <a:close/>
                </a:path>
              </a:pathLst>
            </a:custGeom>
            <a:solidFill>
              <a:srgbClr val="E2C8B5"/>
            </a:solidFill>
          </p:spPr>
        </p:sp>
      </p:grpSp>
      <p:grpSp>
        <p:nvGrpSpPr>
          <p:cNvPr id="8" name="Group 8"/>
          <p:cNvGrpSpPr/>
          <p:nvPr/>
        </p:nvGrpSpPr>
        <p:grpSpPr>
          <a:xfrm>
            <a:off x="1489767" y="2457745"/>
            <a:ext cx="451837" cy="28575"/>
            <a:chOff x="0" y="0"/>
            <a:chExt cx="602450" cy="38100"/>
          </a:xfrm>
        </p:grpSpPr>
        <p:sp>
          <p:nvSpPr>
            <p:cNvPr id="9" name="Freeform 9"/>
            <p:cNvSpPr/>
            <p:nvPr/>
          </p:nvSpPr>
          <p:spPr>
            <a:xfrm>
              <a:off x="0" y="0"/>
              <a:ext cx="602488" cy="38100"/>
            </a:xfrm>
            <a:custGeom>
              <a:avLst/>
              <a:gdLst/>
              <a:ahLst/>
              <a:cxnLst/>
              <a:rect l="l" t="t" r="r" b="b"/>
              <a:pathLst>
                <a:path w="602488" h="38100">
                  <a:moveTo>
                    <a:pt x="0" y="19050"/>
                  </a:moveTo>
                  <a:cubicBezTo>
                    <a:pt x="0" y="8509"/>
                    <a:pt x="8509" y="0"/>
                    <a:pt x="19050" y="0"/>
                  </a:cubicBezTo>
                  <a:lnTo>
                    <a:pt x="583438" y="0"/>
                  </a:lnTo>
                  <a:cubicBezTo>
                    <a:pt x="593979" y="0"/>
                    <a:pt x="602488" y="8509"/>
                    <a:pt x="602488" y="19050"/>
                  </a:cubicBezTo>
                  <a:cubicBezTo>
                    <a:pt x="602488" y="29591"/>
                    <a:pt x="593979" y="38100"/>
                    <a:pt x="583438" y="38100"/>
                  </a:cubicBezTo>
                  <a:lnTo>
                    <a:pt x="19050" y="38100"/>
                  </a:lnTo>
                  <a:cubicBezTo>
                    <a:pt x="8509" y="38100"/>
                    <a:pt x="0" y="29591"/>
                    <a:pt x="0" y="19050"/>
                  </a:cubicBezTo>
                  <a:close/>
                </a:path>
              </a:pathLst>
            </a:custGeom>
            <a:solidFill>
              <a:srgbClr val="E2C8B5"/>
            </a:solidFill>
          </p:spPr>
        </p:sp>
      </p:grpSp>
      <p:grpSp>
        <p:nvGrpSpPr>
          <p:cNvPr id="10" name="Group 10"/>
          <p:cNvGrpSpPr/>
          <p:nvPr/>
        </p:nvGrpSpPr>
        <p:grpSpPr>
          <a:xfrm>
            <a:off x="1433665" y="2387356"/>
            <a:ext cx="169364" cy="169364"/>
            <a:chOff x="0" y="0"/>
            <a:chExt cx="225819" cy="225819"/>
          </a:xfrm>
        </p:grpSpPr>
        <p:sp>
          <p:nvSpPr>
            <p:cNvPr id="11" name="Freeform 11"/>
            <p:cNvSpPr/>
            <p:nvPr/>
          </p:nvSpPr>
          <p:spPr>
            <a:xfrm>
              <a:off x="0" y="0"/>
              <a:ext cx="225806" cy="225806"/>
            </a:xfrm>
            <a:custGeom>
              <a:avLst/>
              <a:gdLst/>
              <a:ahLst/>
              <a:cxnLst/>
              <a:rect l="l" t="t" r="r" b="b"/>
              <a:pathLst>
                <a:path w="225806" h="225806">
                  <a:moveTo>
                    <a:pt x="0" y="112903"/>
                  </a:moveTo>
                  <a:cubicBezTo>
                    <a:pt x="0" y="50546"/>
                    <a:pt x="50546" y="0"/>
                    <a:pt x="112903" y="0"/>
                  </a:cubicBezTo>
                  <a:cubicBezTo>
                    <a:pt x="175260" y="0"/>
                    <a:pt x="225806" y="50546"/>
                    <a:pt x="225806" y="112903"/>
                  </a:cubicBezTo>
                  <a:cubicBezTo>
                    <a:pt x="225806" y="175260"/>
                    <a:pt x="175260" y="225806"/>
                    <a:pt x="112903" y="225806"/>
                  </a:cubicBezTo>
                  <a:cubicBezTo>
                    <a:pt x="50546" y="225806"/>
                    <a:pt x="0" y="175260"/>
                    <a:pt x="0" y="112903"/>
                  </a:cubicBezTo>
                  <a:close/>
                </a:path>
              </a:pathLst>
            </a:custGeom>
            <a:solidFill>
              <a:srgbClr val="D2600F"/>
            </a:solidFill>
          </p:spPr>
        </p:sp>
      </p:grpSp>
      <p:sp>
        <p:nvSpPr>
          <p:cNvPr id="12" name="TextBox 12"/>
          <p:cNvSpPr txBox="1"/>
          <p:nvPr/>
        </p:nvSpPr>
        <p:spPr>
          <a:xfrm>
            <a:off x="2422178" y="2286000"/>
            <a:ext cx="4178645" cy="368755"/>
          </a:xfrm>
          <a:prstGeom prst="rect">
            <a:avLst/>
          </a:prstGeom>
        </p:spPr>
        <p:txBody>
          <a:bodyPr wrap="square" lIns="0" tIns="0" rIns="0" bIns="0" rtlCol="0" anchor="t">
            <a:spAutoFit/>
          </a:bodyPr>
          <a:lstStyle/>
          <a:p>
            <a:pPr algn="l">
              <a:lnSpc>
                <a:spcPts val="2995"/>
              </a:lnSpc>
            </a:pPr>
            <a:r>
              <a:rPr lang="en-US" sz="2400" dirty="0">
                <a:solidFill>
                  <a:srgbClr val="2B2E3C"/>
                </a:solidFill>
                <a:latin typeface="Merriweather"/>
                <a:ea typeface="Merriweather"/>
                <a:cs typeface="Merriweather"/>
                <a:sym typeface="Merriweather"/>
              </a:rPr>
              <a:t>Database Initialization</a:t>
            </a:r>
          </a:p>
        </p:txBody>
      </p:sp>
      <p:sp>
        <p:nvSpPr>
          <p:cNvPr id="13" name="TextBox 13"/>
          <p:cNvSpPr txBox="1"/>
          <p:nvPr/>
        </p:nvSpPr>
        <p:spPr>
          <a:xfrm>
            <a:off x="2422179" y="2699299"/>
            <a:ext cx="14516700" cy="720090"/>
          </a:xfrm>
          <a:prstGeom prst="rect">
            <a:avLst/>
          </a:prstGeom>
        </p:spPr>
        <p:txBody>
          <a:bodyPr lIns="0" tIns="0" rIns="0" bIns="0" rtlCol="0" anchor="t">
            <a:spAutoFit/>
          </a:bodyPr>
          <a:lstStyle/>
          <a:p>
            <a:pPr algn="l">
              <a:lnSpc>
                <a:spcPts val="2879"/>
              </a:lnSpc>
            </a:pPr>
            <a:r>
              <a:rPr lang="en-US" sz="1999">
                <a:solidFill>
                  <a:srgbClr val="2B2E3C"/>
                </a:solidFill>
                <a:latin typeface="Roboto"/>
                <a:ea typeface="Roboto"/>
                <a:cs typeface="Roboto"/>
                <a:sym typeface="Roboto"/>
              </a:rPr>
              <a:t>The complete MS SQL schema has been built, and the tables for Users, Resources, Reservations, and Notifications have been populated with seed data.</a:t>
            </a:r>
          </a:p>
        </p:txBody>
      </p:sp>
      <p:grpSp>
        <p:nvGrpSpPr>
          <p:cNvPr id="14" name="Group 14"/>
          <p:cNvGrpSpPr/>
          <p:nvPr/>
        </p:nvGrpSpPr>
        <p:grpSpPr>
          <a:xfrm>
            <a:off x="1489767" y="4005710"/>
            <a:ext cx="451837" cy="28575"/>
            <a:chOff x="0" y="0"/>
            <a:chExt cx="602450" cy="38100"/>
          </a:xfrm>
        </p:grpSpPr>
        <p:sp>
          <p:nvSpPr>
            <p:cNvPr id="15" name="Freeform 15"/>
            <p:cNvSpPr/>
            <p:nvPr/>
          </p:nvSpPr>
          <p:spPr>
            <a:xfrm>
              <a:off x="0" y="0"/>
              <a:ext cx="602488" cy="38100"/>
            </a:xfrm>
            <a:custGeom>
              <a:avLst/>
              <a:gdLst/>
              <a:ahLst/>
              <a:cxnLst/>
              <a:rect l="l" t="t" r="r" b="b"/>
              <a:pathLst>
                <a:path w="602488" h="38100">
                  <a:moveTo>
                    <a:pt x="0" y="19050"/>
                  </a:moveTo>
                  <a:cubicBezTo>
                    <a:pt x="0" y="8509"/>
                    <a:pt x="8509" y="0"/>
                    <a:pt x="19050" y="0"/>
                  </a:cubicBezTo>
                  <a:lnTo>
                    <a:pt x="583438" y="0"/>
                  </a:lnTo>
                  <a:cubicBezTo>
                    <a:pt x="593979" y="0"/>
                    <a:pt x="602488" y="8509"/>
                    <a:pt x="602488" y="19050"/>
                  </a:cubicBezTo>
                  <a:cubicBezTo>
                    <a:pt x="602488" y="29591"/>
                    <a:pt x="593979" y="38100"/>
                    <a:pt x="583438" y="38100"/>
                  </a:cubicBezTo>
                  <a:lnTo>
                    <a:pt x="19050" y="38100"/>
                  </a:lnTo>
                  <a:cubicBezTo>
                    <a:pt x="8509" y="38100"/>
                    <a:pt x="0" y="29591"/>
                    <a:pt x="0" y="19050"/>
                  </a:cubicBezTo>
                  <a:close/>
                </a:path>
              </a:pathLst>
            </a:custGeom>
            <a:solidFill>
              <a:srgbClr val="E2C8B5"/>
            </a:solidFill>
          </p:spPr>
        </p:sp>
      </p:grpSp>
      <p:grpSp>
        <p:nvGrpSpPr>
          <p:cNvPr id="16" name="Group 16"/>
          <p:cNvGrpSpPr/>
          <p:nvPr/>
        </p:nvGrpSpPr>
        <p:grpSpPr>
          <a:xfrm>
            <a:off x="1433665" y="3935311"/>
            <a:ext cx="169364" cy="169364"/>
            <a:chOff x="0" y="0"/>
            <a:chExt cx="225819" cy="225819"/>
          </a:xfrm>
        </p:grpSpPr>
        <p:sp>
          <p:nvSpPr>
            <p:cNvPr id="17" name="Freeform 17"/>
            <p:cNvSpPr/>
            <p:nvPr/>
          </p:nvSpPr>
          <p:spPr>
            <a:xfrm>
              <a:off x="0" y="0"/>
              <a:ext cx="225806" cy="225806"/>
            </a:xfrm>
            <a:custGeom>
              <a:avLst/>
              <a:gdLst/>
              <a:ahLst/>
              <a:cxnLst/>
              <a:rect l="l" t="t" r="r" b="b"/>
              <a:pathLst>
                <a:path w="225806" h="225806">
                  <a:moveTo>
                    <a:pt x="0" y="112903"/>
                  </a:moveTo>
                  <a:cubicBezTo>
                    <a:pt x="0" y="50546"/>
                    <a:pt x="50546" y="0"/>
                    <a:pt x="112903" y="0"/>
                  </a:cubicBezTo>
                  <a:cubicBezTo>
                    <a:pt x="175260" y="0"/>
                    <a:pt x="225806" y="50546"/>
                    <a:pt x="225806" y="112903"/>
                  </a:cubicBezTo>
                  <a:cubicBezTo>
                    <a:pt x="225806" y="175260"/>
                    <a:pt x="175260" y="225806"/>
                    <a:pt x="112903" y="225806"/>
                  </a:cubicBezTo>
                  <a:cubicBezTo>
                    <a:pt x="50546" y="225806"/>
                    <a:pt x="0" y="175260"/>
                    <a:pt x="0" y="112903"/>
                  </a:cubicBezTo>
                  <a:close/>
                </a:path>
              </a:pathLst>
            </a:custGeom>
            <a:solidFill>
              <a:srgbClr val="D2600F"/>
            </a:solidFill>
          </p:spPr>
        </p:sp>
      </p:grpSp>
      <p:sp>
        <p:nvSpPr>
          <p:cNvPr id="18" name="TextBox 18"/>
          <p:cNvSpPr txBox="1"/>
          <p:nvPr/>
        </p:nvSpPr>
        <p:spPr>
          <a:xfrm>
            <a:off x="2422179" y="3833965"/>
            <a:ext cx="3437572" cy="366370"/>
          </a:xfrm>
          <a:prstGeom prst="rect">
            <a:avLst/>
          </a:prstGeom>
        </p:spPr>
        <p:txBody>
          <a:bodyPr lIns="0" tIns="0" rIns="0" bIns="0" rtlCol="0" anchor="t">
            <a:spAutoFit/>
          </a:bodyPr>
          <a:lstStyle/>
          <a:p>
            <a:pPr algn="l">
              <a:lnSpc>
                <a:spcPts val="2995"/>
              </a:lnSpc>
            </a:pPr>
            <a:r>
              <a:rPr lang="en-US" sz="2400">
                <a:solidFill>
                  <a:srgbClr val="2B2E3C"/>
                </a:solidFill>
                <a:latin typeface="Merriweather"/>
                <a:ea typeface="Merriweather"/>
                <a:cs typeface="Merriweather"/>
                <a:sym typeface="Merriweather"/>
              </a:rPr>
              <a:t>Authentication System</a:t>
            </a:r>
          </a:p>
        </p:txBody>
      </p:sp>
      <p:sp>
        <p:nvSpPr>
          <p:cNvPr id="19" name="TextBox 19"/>
          <p:cNvSpPr txBox="1"/>
          <p:nvPr/>
        </p:nvSpPr>
        <p:spPr>
          <a:xfrm>
            <a:off x="2422179" y="4247255"/>
            <a:ext cx="14516700" cy="358140"/>
          </a:xfrm>
          <a:prstGeom prst="rect">
            <a:avLst/>
          </a:prstGeom>
        </p:spPr>
        <p:txBody>
          <a:bodyPr lIns="0" tIns="0" rIns="0" bIns="0" rtlCol="0" anchor="t">
            <a:spAutoFit/>
          </a:bodyPr>
          <a:lstStyle/>
          <a:p>
            <a:pPr algn="l">
              <a:lnSpc>
                <a:spcPts val="2879"/>
              </a:lnSpc>
            </a:pPr>
            <a:r>
              <a:rPr lang="en-US" sz="1999">
                <a:solidFill>
                  <a:srgbClr val="2B2E3C"/>
                </a:solidFill>
                <a:latin typeface="Roboto"/>
                <a:ea typeface="Roboto"/>
                <a:cs typeface="Roboto"/>
                <a:sym typeface="Roboto"/>
              </a:rPr>
              <a:t>Secure email/password login using hashed passwords (bcrypt) and JWT generation fully implemented.</a:t>
            </a:r>
          </a:p>
        </p:txBody>
      </p:sp>
      <p:grpSp>
        <p:nvGrpSpPr>
          <p:cNvPr id="20" name="Group 20"/>
          <p:cNvGrpSpPr/>
          <p:nvPr/>
        </p:nvGrpSpPr>
        <p:grpSpPr>
          <a:xfrm>
            <a:off x="1489767" y="5228930"/>
            <a:ext cx="451837" cy="28575"/>
            <a:chOff x="0" y="0"/>
            <a:chExt cx="602450" cy="38100"/>
          </a:xfrm>
        </p:grpSpPr>
        <p:sp>
          <p:nvSpPr>
            <p:cNvPr id="21" name="Freeform 21"/>
            <p:cNvSpPr/>
            <p:nvPr/>
          </p:nvSpPr>
          <p:spPr>
            <a:xfrm>
              <a:off x="0" y="0"/>
              <a:ext cx="602488" cy="38100"/>
            </a:xfrm>
            <a:custGeom>
              <a:avLst/>
              <a:gdLst/>
              <a:ahLst/>
              <a:cxnLst/>
              <a:rect l="l" t="t" r="r" b="b"/>
              <a:pathLst>
                <a:path w="602488" h="38100">
                  <a:moveTo>
                    <a:pt x="0" y="19050"/>
                  </a:moveTo>
                  <a:cubicBezTo>
                    <a:pt x="0" y="8509"/>
                    <a:pt x="8509" y="0"/>
                    <a:pt x="19050" y="0"/>
                  </a:cubicBezTo>
                  <a:lnTo>
                    <a:pt x="583438" y="0"/>
                  </a:lnTo>
                  <a:cubicBezTo>
                    <a:pt x="593979" y="0"/>
                    <a:pt x="602488" y="8509"/>
                    <a:pt x="602488" y="19050"/>
                  </a:cubicBezTo>
                  <a:cubicBezTo>
                    <a:pt x="602488" y="29591"/>
                    <a:pt x="593979" y="38100"/>
                    <a:pt x="583438" y="38100"/>
                  </a:cubicBezTo>
                  <a:lnTo>
                    <a:pt x="19050" y="38100"/>
                  </a:lnTo>
                  <a:cubicBezTo>
                    <a:pt x="8509" y="38100"/>
                    <a:pt x="0" y="29591"/>
                    <a:pt x="0" y="19050"/>
                  </a:cubicBezTo>
                  <a:close/>
                </a:path>
              </a:pathLst>
            </a:custGeom>
            <a:solidFill>
              <a:srgbClr val="E2C8B5"/>
            </a:solidFill>
          </p:spPr>
        </p:sp>
      </p:grpSp>
      <p:grpSp>
        <p:nvGrpSpPr>
          <p:cNvPr id="22" name="Group 22"/>
          <p:cNvGrpSpPr/>
          <p:nvPr/>
        </p:nvGrpSpPr>
        <p:grpSpPr>
          <a:xfrm>
            <a:off x="1433665" y="5158530"/>
            <a:ext cx="169364" cy="169364"/>
            <a:chOff x="0" y="0"/>
            <a:chExt cx="225819" cy="225819"/>
          </a:xfrm>
        </p:grpSpPr>
        <p:sp>
          <p:nvSpPr>
            <p:cNvPr id="23" name="Freeform 23"/>
            <p:cNvSpPr/>
            <p:nvPr/>
          </p:nvSpPr>
          <p:spPr>
            <a:xfrm>
              <a:off x="0" y="0"/>
              <a:ext cx="225806" cy="225806"/>
            </a:xfrm>
            <a:custGeom>
              <a:avLst/>
              <a:gdLst/>
              <a:ahLst/>
              <a:cxnLst/>
              <a:rect l="l" t="t" r="r" b="b"/>
              <a:pathLst>
                <a:path w="225806" h="225806">
                  <a:moveTo>
                    <a:pt x="0" y="112903"/>
                  </a:moveTo>
                  <a:cubicBezTo>
                    <a:pt x="0" y="50546"/>
                    <a:pt x="50546" y="0"/>
                    <a:pt x="112903" y="0"/>
                  </a:cubicBezTo>
                  <a:cubicBezTo>
                    <a:pt x="175260" y="0"/>
                    <a:pt x="225806" y="50546"/>
                    <a:pt x="225806" y="112903"/>
                  </a:cubicBezTo>
                  <a:cubicBezTo>
                    <a:pt x="225806" y="175260"/>
                    <a:pt x="175260" y="225806"/>
                    <a:pt x="112903" y="225806"/>
                  </a:cubicBezTo>
                  <a:cubicBezTo>
                    <a:pt x="50546" y="225806"/>
                    <a:pt x="0" y="175260"/>
                    <a:pt x="0" y="112903"/>
                  </a:cubicBezTo>
                  <a:close/>
                </a:path>
              </a:pathLst>
            </a:custGeom>
            <a:solidFill>
              <a:srgbClr val="D2600F"/>
            </a:solidFill>
          </p:spPr>
        </p:sp>
      </p:grpSp>
      <p:sp>
        <p:nvSpPr>
          <p:cNvPr id="24" name="TextBox 24"/>
          <p:cNvSpPr txBox="1"/>
          <p:nvPr/>
        </p:nvSpPr>
        <p:spPr>
          <a:xfrm>
            <a:off x="2422179" y="5057175"/>
            <a:ext cx="3600926" cy="366370"/>
          </a:xfrm>
          <a:prstGeom prst="rect">
            <a:avLst/>
          </a:prstGeom>
        </p:spPr>
        <p:txBody>
          <a:bodyPr lIns="0" tIns="0" rIns="0" bIns="0" rtlCol="0" anchor="t">
            <a:spAutoFit/>
          </a:bodyPr>
          <a:lstStyle/>
          <a:p>
            <a:pPr algn="l">
              <a:lnSpc>
                <a:spcPts val="2995"/>
              </a:lnSpc>
            </a:pPr>
            <a:r>
              <a:rPr lang="en-US" sz="2400">
                <a:solidFill>
                  <a:srgbClr val="2B2E3C"/>
                </a:solidFill>
                <a:latin typeface="Merriweather"/>
                <a:ea typeface="Merriweather"/>
                <a:cs typeface="Merriweather"/>
                <a:sym typeface="Merriweather"/>
              </a:rPr>
              <a:t>Role-Based Middleware</a:t>
            </a:r>
          </a:p>
        </p:txBody>
      </p:sp>
      <p:sp>
        <p:nvSpPr>
          <p:cNvPr id="25" name="TextBox 25"/>
          <p:cNvSpPr txBox="1"/>
          <p:nvPr/>
        </p:nvSpPr>
        <p:spPr>
          <a:xfrm>
            <a:off x="2422179" y="5470474"/>
            <a:ext cx="14516700" cy="358140"/>
          </a:xfrm>
          <a:prstGeom prst="rect">
            <a:avLst/>
          </a:prstGeom>
        </p:spPr>
        <p:txBody>
          <a:bodyPr lIns="0" tIns="0" rIns="0" bIns="0" rtlCol="0" anchor="t">
            <a:spAutoFit/>
          </a:bodyPr>
          <a:lstStyle/>
          <a:p>
            <a:pPr algn="l">
              <a:lnSpc>
                <a:spcPts val="2879"/>
              </a:lnSpc>
            </a:pPr>
            <a:r>
              <a:rPr lang="en-US" sz="1999">
                <a:solidFill>
                  <a:srgbClr val="2B2E3C"/>
                </a:solidFill>
                <a:latin typeface="Roboto"/>
                <a:ea typeface="Roboto"/>
                <a:cs typeface="Roboto"/>
                <a:sym typeface="Roboto"/>
              </a:rPr>
              <a:t>API routes are secured so that lecturers can only manage their own office hours, and students cannot access the admin tools.</a:t>
            </a:r>
          </a:p>
        </p:txBody>
      </p:sp>
      <p:grpSp>
        <p:nvGrpSpPr>
          <p:cNvPr id="26" name="Group 26"/>
          <p:cNvGrpSpPr/>
          <p:nvPr/>
        </p:nvGrpSpPr>
        <p:grpSpPr>
          <a:xfrm>
            <a:off x="1489767" y="6452149"/>
            <a:ext cx="451837" cy="28575"/>
            <a:chOff x="0" y="0"/>
            <a:chExt cx="602450" cy="38100"/>
          </a:xfrm>
        </p:grpSpPr>
        <p:sp>
          <p:nvSpPr>
            <p:cNvPr id="27" name="Freeform 27"/>
            <p:cNvSpPr/>
            <p:nvPr/>
          </p:nvSpPr>
          <p:spPr>
            <a:xfrm>
              <a:off x="0" y="0"/>
              <a:ext cx="602488" cy="38100"/>
            </a:xfrm>
            <a:custGeom>
              <a:avLst/>
              <a:gdLst/>
              <a:ahLst/>
              <a:cxnLst/>
              <a:rect l="l" t="t" r="r" b="b"/>
              <a:pathLst>
                <a:path w="602488" h="38100">
                  <a:moveTo>
                    <a:pt x="0" y="19050"/>
                  </a:moveTo>
                  <a:cubicBezTo>
                    <a:pt x="0" y="8509"/>
                    <a:pt x="8509" y="0"/>
                    <a:pt x="19050" y="0"/>
                  </a:cubicBezTo>
                  <a:lnTo>
                    <a:pt x="583438" y="0"/>
                  </a:lnTo>
                  <a:cubicBezTo>
                    <a:pt x="593979" y="0"/>
                    <a:pt x="602488" y="8509"/>
                    <a:pt x="602488" y="19050"/>
                  </a:cubicBezTo>
                  <a:cubicBezTo>
                    <a:pt x="602488" y="29591"/>
                    <a:pt x="593979" y="38100"/>
                    <a:pt x="583438" y="38100"/>
                  </a:cubicBezTo>
                  <a:lnTo>
                    <a:pt x="19050" y="38100"/>
                  </a:lnTo>
                  <a:cubicBezTo>
                    <a:pt x="8509" y="38100"/>
                    <a:pt x="0" y="29591"/>
                    <a:pt x="0" y="19050"/>
                  </a:cubicBezTo>
                  <a:close/>
                </a:path>
              </a:pathLst>
            </a:custGeom>
            <a:solidFill>
              <a:srgbClr val="E2C8B5"/>
            </a:solidFill>
          </p:spPr>
        </p:sp>
      </p:grpSp>
      <p:grpSp>
        <p:nvGrpSpPr>
          <p:cNvPr id="28" name="Group 28"/>
          <p:cNvGrpSpPr/>
          <p:nvPr/>
        </p:nvGrpSpPr>
        <p:grpSpPr>
          <a:xfrm>
            <a:off x="1433665" y="6381750"/>
            <a:ext cx="169364" cy="169364"/>
            <a:chOff x="0" y="0"/>
            <a:chExt cx="225819" cy="225819"/>
          </a:xfrm>
        </p:grpSpPr>
        <p:sp>
          <p:nvSpPr>
            <p:cNvPr id="29" name="Freeform 29"/>
            <p:cNvSpPr/>
            <p:nvPr/>
          </p:nvSpPr>
          <p:spPr>
            <a:xfrm>
              <a:off x="0" y="0"/>
              <a:ext cx="225806" cy="225806"/>
            </a:xfrm>
            <a:custGeom>
              <a:avLst/>
              <a:gdLst/>
              <a:ahLst/>
              <a:cxnLst/>
              <a:rect l="l" t="t" r="r" b="b"/>
              <a:pathLst>
                <a:path w="225806" h="225806">
                  <a:moveTo>
                    <a:pt x="0" y="112903"/>
                  </a:moveTo>
                  <a:cubicBezTo>
                    <a:pt x="0" y="50546"/>
                    <a:pt x="50546" y="0"/>
                    <a:pt x="112903" y="0"/>
                  </a:cubicBezTo>
                  <a:cubicBezTo>
                    <a:pt x="175260" y="0"/>
                    <a:pt x="225806" y="50546"/>
                    <a:pt x="225806" y="112903"/>
                  </a:cubicBezTo>
                  <a:cubicBezTo>
                    <a:pt x="225806" y="175260"/>
                    <a:pt x="175260" y="225806"/>
                    <a:pt x="112903" y="225806"/>
                  </a:cubicBezTo>
                  <a:cubicBezTo>
                    <a:pt x="50546" y="225806"/>
                    <a:pt x="0" y="175260"/>
                    <a:pt x="0" y="112903"/>
                  </a:cubicBezTo>
                  <a:close/>
                </a:path>
              </a:pathLst>
            </a:custGeom>
            <a:solidFill>
              <a:srgbClr val="D2600F"/>
            </a:solidFill>
          </p:spPr>
        </p:sp>
      </p:grpSp>
      <p:sp>
        <p:nvSpPr>
          <p:cNvPr id="30" name="TextBox 30"/>
          <p:cNvSpPr txBox="1"/>
          <p:nvPr/>
        </p:nvSpPr>
        <p:spPr>
          <a:xfrm>
            <a:off x="2422178" y="6280394"/>
            <a:ext cx="3437571" cy="368755"/>
          </a:xfrm>
          <a:prstGeom prst="rect">
            <a:avLst/>
          </a:prstGeom>
        </p:spPr>
        <p:txBody>
          <a:bodyPr wrap="square" lIns="0" tIns="0" rIns="0" bIns="0" rtlCol="0" anchor="t">
            <a:spAutoFit/>
          </a:bodyPr>
          <a:lstStyle/>
          <a:p>
            <a:pPr algn="l">
              <a:lnSpc>
                <a:spcPts val="2995"/>
              </a:lnSpc>
            </a:pPr>
            <a:r>
              <a:rPr lang="en-US" sz="2400" dirty="0">
                <a:solidFill>
                  <a:srgbClr val="2B2E3C"/>
                </a:solidFill>
                <a:latin typeface="Merriweather"/>
                <a:ea typeface="Merriweather"/>
                <a:cs typeface="Merriweather"/>
                <a:sym typeface="Merriweather"/>
              </a:rPr>
              <a:t>Reservation Logic</a:t>
            </a:r>
          </a:p>
        </p:txBody>
      </p:sp>
      <p:sp>
        <p:nvSpPr>
          <p:cNvPr id="31" name="TextBox 31"/>
          <p:cNvSpPr txBox="1"/>
          <p:nvPr/>
        </p:nvSpPr>
        <p:spPr>
          <a:xfrm>
            <a:off x="2422179" y="6693694"/>
            <a:ext cx="14516700" cy="720090"/>
          </a:xfrm>
          <a:prstGeom prst="rect">
            <a:avLst/>
          </a:prstGeom>
        </p:spPr>
        <p:txBody>
          <a:bodyPr lIns="0" tIns="0" rIns="0" bIns="0" rtlCol="0" anchor="t">
            <a:spAutoFit/>
          </a:bodyPr>
          <a:lstStyle/>
          <a:p>
            <a:pPr algn="l">
              <a:lnSpc>
                <a:spcPts val="2879"/>
              </a:lnSpc>
            </a:pPr>
            <a:r>
              <a:rPr lang="en-US" sz="1999">
                <a:solidFill>
                  <a:srgbClr val="2B2E3C"/>
                </a:solidFill>
                <a:latin typeface="Roboto"/>
                <a:ea typeface="Roboto"/>
                <a:cs typeface="Roboto"/>
                <a:sym typeface="Roboto"/>
              </a:rPr>
              <a:t>Core booking engine ensures that users can only have one active booking per resource. It automatically routes excess requests to a waitlist, which seamlessly promotes users whenever a booked slot is canceled.</a:t>
            </a:r>
          </a:p>
        </p:txBody>
      </p:sp>
      <p:grpSp>
        <p:nvGrpSpPr>
          <p:cNvPr id="32" name="Group 32"/>
          <p:cNvGrpSpPr/>
          <p:nvPr/>
        </p:nvGrpSpPr>
        <p:grpSpPr>
          <a:xfrm>
            <a:off x="1489767" y="8000105"/>
            <a:ext cx="451837" cy="28575"/>
            <a:chOff x="0" y="0"/>
            <a:chExt cx="602450" cy="38100"/>
          </a:xfrm>
        </p:grpSpPr>
        <p:sp>
          <p:nvSpPr>
            <p:cNvPr id="33" name="Freeform 33"/>
            <p:cNvSpPr/>
            <p:nvPr/>
          </p:nvSpPr>
          <p:spPr>
            <a:xfrm>
              <a:off x="0" y="0"/>
              <a:ext cx="602488" cy="38100"/>
            </a:xfrm>
            <a:custGeom>
              <a:avLst/>
              <a:gdLst/>
              <a:ahLst/>
              <a:cxnLst/>
              <a:rect l="l" t="t" r="r" b="b"/>
              <a:pathLst>
                <a:path w="602488" h="38100">
                  <a:moveTo>
                    <a:pt x="0" y="19050"/>
                  </a:moveTo>
                  <a:cubicBezTo>
                    <a:pt x="0" y="8509"/>
                    <a:pt x="8509" y="0"/>
                    <a:pt x="19050" y="0"/>
                  </a:cubicBezTo>
                  <a:lnTo>
                    <a:pt x="583438" y="0"/>
                  </a:lnTo>
                  <a:cubicBezTo>
                    <a:pt x="593979" y="0"/>
                    <a:pt x="602488" y="8509"/>
                    <a:pt x="602488" y="19050"/>
                  </a:cubicBezTo>
                  <a:cubicBezTo>
                    <a:pt x="602488" y="29591"/>
                    <a:pt x="593979" y="38100"/>
                    <a:pt x="583438" y="38100"/>
                  </a:cubicBezTo>
                  <a:lnTo>
                    <a:pt x="19050" y="38100"/>
                  </a:lnTo>
                  <a:cubicBezTo>
                    <a:pt x="8509" y="38100"/>
                    <a:pt x="0" y="29591"/>
                    <a:pt x="0" y="19050"/>
                  </a:cubicBezTo>
                  <a:close/>
                </a:path>
              </a:pathLst>
            </a:custGeom>
            <a:solidFill>
              <a:srgbClr val="E2C8B5"/>
            </a:solidFill>
          </p:spPr>
        </p:sp>
      </p:grpSp>
      <p:grpSp>
        <p:nvGrpSpPr>
          <p:cNvPr id="34" name="Group 34"/>
          <p:cNvGrpSpPr/>
          <p:nvPr/>
        </p:nvGrpSpPr>
        <p:grpSpPr>
          <a:xfrm>
            <a:off x="1433665" y="7929715"/>
            <a:ext cx="169364" cy="169364"/>
            <a:chOff x="0" y="0"/>
            <a:chExt cx="225819" cy="225819"/>
          </a:xfrm>
        </p:grpSpPr>
        <p:sp>
          <p:nvSpPr>
            <p:cNvPr id="35" name="Freeform 35"/>
            <p:cNvSpPr/>
            <p:nvPr/>
          </p:nvSpPr>
          <p:spPr>
            <a:xfrm>
              <a:off x="0" y="0"/>
              <a:ext cx="225806" cy="225806"/>
            </a:xfrm>
            <a:custGeom>
              <a:avLst/>
              <a:gdLst/>
              <a:ahLst/>
              <a:cxnLst/>
              <a:rect l="l" t="t" r="r" b="b"/>
              <a:pathLst>
                <a:path w="225806" h="225806">
                  <a:moveTo>
                    <a:pt x="0" y="112903"/>
                  </a:moveTo>
                  <a:cubicBezTo>
                    <a:pt x="0" y="50546"/>
                    <a:pt x="50546" y="0"/>
                    <a:pt x="112903" y="0"/>
                  </a:cubicBezTo>
                  <a:cubicBezTo>
                    <a:pt x="175260" y="0"/>
                    <a:pt x="225806" y="50546"/>
                    <a:pt x="225806" y="112903"/>
                  </a:cubicBezTo>
                  <a:cubicBezTo>
                    <a:pt x="225806" y="175260"/>
                    <a:pt x="175260" y="225806"/>
                    <a:pt x="112903" y="225806"/>
                  </a:cubicBezTo>
                  <a:cubicBezTo>
                    <a:pt x="50546" y="225806"/>
                    <a:pt x="0" y="175260"/>
                    <a:pt x="0" y="112903"/>
                  </a:cubicBezTo>
                  <a:close/>
                </a:path>
              </a:pathLst>
            </a:custGeom>
            <a:solidFill>
              <a:srgbClr val="D2600F"/>
            </a:solidFill>
          </p:spPr>
        </p:sp>
      </p:grpSp>
      <p:sp>
        <p:nvSpPr>
          <p:cNvPr id="36" name="TextBox 36"/>
          <p:cNvSpPr txBox="1"/>
          <p:nvPr/>
        </p:nvSpPr>
        <p:spPr>
          <a:xfrm>
            <a:off x="2422179" y="7828359"/>
            <a:ext cx="2946202" cy="366370"/>
          </a:xfrm>
          <a:prstGeom prst="rect">
            <a:avLst/>
          </a:prstGeom>
        </p:spPr>
        <p:txBody>
          <a:bodyPr lIns="0" tIns="0" rIns="0" bIns="0" rtlCol="0" anchor="t">
            <a:spAutoFit/>
          </a:bodyPr>
          <a:lstStyle/>
          <a:p>
            <a:pPr algn="l">
              <a:lnSpc>
                <a:spcPts val="2995"/>
              </a:lnSpc>
            </a:pPr>
            <a:r>
              <a:rPr lang="en-US" sz="2400">
                <a:solidFill>
                  <a:srgbClr val="2B2E3C"/>
                </a:solidFill>
                <a:latin typeface="Merriweather"/>
                <a:ea typeface="Merriweather"/>
                <a:cs typeface="Merriweather"/>
                <a:sym typeface="Merriweather"/>
              </a:rPr>
              <a:t>Notification Engine</a:t>
            </a:r>
          </a:p>
        </p:txBody>
      </p:sp>
      <p:sp>
        <p:nvSpPr>
          <p:cNvPr id="37" name="TextBox 37"/>
          <p:cNvSpPr txBox="1"/>
          <p:nvPr/>
        </p:nvSpPr>
        <p:spPr>
          <a:xfrm>
            <a:off x="2422179" y="8241659"/>
            <a:ext cx="14516700" cy="358140"/>
          </a:xfrm>
          <a:prstGeom prst="rect">
            <a:avLst/>
          </a:prstGeom>
        </p:spPr>
        <p:txBody>
          <a:bodyPr lIns="0" tIns="0" rIns="0" bIns="0" rtlCol="0" anchor="t">
            <a:spAutoFit/>
          </a:bodyPr>
          <a:lstStyle/>
          <a:p>
            <a:pPr algn="l">
              <a:lnSpc>
                <a:spcPts val="2879"/>
              </a:lnSpc>
            </a:pPr>
            <a:r>
              <a:rPr lang="en-US" sz="1999">
                <a:solidFill>
                  <a:srgbClr val="2B2E3C"/>
                </a:solidFill>
                <a:latin typeface="Roboto"/>
                <a:ea typeface="Roboto"/>
                <a:cs typeface="Roboto"/>
                <a:sym typeface="Roboto"/>
              </a:rPr>
              <a:t>System dispatches internal notifications when resources are modified or waitlisted students are promoted.</a:t>
            </a:r>
          </a:p>
        </p:txBody>
      </p:sp>
      <p:grpSp>
        <p:nvGrpSpPr>
          <p:cNvPr id="38" name="Group 38"/>
          <p:cNvGrpSpPr/>
          <p:nvPr/>
        </p:nvGrpSpPr>
        <p:grpSpPr>
          <a:xfrm>
            <a:off x="1348978" y="8825951"/>
            <a:ext cx="15589891" cy="835971"/>
            <a:chOff x="0" y="0"/>
            <a:chExt cx="20786522" cy="1114628"/>
          </a:xfrm>
        </p:grpSpPr>
        <p:sp>
          <p:nvSpPr>
            <p:cNvPr id="39" name="Freeform 39"/>
            <p:cNvSpPr/>
            <p:nvPr/>
          </p:nvSpPr>
          <p:spPr>
            <a:xfrm>
              <a:off x="0" y="0"/>
              <a:ext cx="20786471" cy="1114552"/>
            </a:xfrm>
            <a:custGeom>
              <a:avLst/>
              <a:gdLst/>
              <a:ahLst/>
              <a:cxnLst/>
              <a:rect l="l" t="t" r="r" b="b"/>
              <a:pathLst>
                <a:path w="20786471" h="1114552">
                  <a:moveTo>
                    <a:pt x="0" y="126492"/>
                  </a:moveTo>
                  <a:cubicBezTo>
                    <a:pt x="0" y="56642"/>
                    <a:pt x="56642" y="0"/>
                    <a:pt x="126492" y="0"/>
                  </a:cubicBezTo>
                  <a:lnTo>
                    <a:pt x="20659979" y="0"/>
                  </a:lnTo>
                  <a:cubicBezTo>
                    <a:pt x="20729829" y="0"/>
                    <a:pt x="20786471" y="56642"/>
                    <a:pt x="20786471" y="126492"/>
                  </a:cubicBezTo>
                  <a:lnTo>
                    <a:pt x="20786471" y="988060"/>
                  </a:lnTo>
                  <a:cubicBezTo>
                    <a:pt x="20786471" y="1057910"/>
                    <a:pt x="20729829" y="1114552"/>
                    <a:pt x="20659979" y="1114552"/>
                  </a:cubicBezTo>
                  <a:lnTo>
                    <a:pt x="126492" y="1114552"/>
                  </a:lnTo>
                  <a:cubicBezTo>
                    <a:pt x="56642" y="1114679"/>
                    <a:pt x="0" y="1058037"/>
                    <a:pt x="0" y="988060"/>
                  </a:cubicBezTo>
                  <a:close/>
                </a:path>
              </a:pathLst>
            </a:custGeom>
            <a:solidFill>
              <a:srgbClr val="B6FCB8"/>
            </a:solidFill>
          </p:spPr>
        </p:sp>
      </p:grpSp>
      <p:grpSp>
        <p:nvGrpSpPr>
          <p:cNvPr id="40" name="Group 40"/>
          <p:cNvGrpSpPr/>
          <p:nvPr/>
        </p:nvGrpSpPr>
        <p:grpSpPr>
          <a:xfrm>
            <a:off x="1574902" y="9158135"/>
            <a:ext cx="282331" cy="225923"/>
            <a:chOff x="0" y="0"/>
            <a:chExt cx="376441" cy="301231"/>
          </a:xfrm>
        </p:grpSpPr>
        <p:sp>
          <p:nvSpPr>
            <p:cNvPr id="41" name="Freeform 41" descr="preencoded.png"/>
            <p:cNvSpPr/>
            <p:nvPr/>
          </p:nvSpPr>
          <p:spPr>
            <a:xfrm>
              <a:off x="0" y="0"/>
              <a:ext cx="376428" cy="301244"/>
            </a:xfrm>
            <a:custGeom>
              <a:avLst/>
              <a:gdLst/>
              <a:ahLst/>
              <a:cxnLst/>
              <a:rect l="l" t="t" r="r" b="b"/>
              <a:pathLst>
                <a:path w="376428" h="301244">
                  <a:moveTo>
                    <a:pt x="0" y="0"/>
                  </a:moveTo>
                  <a:lnTo>
                    <a:pt x="376428" y="0"/>
                  </a:lnTo>
                  <a:lnTo>
                    <a:pt x="376428" y="301244"/>
                  </a:lnTo>
                  <a:lnTo>
                    <a:pt x="0" y="301244"/>
                  </a:lnTo>
                  <a:lnTo>
                    <a:pt x="0" y="0"/>
                  </a:lnTo>
                  <a:close/>
                </a:path>
              </a:pathLst>
            </a:custGeom>
            <a:blipFill>
              <a:blip r:embed="rId3"/>
              <a:stretch>
                <a:fillRect l="-13" r="-16" b="4"/>
              </a:stretch>
            </a:blipFill>
          </p:spPr>
        </p:sp>
      </p:grpSp>
      <p:sp>
        <p:nvSpPr>
          <p:cNvPr id="42" name="TextBox 42"/>
          <p:cNvSpPr txBox="1"/>
          <p:nvPr/>
        </p:nvSpPr>
        <p:spPr>
          <a:xfrm>
            <a:off x="2083146" y="9005145"/>
            <a:ext cx="15544200" cy="358140"/>
          </a:xfrm>
          <a:prstGeom prst="rect">
            <a:avLst/>
          </a:prstGeom>
        </p:spPr>
        <p:txBody>
          <a:bodyPr lIns="0" tIns="0" rIns="0" bIns="0" rtlCol="0" anchor="t">
            <a:spAutoFit/>
          </a:bodyPr>
          <a:lstStyle/>
          <a:p>
            <a:pPr algn="l">
              <a:lnSpc>
                <a:spcPts val="2879"/>
              </a:lnSpc>
            </a:pPr>
            <a:r>
              <a:rPr lang="en-US" sz="1999" dirty="0">
                <a:solidFill>
                  <a:srgbClr val="000000"/>
                </a:solidFill>
                <a:latin typeface="Roboto"/>
                <a:ea typeface="Roboto"/>
                <a:cs typeface="Roboto"/>
                <a:sym typeface="Roboto"/>
              </a:rPr>
              <a:t>All five core phases are complete and tested, forming a fully functional reservation and notification backend.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8F0"/>
            </a:solidFill>
          </p:spPr>
        </p:sp>
      </p:grpSp>
      <p:sp>
        <p:nvSpPr>
          <p:cNvPr id="4" name="TextBox 4"/>
          <p:cNvSpPr txBox="1"/>
          <p:nvPr/>
        </p:nvSpPr>
        <p:spPr>
          <a:xfrm>
            <a:off x="992238" y="1126922"/>
            <a:ext cx="10698242" cy="852297"/>
          </a:xfrm>
          <a:prstGeom prst="rect">
            <a:avLst/>
          </a:prstGeom>
        </p:spPr>
        <p:txBody>
          <a:bodyPr lIns="0" tIns="0" rIns="0" bIns="0" rtlCol="0" anchor="t">
            <a:spAutoFit/>
          </a:bodyPr>
          <a:lstStyle/>
          <a:p>
            <a:pPr algn="l">
              <a:lnSpc>
                <a:spcPts val="6864"/>
              </a:lnSpc>
            </a:pPr>
            <a:r>
              <a:rPr lang="en-US" sz="5500">
                <a:solidFill>
                  <a:srgbClr val="2C3F42"/>
                </a:solidFill>
                <a:latin typeface="Merriweather"/>
                <a:ea typeface="Merriweather"/>
                <a:cs typeface="Merriweather"/>
                <a:sym typeface="Merriweather"/>
              </a:rPr>
              <a:t>Implementation &amp; Screenshots</a:t>
            </a:r>
          </a:p>
        </p:txBody>
      </p:sp>
      <p:sp>
        <p:nvSpPr>
          <p:cNvPr id="5" name="TextBox 5"/>
          <p:cNvSpPr txBox="1"/>
          <p:nvPr/>
        </p:nvSpPr>
        <p:spPr>
          <a:xfrm>
            <a:off x="992238" y="2361905"/>
            <a:ext cx="16303523" cy="860907"/>
          </a:xfrm>
          <a:prstGeom prst="rect">
            <a:avLst/>
          </a:prstGeom>
        </p:spPr>
        <p:txBody>
          <a:bodyPr lIns="0" tIns="0" rIns="0" bIns="0" rtlCol="0" anchor="t">
            <a:spAutoFit/>
          </a:bodyPr>
          <a:lstStyle/>
          <a:p>
            <a:pPr algn="l">
              <a:lnSpc>
                <a:spcPts val="3511"/>
              </a:lnSpc>
            </a:pPr>
            <a:r>
              <a:rPr lang="en-US" sz="2200">
                <a:solidFill>
                  <a:srgbClr val="2B2E3C"/>
                </a:solidFill>
                <a:latin typeface="Roboto"/>
                <a:ea typeface="Roboto"/>
                <a:cs typeface="Roboto"/>
                <a:sym typeface="Roboto"/>
              </a:rPr>
              <a:t>The following slides walk through the key screens of the UniQueue application, demonstrating the user experience for each role and core workflow.</a:t>
            </a:r>
          </a:p>
        </p:txBody>
      </p:sp>
      <p:grpSp>
        <p:nvGrpSpPr>
          <p:cNvPr id="6" name="Group 6"/>
          <p:cNvGrpSpPr/>
          <p:nvPr/>
        </p:nvGrpSpPr>
        <p:grpSpPr>
          <a:xfrm>
            <a:off x="987476" y="3678584"/>
            <a:ext cx="647405" cy="647405"/>
            <a:chOff x="0" y="0"/>
            <a:chExt cx="863206" cy="863206"/>
          </a:xfrm>
        </p:grpSpPr>
        <p:sp>
          <p:nvSpPr>
            <p:cNvPr id="7" name="Freeform 7"/>
            <p:cNvSpPr/>
            <p:nvPr/>
          </p:nvSpPr>
          <p:spPr>
            <a:xfrm>
              <a:off x="6350" y="6350"/>
              <a:ext cx="850519" cy="850519"/>
            </a:xfrm>
            <a:custGeom>
              <a:avLst/>
              <a:gdLst/>
              <a:ahLst/>
              <a:cxnLst/>
              <a:rect l="l" t="t" r="r" b="b"/>
              <a:pathLst>
                <a:path w="850519" h="850519">
                  <a:moveTo>
                    <a:pt x="0" y="158750"/>
                  </a:moveTo>
                  <a:cubicBezTo>
                    <a:pt x="0" y="71120"/>
                    <a:pt x="71120" y="0"/>
                    <a:pt x="158750" y="0"/>
                  </a:cubicBezTo>
                  <a:lnTo>
                    <a:pt x="691769" y="0"/>
                  </a:lnTo>
                  <a:cubicBezTo>
                    <a:pt x="779399" y="0"/>
                    <a:pt x="850519" y="71120"/>
                    <a:pt x="850519" y="158750"/>
                  </a:cubicBezTo>
                  <a:lnTo>
                    <a:pt x="850519" y="691769"/>
                  </a:lnTo>
                  <a:cubicBezTo>
                    <a:pt x="850519" y="779399"/>
                    <a:pt x="779399" y="850519"/>
                    <a:pt x="691769" y="850519"/>
                  </a:cubicBezTo>
                  <a:lnTo>
                    <a:pt x="158750" y="850519"/>
                  </a:lnTo>
                  <a:cubicBezTo>
                    <a:pt x="71120" y="850519"/>
                    <a:pt x="0" y="779399"/>
                    <a:pt x="0" y="691769"/>
                  </a:cubicBezTo>
                  <a:close/>
                </a:path>
              </a:pathLst>
            </a:custGeom>
            <a:solidFill>
              <a:srgbClr val="FCE2CF"/>
            </a:solidFill>
          </p:spPr>
        </p:sp>
        <p:sp>
          <p:nvSpPr>
            <p:cNvPr id="8" name="Freeform 8"/>
            <p:cNvSpPr/>
            <p:nvPr/>
          </p:nvSpPr>
          <p:spPr>
            <a:xfrm>
              <a:off x="0" y="0"/>
              <a:ext cx="863219" cy="863219"/>
            </a:xfrm>
            <a:custGeom>
              <a:avLst/>
              <a:gdLst/>
              <a:ahLst/>
              <a:cxnLst/>
              <a:rect l="l" t="t" r="r" b="b"/>
              <a:pathLst>
                <a:path w="863219" h="863219">
                  <a:moveTo>
                    <a:pt x="0" y="165100"/>
                  </a:moveTo>
                  <a:cubicBezTo>
                    <a:pt x="0" y="73914"/>
                    <a:pt x="73914" y="0"/>
                    <a:pt x="165100" y="0"/>
                  </a:cubicBezTo>
                  <a:lnTo>
                    <a:pt x="698119" y="0"/>
                  </a:lnTo>
                  <a:lnTo>
                    <a:pt x="698119" y="6350"/>
                  </a:lnTo>
                  <a:lnTo>
                    <a:pt x="698119" y="0"/>
                  </a:lnTo>
                  <a:lnTo>
                    <a:pt x="698119" y="6350"/>
                  </a:lnTo>
                  <a:lnTo>
                    <a:pt x="698119" y="0"/>
                  </a:lnTo>
                  <a:cubicBezTo>
                    <a:pt x="789305" y="0"/>
                    <a:pt x="863219" y="73914"/>
                    <a:pt x="863219" y="165100"/>
                  </a:cubicBezTo>
                  <a:lnTo>
                    <a:pt x="863219" y="698119"/>
                  </a:lnTo>
                  <a:lnTo>
                    <a:pt x="856869" y="698119"/>
                  </a:lnTo>
                  <a:lnTo>
                    <a:pt x="863219" y="698119"/>
                  </a:lnTo>
                  <a:cubicBezTo>
                    <a:pt x="863219" y="789305"/>
                    <a:pt x="789305" y="863219"/>
                    <a:pt x="698119" y="863219"/>
                  </a:cubicBezTo>
                  <a:lnTo>
                    <a:pt x="698119" y="856869"/>
                  </a:lnTo>
                  <a:lnTo>
                    <a:pt x="698119" y="863219"/>
                  </a:lnTo>
                  <a:lnTo>
                    <a:pt x="165100" y="863219"/>
                  </a:lnTo>
                  <a:lnTo>
                    <a:pt x="165100" y="856869"/>
                  </a:lnTo>
                  <a:lnTo>
                    <a:pt x="165100" y="863219"/>
                  </a:lnTo>
                  <a:cubicBezTo>
                    <a:pt x="73914" y="863219"/>
                    <a:pt x="0" y="789305"/>
                    <a:pt x="0" y="698119"/>
                  </a:cubicBezTo>
                  <a:lnTo>
                    <a:pt x="0" y="165100"/>
                  </a:lnTo>
                  <a:lnTo>
                    <a:pt x="6350" y="165100"/>
                  </a:lnTo>
                  <a:lnTo>
                    <a:pt x="0" y="165100"/>
                  </a:lnTo>
                  <a:moveTo>
                    <a:pt x="12700" y="165100"/>
                  </a:moveTo>
                  <a:lnTo>
                    <a:pt x="12700" y="698119"/>
                  </a:lnTo>
                  <a:lnTo>
                    <a:pt x="6350" y="698119"/>
                  </a:lnTo>
                  <a:lnTo>
                    <a:pt x="12700" y="698119"/>
                  </a:lnTo>
                  <a:cubicBezTo>
                    <a:pt x="12700" y="782320"/>
                    <a:pt x="80899" y="850519"/>
                    <a:pt x="165100" y="850519"/>
                  </a:cubicBezTo>
                  <a:lnTo>
                    <a:pt x="698119" y="850519"/>
                  </a:lnTo>
                  <a:cubicBezTo>
                    <a:pt x="782320" y="850519"/>
                    <a:pt x="850519" y="782320"/>
                    <a:pt x="850519" y="698119"/>
                  </a:cubicBezTo>
                  <a:lnTo>
                    <a:pt x="850519" y="165100"/>
                  </a:lnTo>
                  <a:lnTo>
                    <a:pt x="856869" y="165100"/>
                  </a:lnTo>
                  <a:lnTo>
                    <a:pt x="850519" y="165100"/>
                  </a:lnTo>
                  <a:cubicBezTo>
                    <a:pt x="850519" y="80899"/>
                    <a:pt x="782320" y="12700"/>
                    <a:pt x="698119" y="12700"/>
                  </a:cubicBezTo>
                  <a:lnTo>
                    <a:pt x="165100" y="12700"/>
                  </a:lnTo>
                  <a:lnTo>
                    <a:pt x="165100" y="6350"/>
                  </a:lnTo>
                  <a:lnTo>
                    <a:pt x="165100" y="12700"/>
                  </a:lnTo>
                  <a:cubicBezTo>
                    <a:pt x="80899" y="12700"/>
                    <a:pt x="12700" y="80899"/>
                    <a:pt x="12700" y="165100"/>
                  </a:cubicBezTo>
                  <a:close/>
                </a:path>
              </a:pathLst>
            </a:custGeom>
            <a:solidFill>
              <a:srgbClr val="E2C8B5"/>
            </a:solidFill>
          </p:spPr>
        </p:sp>
      </p:grpSp>
      <p:grpSp>
        <p:nvGrpSpPr>
          <p:cNvPr id="9" name="Group 9"/>
          <p:cNvGrpSpPr/>
          <p:nvPr/>
        </p:nvGrpSpPr>
        <p:grpSpPr>
          <a:xfrm>
            <a:off x="1098575" y="3736477"/>
            <a:ext cx="425206" cy="636956"/>
            <a:chOff x="0" y="0"/>
            <a:chExt cx="566941" cy="849274"/>
          </a:xfrm>
        </p:grpSpPr>
        <p:sp>
          <p:nvSpPr>
            <p:cNvPr id="10" name="Freeform 10"/>
            <p:cNvSpPr/>
            <p:nvPr/>
          </p:nvSpPr>
          <p:spPr>
            <a:xfrm>
              <a:off x="0" y="0"/>
              <a:ext cx="566936" cy="849281"/>
            </a:xfrm>
            <a:custGeom>
              <a:avLst/>
              <a:gdLst/>
              <a:ahLst/>
              <a:cxnLst/>
              <a:rect l="l" t="t" r="r" b="b"/>
              <a:pathLst>
                <a:path w="566936" h="849281">
                  <a:moveTo>
                    <a:pt x="0" y="0"/>
                  </a:moveTo>
                  <a:lnTo>
                    <a:pt x="566936" y="0"/>
                  </a:lnTo>
                  <a:lnTo>
                    <a:pt x="566936" y="849281"/>
                  </a:lnTo>
                  <a:lnTo>
                    <a:pt x="0" y="849281"/>
                  </a:lnTo>
                  <a:close/>
                </a:path>
              </a:pathLst>
            </a:custGeom>
            <a:blipFill>
              <a:blip r:embed="rId3">
                <a:alphaModFix amt="0"/>
              </a:blip>
              <a:stretch>
                <a:fillRect l="-110411" r="-110412" b="16539"/>
              </a:stretch>
            </a:blipFill>
          </p:spPr>
        </p:sp>
        <p:sp>
          <p:nvSpPr>
            <p:cNvPr id="11" name="TextBox 11"/>
            <p:cNvSpPr txBox="1"/>
            <p:nvPr/>
          </p:nvSpPr>
          <p:spPr>
            <a:xfrm>
              <a:off x="0" y="9525"/>
              <a:ext cx="566941" cy="839749"/>
            </a:xfrm>
            <a:prstGeom prst="rect">
              <a:avLst/>
            </a:prstGeom>
          </p:spPr>
          <p:txBody>
            <a:bodyPr lIns="0" tIns="0" rIns="0" bIns="0" rtlCol="0" anchor="ctr"/>
            <a:lstStyle/>
            <a:p>
              <a:pPr algn="ctr">
                <a:lnSpc>
                  <a:spcPts val="3960"/>
                </a:lnSpc>
              </a:pPr>
              <a:r>
                <a:rPr lang="en-US" sz="3300">
                  <a:solidFill>
                    <a:srgbClr val="2B2E3C"/>
                  </a:solidFill>
                  <a:latin typeface="Merriweather"/>
                  <a:ea typeface="Merriweather"/>
                  <a:cs typeface="Merriweather"/>
                  <a:sym typeface="Merriweather"/>
                </a:rPr>
                <a:t>1</a:t>
              </a:r>
            </a:p>
          </p:txBody>
        </p:sp>
      </p:grpSp>
      <p:sp>
        <p:nvSpPr>
          <p:cNvPr id="12" name="TextBox 12"/>
          <p:cNvSpPr txBox="1"/>
          <p:nvPr/>
        </p:nvSpPr>
        <p:spPr>
          <a:xfrm>
            <a:off x="1913630" y="3771157"/>
            <a:ext cx="2194560" cy="412166"/>
          </a:xfrm>
          <a:prstGeom prst="rect">
            <a:avLst/>
          </a:prstGeom>
        </p:spPr>
        <p:txBody>
          <a:bodyPr lIns="0" tIns="0" rIns="0" bIns="0" rtlCol="0" anchor="t">
            <a:spAutoFit/>
          </a:bodyPr>
          <a:lstStyle/>
          <a:p>
            <a:pPr algn="l">
              <a:lnSpc>
                <a:spcPts val="3369"/>
              </a:lnSpc>
            </a:pPr>
            <a:r>
              <a:rPr lang="en-US" sz="2700">
                <a:solidFill>
                  <a:srgbClr val="2B2E3C"/>
                </a:solidFill>
                <a:latin typeface="Merriweather"/>
                <a:ea typeface="Merriweather"/>
                <a:cs typeface="Merriweather"/>
                <a:sym typeface="Merriweather"/>
              </a:rPr>
              <a:t>Login Screen</a:t>
            </a:r>
          </a:p>
        </p:txBody>
      </p:sp>
      <p:grpSp>
        <p:nvGrpSpPr>
          <p:cNvPr id="13" name="Group 13"/>
          <p:cNvGrpSpPr/>
          <p:nvPr/>
        </p:nvGrpSpPr>
        <p:grpSpPr>
          <a:xfrm>
            <a:off x="987476" y="4883496"/>
            <a:ext cx="647405" cy="647405"/>
            <a:chOff x="0" y="0"/>
            <a:chExt cx="863206" cy="863206"/>
          </a:xfrm>
        </p:grpSpPr>
        <p:sp>
          <p:nvSpPr>
            <p:cNvPr id="14" name="Freeform 14"/>
            <p:cNvSpPr/>
            <p:nvPr/>
          </p:nvSpPr>
          <p:spPr>
            <a:xfrm>
              <a:off x="6350" y="6350"/>
              <a:ext cx="850519" cy="850519"/>
            </a:xfrm>
            <a:custGeom>
              <a:avLst/>
              <a:gdLst/>
              <a:ahLst/>
              <a:cxnLst/>
              <a:rect l="l" t="t" r="r" b="b"/>
              <a:pathLst>
                <a:path w="850519" h="850519">
                  <a:moveTo>
                    <a:pt x="0" y="158750"/>
                  </a:moveTo>
                  <a:cubicBezTo>
                    <a:pt x="0" y="71120"/>
                    <a:pt x="71120" y="0"/>
                    <a:pt x="158750" y="0"/>
                  </a:cubicBezTo>
                  <a:lnTo>
                    <a:pt x="691769" y="0"/>
                  </a:lnTo>
                  <a:cubicBezTo>
                    <a:pt x="779399" y="0"/>
                    <a:pt x="850519" y="71120"/>
                    <a:pt x="850519" y="158750"/>
                  </a:cubicBezTo>
                  <a:lnTo>
                    <a:pt x="850519" y="691769"/>
                  </a:lnTo>
                  <a:cubicBezTo>
                    <a:pt x="850519" y="779399"/>
                    <a:pt x="779399" y="850519"/>
                    <a:pt x="691769" y="850519"/>
                  </a:cubicBezTo>
                  <a:lnTo>
                    <a:pt x="158750" y="850519"/>
                  </a:lnTo>
                  <a:cubicBezTo>
                    <a:pt x="71120" y="850519"/>
                    <a:pt x="0" y="779399"/>
                    <a:pt x="0" y="691769"/>
                  </a:cubicBezTo>
                  <a:close/>
                </a:path>
              </a:pathLst>
            </a:custGeom>
            <a:solidFill>
              <a:srgbClr val="FCE2CF"/>
            </a:solidFill>
          </p:spPr>
        </p:sp>
        <p:sp>
          <p:nvSpPr>
            <p:cNvPr id="15" name="Freeform 15"/>
            <p:cNvSpPr/>
            <p:nvPr/>
          </p:nvSpPr>
          <p:spPr>
            <a:xfrm>
              <a:off x="0" y="0"/>
              <a:ext cx="863219" cy="863219"/>
            </a:xfrm>
            <a:custGeom>
              <a:avLst/>
              <a:gdLst/>
              <a:ahLst/>
              <a:cxnLst/>
              <a:rect l="l" t="t" r="r" b="b"/>
              <a:pathLst>
                <a:path w="863219" h="863219">
                  <a:moveTo>
                    <a:pt x="0" y="165100"/>
                  </a:moveTo>
                  <a:cubicBezTo>
                    <a:pt x="0" y="73914"/>
                    <a:pt x="73914" y="0"/>
                    <a:pt x="165100" y="0"/>
                  </a:cubicBezTo>
                  <a:lnTo>
                    <a:pt x="698119" y="0"/>
                  </a:lnTo>
                  <a:lnTo>
                    <a:pt x="698119" y="6350"/>
                  </a:lnTo>
                  <a:lnTo>
                    <a:pt x="698119" y="0"/>
                  </a:lnTo>
                  <a:lnTo>
                    <a:pt x="698119" y="6350"/>
                  </a:lnTo>
                  <a:lnTo>
                    <a:pt x="698119" y="0"/>
                  </a:lnTo>
                  <a:cubicBezTo>
                    <a:pt x="789305" y="0"/>
                    <a:pt x="863219" y="73914"/>
                    <a:pt x="863219" y="165100"/>
                  </a:cubicBezTo>
                  <a:lnTo>
                    <a:pt x="863219" y="698119"/>
                  </a:lnTo>
                  <a:lnTo>
                    <a:pt x="856869" y="698119"/>
                  </a:lnTo>
                  <a:lnTo>
                    <a:pt x="863219" y="698119"/>
                  </a:lnTo>
                  <a:cubicBezTo>
                    <a:pt x="863219" y="789305"/>
                    <a:pt x="789305" y="863219"/>
                    <a:pt x="698119" y="863219"/>
                  </a:cubicBezTo>
                  <a:lnTo>
                    <a:pt x="698119" y="856869"/>
                  </a:lnTo>
                  <a:lnTo>
                    <a:pt x="698119" y="863219"/>
                  </a:lnTo>
                  <a:lnTo>
                    <a:pt x="165100" y="863219"/>
                  </a:lnTo>
                  <a:lnTo>
                    <a:pt x="165100" y="856869"/>
                  </a:lnTo>
                  <a:lnTo>
                    <a:pt x="165100" y="863219"/>
                  </a:lnTo>
                  <a:cubicBezTo>
                    <a:pt x="73914" y="863219"/>
                    <a:pt x="0" y="789305"/>
                    <a:pt x="0" y="698119"/>
                  </a:cubicBezTo>
                  <a:lnTo>
                    <a:pt x="0" y="165100"/>
                  </a:lnTo>
                  <a:lnTo>
                    <a:pt x="6350" y="165100"/>
                  </a:lnTo>
                  <a:lnTo>
                    <a:pt x="0" y="165100"/>
                  </a:lnTo>
                  <a:moveTo>
                    <a:pt x="12700" y="165100"/>
                  </a:moveTo>
                  <a:lnTo>
                    <a:pt x="12700" y="698119"/>
                  </a:lnTo>
                  <a:lnTo>
                    <a:pt x="6350" y="698119"/>
                  </a:lnTo>
                  <a:lnTo>
                    <a:pt x="12700" y="698119"/>
                  </a:lnTo>
                  <a:cubicBezTo>
                    <a:pt x="12700" y="782320"/>
                    <a:pt x="80899" y="850519"/>
                    <a:pt x="165100" y="850519"/>
                  </a:cubicBezTo>
                  <a:lnTo>
                    <a:pt x="698119" y="850519"/>
                  </a:lnTo>
                  <a:cubicBezTo>
                    <a:pt x="782320" y="850519"/>
                    <a:pt x="850519" y="782320"/>
                    <a:pt x="850519" y="698119"/>
                  </a:cubicBezTo>
                  <a:lnTo>
                    <a:pt x="850519" y="165100"/>
                  </a:lnTo>
                  <a:lnTo>
                    <a:pt x="856869" y="165100"/>
                  </a:lnTo>
                  <a:lnTo>
                    <a:pt x="850519" y="165100"/>
                  </a:lnTo>
                  <a:cubicBezTo>
                    <a:pt x="850519" y="80899"/>
                    <a:pt x="782320" y="12700"/>
                    <a:pt x="698119" y="12700"/>
                  </a:cubicBezTo>
                  <a:lnTo>
                    <a:pt x="165100" y="12700"/>
                  </a:lnTo>
                  <a:lnTo>
                    <a:pt x="165100" y="6350"/>
                  </a:lnTo>
                  <a:lnTo>
                    <a:pt x="165100" y="12700"/>
                  </a:lnTo>
                  <a:cubicBezTo>
                    <a:pt x="80899" y="12700"/>
                    <a:pt x="12700" y="80899"/>
                    <a:pt x="12700" y="165100"/>
                  </a:cubicBezTo>
                  <a:close/>
                </a:path>
              </a:pathLst>
            </a:custGeom>
            <a:solidFill>
              <a:srgbClr val="E2C8B5"/>
            </a:solidFill>
          </p:spPr>
        </p:sp>
      </p:grpSp>
      <p:grpSp>
        <p:nvGrpSpPr>
          <p:cNvPr id="16" name="Group 16"/>
          <p:cNvGrpSpPr/>
          <p:nvPr/>
        </p:nvGrpSpPr>
        <p:grpSpPr>
          <a:xfrm>
            <a:off x="1098575" y="4941389"/>
            <a:ext cx="425206" cy="636956"/>
            <a:chOff x="0" y="0"/>
            <a:chExt cx="566941" cy="849274"/>
          </a:xfrm>
        </p:grpSpPr>
        <p:sp>
          <p:nvSpPr>
            <p:cNvPr id="17" name="Freeform 17"/>
            <p:cNvSpPr/>
            <p:nvPr/>
          </p:nvSpPr>
          <p:spPr>
            <a:xfrm>
              <a:off x="0" y="0"/>
              <a:ext cx="566936" cy="849281"/>
            </a:xfrm>
            <a:custGeom>
              <a:avLst/>
              <a:gdLst/>
              <a:ahLst/>
              <a:cxnLst/>
              <a:rect l="l" t="t" r="r" b="b"/>
              <a:pathLst>
                <a:path w="566936" h="849281">
                  <a:moveTo>
                    <a:pt x="0" y="0"/>
                  </a:moveTo>
                  <a:lnTo>
                    <a:pt x="566936" y="0"/>
                  </a:lnTo>
                  <a:lnTo>
                    <a:pt x="566936" y="849281"/>
                  </a:lnTo>
                  <a:lnTo>
                    <a:pt x="0" y="849281"/>
                  </a:lnTo>
                  <a:close/>
                </a:path>
              </a:pathLst>
            </a:custGeom>
            <a:blipFill>
              <a:blip r:embed="rId3">
                <a:alphaModFix amt="0"/>
              </a:blip>
              <a:stretch>
                <a:fillRect l="-110411" r="-110412" b="16539"/>
              </a:stretch>
            </a:blipFill>
          </p:spPr>
        </p:sp>
        <p:sp>
          <p:nvSpPr>
            <p:cNvPr id="18" name="TextBox 18"/>
            <p:cNvSpPr txBox="1"/>
            <p:nvPr/>
          </p:nvSpPr>
          <p:spPr>
            <a:xfrm>
              <a:off x="0" y="9525"/>
              <a:ext cx="566941" cy="839749"/>
            </a:xfrm>
            <a:prstGeom prst="rect">
              <a:avLst/>
            </a:prstGeom>
          </p:spPr>
          <p:txBody>
            <a:bodyPr lIns="0" tIns="0" rIns="0" bIns="0" rtlCol="0" anchor="ctr"/>
            <a:lstStyle/>
            <a:p>
              <a:pPr algn="ctr">
                <a:lnSpc>
                  <a:spcPts val="3960"/>
                </a:lnSpc>
              </a:pPr>
              <a:r>
                <a:rPr lang="en-US" sz="3300">
                  <a:solidFill>
                    <a:srgbClr val="2B2E3C"/>
                  </a:solidFill>
                  <a:latin typeface="Merriweather"/>
                  <a:ea typeface="Merriweather"/>
                  <a:cs typeface="Merriweather"/>
                  <a:sym typeface="Merriweather"/>
                </a:rPr>
                <a:t>2</a:t>
              </a:r>
            </a:p>
          </p:txBody>
        </p:sp>
      </p:grpSp>
      <p:sp>
        <p:nvSpPr>
          <p:cNvPr id="19" name="TextBox 19"/>
          <p:cNvSpPr txBox="1"/>
          <p:nvPr/>
        </p:nvSpPr>
        <p:spPr>
          <a:xfrm>
            <a:off x="1913630" y="4976070"/>
            <a:ext cx="3238381" cy="412166"/>
          </a:xfrm>
          <a:prstGeom prst="rect">
            <a:avLst/>
          </a:prstGeom>
        </p:spPr>
        <p:txBody>
          <a:bodyPr lIns="0" tIns="0" rIns="0" bIns="0" rtlCol="0" anchor="t">
            <a:spAutoFit/>
          </a:bodyPr>
          <a:lstStyle/>
          <a:p>
            <a:pPr algn="l">
              <a:lnSpc>
                <a:spcPts val="3369"/>
              </a:lnSpc>
            </a:pPr>
            <a:r>
              <a:rPr lang="en-US" sz="2700">
                <a:solidFill>
                  <a:srgbClr val="2B2E3C"/>
                </a:solidFill>
                <a:latin typeface="Merriweather"/>
                <a:ea typeface="Merriweather"/>
                <a:cs typeface="Merriweather"/>
                <a:sym typeface="Merriweather"/>
              </a:rPr>
              <a:t>Student Dashboard</a:t>
            </a:r>
          </a:p>
        </p:txBody>
      </p:sp>
      <p:grpSp>
        <p:nvGrpSpPr>
          <p:cNvPr id="20" name="Group 20"/>
          <p:cNvGrpSpPr/>
          <p:nvPr/>
        </p:nvGrpSpPr>
        <p:grpSpPr>
          <a:xfrm>
            <a:off x="987476" y="6088409"/>
            <a:ext cx="647405" cy="647405"/>
            <a:chOff x="0" y="0"/>
            <a:chExt cx="863206" cy="863206"/>
          </a:xfrm>
        </p:grpSpPr>
        <p:sp>
          <p:nvSpPr>
            <p:cNvPr id="21" name="Freeform 21"/>
            <p:cNvSpPr/>
            <p:nvPr/>
          </p:nvSpPr>
          <p:spPr>
            <a:xfrm>
              <a:off x="6350" y="6350"/>
              <a:ext cx="850519" cy="850519"/>
            </a:xfrm>
            <a:custGeom>
              <a:avLst/>
              <a:gdLst/>
              <a:ahLst/>
              <a:cxnLst/>
              <a:rect l="l" t="t" r="r" b="b"/>
              <a:pathLst>
                <a:path w="850519" h="850519">
                  <a:moveTo>
                    <a:pt x="0" y="158750"/>
                  </a:moveTo>
                  <a:cubicBezTo>
                    <a:pt x="0" y="71120"/>
                    <a:pt x="71120" y="0"/>
                    <a:pt x="158750" y="0"/>
                  </a:cubicBezTo>
                  <a:lnTo>
                    <a:pt x="691769" y="0"/>
                  </a:lnTo>
                  <a:cubicBezTo>
                    <a:pt x="779399" y="0"/>
                    <a:pt x="850519" y="71120"/>
                    <a:pt x="850519" y="158750"/>
                  </a:cubicBezTo>
                  <a:lnTo>
                    <a:pt x="850519" y="691769"/>
                  </a:lnTo>
                  <a:cubicBezTo>
                    <a:pt x="850519" y="779399"/>
                    <a:pt x="779399" y="850519"/>
                    <a:pt x="691769" y="850519"/>
                  </a:cubicBezTo>
                  <a:lnTo>
                    <a:pt x="158750" y="850519"/>
                  </a:lnTo>
                  <a:cubicBezTo>
                    <a:pt x="71120" y="850519"/>
                    <a:pt x="0" y="779399"/>
                    <a:pt x="0" y="691769"/>
                  </a:cubicBezTo>
                  <a:close/>
                </a:path>
              </a:pathLst>
            </a:custGeom>
            <a:solidFill>
              <a:srgbClr val="FCE2CF"/>
            </a:solidFill>
          </p:spPr>
        </p:sp>
        <p:sp>
          <p:nvSpPr>
            <p:cNvPr id="22" name="Freeform 22"/>
            <p:cNvSpPr/>
            <p:nvPr/>
          </p:nvSpPr>
          <p:spPr>
            <a:xfrm>
              <a:off x="0" y="0"/>
              <a:ext cx="863219" cy="863219"/>
            </a:xfrm>
            <a:custGeom>
              <a:avLst/>
              <a:gdLst/>
              <a:ahLst/>
              <a:cxnLst/>
              <a:rect l="l" t="t" r="r" b="b"/>
              <a:pathLst>
                <a:path w="863219" h="863219">
                  <a:moveTo>
                    <a:pt x="0" y="165100"/>
                  </a:moveTo>
                  <a:cubicBezTo>
                    <a:pt x="0" y="73914"/>
                    <a:pt x="73914" y="0"/>
                    <a:pt x="165100" y="0"/>
                  </a:cubicBezTo>
                  <a:lnTo>
                    <a:pt x="698119" y="0"/>
                  </a:lnTo>
                  <a:lnTo>
                    <a:pt x="698119" y="6350"/>
                  </a:lnTo>
                  <a:lnTo>
                    <a:pt x="698119" y="0"/>
                  </a:lnTo>
                  <a:lnTo>
                    <a:pt x="698119" y="6350"/>
                  </a:lnTo>
                  <a:lnTo>
                    <a:pt x="698119" y="0"/>
                  </a:lnTo>
                  <a:cubicBezTo>
                    <a:pt x="789305" y="0"/>
                    <a:pt x="863219" y="73914"/>
                    <a:pt x="863219" y="165100"/>
                  </a:cubicBezTo>
                  <a:lnTo>
                    <a:pt x="863219" y="698119"/>
                  </a:lnTo>
                  <a:lnTo>
                    <a:pt x="856869" y="698119"/>
                  </a:lnTo>
                  <a:lnTo>
                    <a:pt x="863219" y="698119"/>
                  </a:lnTo>
                  <a:cubicBezTo>
                    <a:pt x="863219" y="789305"/>
                    <a:pt x="789305" y="863219"/>
                    <a:pt x="698119" y="863219"/>
                  </a:cubicBezTo>
                  <a:lnTo>
                    <a:pt x="698119" y="856869"/>
                  </a:lnTo>
                  <a:lnTo>
                    <a:pt x="698119" y="863219"/>
                  </a:lnTo>
                  <a:lnTo>
                    <a:pt x="165100" y="863219"/>
                  </a:lnTo>
                  <a:lnTo>
                    <a:pt x="165100" y="856869"/>
                  </a:lnTo>
                  <a:lnTo>
                    <a:pt x="165100" y="863219"/>
                  </a:lnTo>
                  <a:cubicBezTo>
                    <a:pt x="73914" y="863219"/>
                    <a:pt x="0" y="789305"/>
                    <a:pt x="0" y="698119"/>
                  </a:cubicBezTo>
                  <a:lnTo>
                    <a:pt x="0" y="165100"/>
                  </a:lnTo>
                  <a:lnTo>
                    <a:pt x="6350" y="165100"/>
                  </a:lnTo>
                  <a:lnTo>
                    <a:pt x="0" y="165100"/>
                  </a:lnTo>
                  <a:moveTo>
                    <a:pt x="12700" y="165100"/>
                  </a:moveTo>
                  <a:lnTo>
                    <a:pt x="12700" y="698119"/>
                  </a:lnTo>
                  <a:lnTo>
                    <a:pt x="6350" y="698119"/>
                  </a:lnTo>
                  <a:lnTo>
                    <a:pt x="12700" y="698119"/>
                  </a:lnTo>
                  <a:cubicBezTo>
                    <a:pt x="12700" y="782320"/>
                    <a:pt x="80899" y="850519"/>
                    <a:pt x="165100" y="850519"/>
                  </a:cubicBezTo>
                  <a:lnTo>
                    <a:pt x="698119" y="850519"/>
                  </a:lnTo>
                  <a:cubicBezTo>
                    <a:pt x="782320" y="850519"/>
                    <a:pt x="850519" y="782320"/>
                    <a:pt x="850519" y="698119"/>
                  </a:cubicBezTo>
                  <a:lnTo>
                    <a:pt x="850519" y="165100"/>
                  </a:lnTo>
                  <a:lnTo>
                    <a:pt x="856869" y="165100"/>
                  </a:lnTo>
                  <a:lnTo>
                    <a:pt x="850519" y="165100"/>
                  </a:lnTo>
                  <a:cubicBezTo>
                    <a:pt x="850519" y="80899"/>
                    <a:pt x="782320" y="12700"/>
                    <a:pt x="698119" y="12700"/>
                  </a:cubicBezTo>
                  <a:lnTo>
                    <a:pt x="165100" y="12700"/>
                  </a:lnTo>
                  <a:lnTo>
                    <a:pt x="165100" y="6350"/>
                  </a:lnTo>
                  <a:lnTo>
                    <a:pt x="165100" y="12700"/>
                  </a:lnTo>
                  <a:cubicBezTo>
                    <a:pt x="80899" y="12700"/>
                    <a:pt x="12700" y="80899"/>
                    <a:pt x="12700" y="165100"/>
                  </a:cubicBezTo>
                  <a:close/>
                </a:path>
              </a:pathLst>
            </a:custGeom>
            <a:solidFill>
              <a:srgbClr val="E2C8B5"/>
            </a:solidFill>
          </p:spPr>
        </p:sp>
      </p:grpSp>
      <p:grpSp>
        <p:nvGrpSpPr>
          <p:cNvPr id="23" name="Group 23"/>
          <p:cNvGrpSpPr/>
          <p:nvPr/>
        </p:nvGrpSpPr>
        <p:grpSpPr>
          <a:xfrm>
            <a:off x="1098575" y="6146302"/>
            <a:ext cx="425206" cy="636956"/>
            <a:chOff x="0" y="0"/>
            <a:chExt cx="566941" cy="849274"/>
          </a:xfrm>
        </p:grpSpPr>
        <p:sp>
          <p:nvSpPr>
            <p:cNvPr id="24" name="Freeform 24"/>
            <p:cNvSpPr/>
            <p:nvPr/>
          </p:nvSpPr>
          <p:spPr>
            <a:xfrm>
              <a:off x="0" y="0"/>
              <a:ext cx="566936" cy="849281"/>
            </a:xfrm>
            <a:custGeom>
              <a:avLst/>
              <a:gdLst/>
              <a:ahLst/>
              <a:cxnLst/>
              <a:rect l="l" t="t" r="r" b="b"/>
              <a:pathLst>
                <a:path w="566936" h="849281">
                  <a:moveTo>
                    <a:pt x="0" y="0"/>
                  </a:moveTo>
                  <a:lnTo>
                    <a:pt x="566936" y="0"/>
                  </a:lnTo>
                  <a:lnTo>
                    <a:pt x="566936" y="849281"/>
                  </a:lnTo>
                  <a:lnTo>
                    <a:pt x="0" y="849281"/>
                  </a:lnTo>
                  <a:close/>
                </a:path>
              </a:pathLst>
            </a:custGeom>
            <a:blipFill>
              <a:blip r:embed="rId3">
                <a:alphaModFix amt="0"/>
              </a:blip>
              <a:stretch>
                <a:fillRect l="-110411" r="-110412" b="16539"/>
              </a:stretch>
            </a:blipFill>
          </p:spPr>
        </p:sp>
        <p:sp>
          <p:nvSpPr>
            <p:cNvPr id="25" name="TextBox 25"/>
            <p:cNvSpPr txBox="1"/>
            <p:nvPr/>
          </p:nvSpPr>
          <p:spPr>
            <a:xfrm>
              <a:off x="0" y="9525"/>
              <a:ext cx="566941" cy="839749"/>
            </a:xfrm>
            <a:prstGeom prst="rect">
              <a:avLst/>
            </a:prstGeom>
          </p:spPr>
          <p:txBody>
            <a:bodyPr lIns="0" tIns="0" rIns="0" bIns="0" rtlCol="0" anchor="ctr"/>
            <a:lstStyle/>
            <a:p>
              <a:pPr algn="ctr">
                <a:lnSpc>
                  <a:spcPts val="3960"/>
                </a:lnSpc>
              </a:pPr>
              <a:r>
                <a:rPr lang="en-US" sz="3300">
                  <a:solidFill>
                    <a:srgbClr val="2B2E3C"/>
                  </a:solidFill>
                  <a:latin typeface="Merriweather"/>
                  <a:ea typeface="Merriweather"/>
                  <a:cs typeface="Merriweather"/>
                  <a:sym typeface="Merriweather"/>
                </a:rPr>
                <a:t>3</a:t>
              </a:r>
            </a:p>
          </p:txBody>
        </p:sp>
      </p:grpSp>
      <p:sp>
        <p:nvSpPr>
          <p:cNvPr id="26" name="TextBox 26"/>
          <p:cNvSpPr txBox="1"/>
          <p:nvPr/>
        </p:nvSpPr>
        <p:spPr>
          <a:xfrm>
            <a:off x="1913630" y="6180982"/>
            <a:ext cx="3877570" cy="417230"/>
          </a:xfrm>
          <a:prstGeom prst="rect">
            <a:avLst/>
          </a:prstGeom>
        </p:spPr>
        <p:txBody>
          <a:bodyPr wrap="square" lIns="0" tIns="0" rIns="0" bIns="0" rtlCol="0" anchor="t">
            <a:spAutoFit/>
          </a:bodyPr>
          <a:lstStyle/>
          <a:p>
            <a:pPr algn="l">
              <a:lnSpc>
                <a:spcPts val="3369"/>
              </a:lnSpc>
            </a:pPr>
            <a:r>
              <a:rPr lang="en-US" sz="2700" dirty="0">
                <a:solidFill>
                  <a:srgbClr val="2B2E3C"/>
                </a:solidFill>
                <a:latin typeface="Merriweather"/>
                <a:ea typeface="Merriweather"/>
                <a:cs typeface="Merriweather"/>
                <a:sym typeface="Merriweather"/>
              </a:rPr>
              <a:t>Lecturer Dashboard</a:t>
            </a:r>
          </a:p>
        </p:txBody>
      </p:sp>
      <p:grpSp>
        <p:nvGrpSpPr>
          <p:cNvPr id="27" name="Group 27"/>
          <p:cNvGrpSpPr/>
          <p:nvPr/>
        </p:nvGrpSpPr>
        <p:grpSpPr>
          <a:xfrm>
            <a:off x="987476" y="7293321"/>
            <a:ext cx="647405" cy="647405"/>
            <a:chOff x="0" y="0"/>
            <a:chExt cx="863206" cy="863206"/>
          </a:xfrm>
        </p:grpSpPr>
        <p:sp>
          <p:nvSpPr>
            <p:cNvPr id="28" name="Freeform 28"/>
            <p:cNvSpPr/>
            <p:nvPr/>
          </p:nvSpPr>
          <p:spPr>
            <a:xfrm>
              <a:off x="6350" y="6350"/>
              <a:ext cx="850519" cy="850519"/>
            </a:xfrm>
            <a:custGeom>
              <a:avLst/>
              <a:gdLst/>
              <a:ahLst/>
              <a:cxnLst/>
              <a:rect l="l" t="t" r="r" b="b"/>
              <a:pathLst>
                <a:path w="850519" h="850519">
                  <a:moveTo>
                    <a:pt x="0" y="158750"/>
                  </a:moveTo>
                  <a:cubicBezTo>
                    <a:pt x="0" y="71120"/>
                    <a:pt x="71120" y="0"/>
                    <a:pt x="158750" y="0"/>
                  </a:cubicBezTo>
                  <a:lnTo>
                    <a:pt x="691769" y="0"/>
                  </a:lnTo>
                  <a:cubicBezTo>
                    <a:pt x="779399" y="0"/>
                    <a:pt x="850519" y="71120"/>
                    <a:pt x="850519" y="158750"/>
                  </a:cubicBezTo>
                  <a:lnTo>
                    <a:pt x="850519" y="691769"/>
                  </a:lnTo>
                  <a:cubicBezTo>
                    <a:pt x="850519" y="779399"/>
                    <a:pt x="779399" y="850519"/>
                    <a:pt x="691769" y="850519"/>
                  </a:cubicBezTo>
                  <a:lnTo>
                    <a:pt x="158750" y="850519"/>
                  </a:lnTo>
                  <a:cubicBezTo>
                    <a:pt x="71120" y="850519"/>
                    <a:pt x="0" y="779399"/>
                    <a:pt x="0" y="691769"/>
                  </a:cubicBezTo>
                  <a:close/>
                </a:path>
              </a:pathLst>
            </a:custGeom>
            <a:solidFill>
              <a:srgbClr val="FCE2CF"/>
            </a:solidFill>
          </p:spPr>
        </p:sp>
        <p:sp>
          <p:nvSpPr>
            <p:cNvPr id="29" name="Freeform 29"/>
            <p:cNvSpPr/>
            <p:nvPr/>
          </p:nvSpPr>
          <p:spPr>
            <a:xfrm>
              <a:off x="0" y="0"/>
              <a:ext cx="863219" cy="863219"/>
            </a:xfrm>
            <a:custGeom>
              <a:avLst/>
              <a:gdLst/>
              <a:ahLst/>
              <a:cxnLst/>
              <a:rect l="l" t="t" r="r" b="b"/>
              <a:pathLst>
                <a:path w="863219" h="863219">
                  <a:moveTo>
                    <a:pt x="0" y="165100"/>
                  </a:moveTo>
                  <a:cubicBezTo>
                    <a:pt x="0" y="73914"/>
                    <a:pt x="73914" y="0"/>
                    <a:pt x="165100" y="0"/>
                  </a:cubicBezTo>
                  <a:lnTo>
                    <a:pt x="698119" y="0"/>
                  </a:lnTo>
                  <a:lnTo>
                    <a:pt x="698119" y="6350"/>
                  </a:lnTo>
                  <a:lnTo>
                    <a:pt x="698119" y="0"/>
                  </a:lnTo>
                  <a:lnTo>
                    <a:pt x="698119" y="6350"/>
                  </a:lnTo>
                  <a:lnTo>
                    <a:pt x="698119" y="0"/>
                  </a:lnTo>
                  <a:cubicBezTo>
                    <a:pt x="789305" y="0"/>
                    <a:pt x="863219" y="73914"/>
                    <a:pt x="863219" y="165100"/>
                  </a:cubicBezTo>
                  <a:lnTo>
                    <a:pt x="863219" y="698119"/>
                  </a:lnTo>
                  <a:lnTo>
                    <a:pt x="856869" y="698119"/>
                  </a:lnTo>
                  <a:lnTo>
                    <a:pt x="863219" y="698119"/>
                  </a:lnTo>
                  <a:cubicBezTo>
                    <a:pt x="863219" y="789305"/>
                    <a:pt x="789305" y="863219"/>
                    <a:pt x="698119" y="863219"/>
                  </a:cubicBezTo>
                  <a:lnTo>
                    <a:pt x="698119" y="856869"/>
                  </a:lnTo>
                  <a:lnTo>
                    <a:pt x="698119" y="863219"/>
                  </a:lnTo>
                  <a:lnTo>
                    <a:pt x="165100" y="863219"/>
                  </a:lnTo>
                  <a:lnTo>
                    <a:pt x="165100" y="856869"/>
                  </a:lnTo>
                  <a:lnTo>
                    <a:pt x="165100" y="863219"/>
                  </a:lnTo>
                  <a:cubicBezTo>
                    <a:pt x="73914" y="863219"/>
                    <a:pt x="0" y="789305"/>
                    <a:pt x="0" y="698119"/>
                  </a:cubicBezTo>
                  <a:lnTo>
                    <a:pt x="0" y="165100"/>
                  </a:lnTo>
                  <a:lnTo>
                    <a:pt x="6350" y="165100"/>
                  </a:lnTo>
                  <a:lnTo>
                    <a:pt x="0" y="165100"/>
                  </a:lnTo>
                  <a:moveTo>
                    <a:pt x="12700" y="165100"/>
                  </a:moveTo>
                  <a:lnTo>
                    <a:pt x="12700" y="698119"/>
                  </a:lnTo>
                  <a:lnTo>
                    <a:pt x="6350" y="698119"/>
                  </a:lnTo>
                  <a:lnTo>
                    <a:pt x="12700" y="698119"/>
                  </a:lnTo>
                  <a:cubicBezTo>
                    <a:pt x="12700" y="782320"/>
                    <a:pt x="80899" y="850519"/>
                    <a:pt x="165100" y="850519"/>
                  </a:cubicBezTo>
                  <a:lnTo>
                    <a:pt x="698119" y="850519"/>
                  </a:lnTo>
                  <a:cubicBezTo>
                    <a:pt x="782320" y="850519"/>
                    <a:pt x="850519" y="782320"/>
                    <a:pt x="850519" y="698119"/>
                  </a:cubicBezTo>
                  <a:lnTo>
                    <a:pt x="850519" y="165100"/>
                  </a:lnTo>
                  <a:lnTo>
                    <a:pt x="856869" y="165100"/>
                  </a:lnTo>
                  <a:lnTo>
                    <a:pt x="850519" y="165100"/>
                  </a:lnTo>
                  <a:cubicBezTo>
                    <a:pt x="850519" y="80899"/>
                    <a:pt x="782320" y="12700"/>
                    <a:pt x="698119" y="12700"/>
                  </a:cubicBezTo>
                  <a:lnTo>
                    <a:pt x="165100" y="12700"/>
                  </a:lnTo>
                  <a:lnTo>
                    <a:pt x="165100" y="6350"/>
                  </a:lnTo>
                  <a:lnTo>
                    <a:pt x="165100" y="12700"/>
                  </a:lnTo>
                  <a:cubicBezTo>
                    <a:pt x="80899" y="12700"/>
                    <a:pt x="12700" y="80899"/>
                    <a:pt x="12700" y="165100"/>
                  </a:cubicBezTo>
                  <a:close/>
                </a:path>
              </a:pathLst>
            </a:custGeom>
            <a:solidFill>
              <a:srgbClr val="E2C8B5"/>
            </a:solidFill>
          </p:spPr>
        </p:sp>
      </p:grpSp>
      <p:grpSp>
        <p:nvGrpSpPr>
          <p:cNvPr id="30" name="Group 30"/>
          <p:cNvGrpSpPr/>
          <p:nvPr/>
        </p:nvGrpSpPr>
        <p:grpSpPr>
          <a:xfrm>
            <a:off x="1098575" y="7351214"/>
            <a:ext cx="425206" cy="636956"/>
            <a:chOff x="0" y="0"/>
            <a:chExt cx="566941" cy="849274"/>
          </a:xfrm>
        </p:grpSpPr>
        <p:sp>
          <p:nvSpPr>
            <p:cNvPr id="31" name="Freeform 31"/>
            <p:cNvSpPr/>
            <p:nvPr/>
          </p:nvSpPr>
          <p:spPr>
            <a:xfrm>
              <a:off x="0" y="0"/>
              <a:ext cx="566936" cy="849281"/>
            </a:xfrm>
            <a:custGeom>
              <a:avLst/>
              <a:gdLst/>
              <a:ahLst/>
              <a:cxnLst/>
              <a:rect l="l" t="t" r="r" b="b"/>
              <a:pathLst>
                <a:path w="566936" h="849281">
                  <a:moveTo>
                    <a:pt x="0" y="0"/>
                  </a:moveTo>
                  <a:lnTo>
                    <a:pt x="566936" y="0"/>
                  </a:lnTo>
                  <a:lnTo>
                    <a:pt x="566936" y="849281"/>
                  </a:lnTo>
                  <a:lnTo>
                    <a:pt x="0" y="849281"/>
                  </a:lnTo>
                  <a:close/>
                </a:path>
              </a:pathLst>
            </a:custGeom>
            <a:blipFill>
              <a:blip r:embed="rId3">
                <a:alphaModFix amt="0"/>
              </a:blip>
              <a:stretch>
                <a:fillRect l="-110411" r="-110412" b="16539"/>
              </a:stretch>
            </a:blipFill>
          </p:spPr>
        </p:sp>
        <p:sp>
          <p:nvSpPr>
            <p:cNvPr id="32" name="TextBox 32"/>
            <p:cNvSpPr txBox="1"/>
            <p:nvPr/>
          </p:nvSpPr>
          <p:spPr>
            <a:xfrm>
              <a:off x="0" y="9525"/>
              <a:ext cx="566941" cy="839749"/>
            </a:xfrm>
            <a:prstGeom prst="rect">
              <a:avLst/>
            </a:prstGeom>
          </p:spPr>
          <p:txBody>
            <a:bodyPr lIns="0" tIns="0" rIns="0" bIns="0" rtlCol="0" anchor="ctr"/>
            <a:lstStyle/>
            <a:p>
              <a:pPr algn="ctr">
                <a:lnSpc>
                  <a:spcPts val="3960"/>
                </a:lnSpc>
              </a:pPr>
              <a:r>
                <a:rPr lang="en-US" sz="3300">
                  <a:solidFill>
                    <a:srgbClr val="2B2E3C"/>
                  </a:solidFill>
                  <a:latin typeface="Merriweather"/>
                  <a:ea typeface="Merriweather"/>
                  <a:cs typeface="Merriweather"/>
                  <a:sym typeface="Merriweather"/>
                </a:rPr>
                <a:t>4</a:t>
              </a:r>
            </a:p>
          </p:txBody>
        </p:sp>
      </p:grpSp>
      <p:sp>
        <p:nvSpPr>
          <p:cNvPr id="33" name="TextBox 33"/>
          <p:cNvSpPr txBox="1"/>
          <p:nvPr/>
        </p:nvSpPr>
        <p:spPr>
          <a:xfrm>
            <a:off x="1913630" y="7385895"/>
            <a:ext cx="4182370" cy="417230"/>
          </a:xfrm>
          <a:prstGeom prst="rect">
            <a:avLst/>
          </a:prstGeom>
        </p:spPr>
        <p:txBody>
          <a:bodyPr wrap="square" lIns="0" tIns="0" rIns="0" bIns="0" rtlCol="0" anchor="t">
            <a:spAutoFit/>
          </a:bodyPr>
          <a:lstStyle/>
          <a:p>
            <a:pPr algn="l">
              <a:lnSpc>
                <a:spcPts val="3369"/>
              </a:lnSpc>
            </a:pPr>
            <a:r>
              <a:rPr lang="en-US" sz="2700" dirty="0">
                <a:solidFill>
                  <a:srgbClr val="2B2E3C"/>
                </a:solidFill>
                <a:latin typeface="Merriweather"/>
                <a:ea typeface="Merriweather"/>
                <a:cs typeface="Merriweather"/>
                <a:sym typeface="Merriweather"/>
              </a:rPr>
              <a:t>Bus Driver Dashboard</a:t>
            </a:r>
          </a:p>
        </p:txBody>
      </p:sp>
      <p:grpSp>
        <p:nvGrpSpPr>
          <p:cNvPr id="34" name="Group 34"/>
          <p:cNvGrpSpPr/>
          <p:nvPr/>
        </p:nvGrpSpPr>
        <p:grpSpPr>
          <a:xfrm>
            <a:off x="987476" y="8498234"/>
            <a:ext cx="647405" cy="647405"/>
            <a:chOff x="0" y="0"/>
            <a:chExt cx="863206" cy="863206"/>
          </a:xfrm>
        </p:grpSpPr>
        <p:sp>
          <p:nvSpPr>
            <p:cNvPr id="35" name="Freeform 35"/>
            <p:cNvSpPr/>
            <p:nvPr/>
          </p:nvSpPr>
          <p:spPr>
            <a:xfrm>
              <a:off x="6350" y="6350"/>
              <a:ext cx="850519" cy="850519"/>
            </a:xfrm>
            <a:custGeom>
              <a:avLst/>
              <a:gdLst/>
              <a:ahLst/>
              <a:cxnLst/>
              <a:rect l="l" t="t" r="r" b="b"/>
              <a:pathLst>
                <a:path w="850519" h="850519">
                  <a:moveTo>
                    <a:pt x="0" y="158750"/>
                  </a:moveTo>
                  <a:cubicBezTo>
                    <a:pt x="0" y="71120"/>
                    <a:pt x="71120" y="0"/>
                    <a:pt x="158750" y="0"/>
                  </a:cubicBezTo>
                  <a:lnTo>
                    <a:pt x="691769" y="0"/>
                  </a:lnTo>
                  <a:cubicBezTo>
                    <a:pt x="779399" y="0"/>
                    <a:pt x="850519" y="71120"/>
                    <a:pt x="850519" y="158750"/>
                  </a:cubicBezTo>
                  <a:lnTo>
                    <a:pt x="850519" y="691769"/>
                  </a:lnTo>
                  <a:cubicBezTo>
                    <a:pt x="850519" y="779399"/>
                    <a:pt x="779399" y="850519"/>
                    <a:pt x="691769" y="850519"/>
                  </a:cubicBezTo>
                  <a:lnTo>
                    <a:pt x="158750" y="850519"/>
                  </a:lnTo>
                  <a:cubicBezTo>
                    <a:pt x="71120" y="850519"/>
                    <a:pt x="0" y="779399"/>
                    <a:pt x="0" y="691769"/>
                  </a:cubicBezTo>
                  <a:close/>
                </a:path>
              </a:pathLst>
            </a:custGeom>
            <a:solidFill>
              <a:srgbClr val="FCE2CF"/>
            </a:solidFill>
          </p:spPr>
        </p:sp>
        <p:sp>
          <p:nvSpPr>
            <p:cNvPr id="36" name="Freeform 36"/>
            <p:cNvSpPr/>
            <p:nvPr/>
          </p:nvSpPr>
          <p:spPr>
            <a:xfrm>
              <a:off x="0" y="0"/>
              <a:ext cx="863219" cy="863219"/>
            </a:xfrm>
            <a:custGeom>
              <a:avLst/>
              <a:gdLst/>
              <a:ahLst/>
              <a:cxnLst/>
              <a:rect l="l" t="t" r="r" b="b"/>
              <a:pathLst>
                <a:path w="863219" h="863219">
                  <a:moveTo>
                    <a:pt x="0" y="165100"/>
                  </a:moveTo>
                  <a:cubicBezTo>
                    <a:pt x="0" y="73914"/>
                    <a:pt x="73914" y="0"/>
                    <a:pt x="165100" y="0"/>
                  </a:cubicBezTo>
                  <a:lnTo>
                    <a:pt x="698119" y="0"/>
                  </a:lnTo>
                  <a:lnTo>
                    <a:pt x="698119" y="6350"/>
                  </a:lnTo>
                  <a:lnTo>
                    <a:pt x="698119" y="0"/>
                  </a:lnTo>
                  <a:lnTo>
                    <a:pt x="698119" y="6350"/>
                  </a:lnTo>
                  <a:lnTo>
                    <a:pt x="698119" y="0"/>
                  </a:lnTo>
                  <a:cubicBezTo>
                    <a:pt x="789305" y="0"/>
                    <a:pt x="863219" y="73914"/>
                    <a:pt x="863219" y="165100"/>
                  </a:cubicBezTo>
                  <a:lnTo>
                    <a:pt x="863219" y="698119"/>
                  </a:lnTo>
                  <a:lnTo>
                    <a:pt x="856869" y="698119"/>
                  </a:lnTo>
                  <a:lnTo>
                    <a:pt x="863219" y="698119"/>
                  </a:lnTo>
                  <a:cubicBezTo>
                    <a:pt x="863219" y="789305"/>
                    <a:pt x="789305" y="863219"/>
                    <a:pt x="698119" y="863219"/>
                  </a:cubicBezTo>
                  <a:lnTo>
                    <a:pt x="698119" y="856869"/>
                  </a:lnTo>
                  <a:lnTo>
                    <a:pt x="698119" y="863219"/>
                  </a:lnTo>
                  <a:lnTo>
                    <a:pt x="165100" y="863219"/>
                  </a:lnTo>
                  <a:lnTo>
                    <a:pt x="165100" y="856869"/>
                  </a:lnTo>
                  <a:lnTo>
                    <a:pt x="165100" y="863219"/>
                  </a:lnTo>
                  <a:cubicBezTo>
                    <a:pt x="73914" y="863219"/>
                    <a:pt x="0" y="789305"/>
                    <a:pt x="0" y="698119"/>
                  </a:cubicBezTo>
                  <a:lnTo>
                    <a:pt x="0" y="165100"/>
                  </a:lnTo>
                  <a:lnTo>
                    <a:pt x="6350" y="165100"/>
                  </a:lnTo>
                  <a:lnTo>
                    <a:pt x="0" y="165100"/>
                  </a:lnTo>
                  <a:moveTo>
                    <a:pt x="12700" y="165100"/>
                  </a:moveTo>
                  <a:lnTo>
                    <a:pt x="12700" y="698119"/>
                  </a:lnTo>
                  <a:lnTo>
                    <a:pt x="6350" y="698119"/>
                  </a:lnTo>
                  <a:lnTo>
                    <a:pt x="12700" y="698119"/>
                  </a:lnTo>
                  <a:cubicBezTo>
                    <a:pt x="12700" y="782320"/>
                    <a:pt x="80899" y="850519"/>
                    <a:pt x="165100" y="850519"/>
                  </a:cubicBezTo>
                  <a:lnTo>
                    <a:pt x="698119" y="850519"/>
                  </a:lnTo>
                  <a:cubicBezTo>
                    <a:pt x="782320" y="850519"/>
                    <a:pt x="850519" y="782320"/>
                    <a:pt x="850519" y="698119"/>
                  </a:cubicBezTo>
                  <a:lnTo>
                    <a:pt x="850519" y="165100"/>
                  </a:lnTo>
                  <a:lnTo>
                    <a:pt x="856869" y="165100"/>
                  </a:lnTo>
                  <a:lnTo>
                    <a:pt x="850519" y="165100"/>
                  </a:lnTo>
                  <a:cubicBezTo>
                    <a:pt x="850519" y="80899"/>
                    <a:pt x="782320" y="12700"/>
                    <a:pt x="698119" y="12700"/>
                  </a:cubicBezTo>
                  <a:lnTo>
                    <a:pt x="165100" y="12700"/>
                  </a:lnTo>
                  <a:lnTo>
                    <a:pt x="165100" y="6350"/>
                  </a:lnTo>
                  <a:lnTo>
                    <a:pt x="165100" y="12700"/>
                  </a:lnTo>
                  <a:cubicBezTo>
                    <a:pt x="80899" y="12700"/>
                    <a:pt x="12700" y="80899"/>
                    <a:pt x="12700" y="165100"/>
                  </a:cubicBezTo>
                  <a:close/>
                </a:path>
              </a:pathLst>
            </a:custGeom>
            <a:solidFill>
              <a:srgbClr val="E2C8B5"/>
            </a:solidFill>
          </p:spPr>
        </p:sp>
      </p:grpSp>
      <p:grpSp>
        <p:nvGrpSpPr>
          <p:cNvPr id="37" name="Group 37"/>
          <p:cNvGrpSpPr/>
          <p:nvPr/>
        </p:nvGrpSpPr>
        <p:grpSpPr>
          <a:xfrm>
            <a:off x="1098575" y="8556127"/>
            <a:ext cx="425206" cy="636956"/>
            <a:chOff x="0" y="0"/>
            <a:chExt cx="566941" cy="849274"/>
          </a:xfrm>
        </p:grpSpPr>
        <p:sp>
          <p:nvSpPr>
            <p:cNvPr id="38" name="Freeform 38"/>
            <p:cNvSpPr/>
            <p:nvPr/>
          </p:nvSpPr>
          <p:spPr>
            <a:xfrm>
              <a:off x="0" y="0"/>
              <a:ext cx="566936" cy="849281"/>
            </a:xfrm>
            <a:custGeom>
              <a:avLst/>
              <a:gdLst/>
              <a:ahLst/>
              <a:cxnLst/>
              <a:rect l="l" t="t" r="r" b="b"/>
              <a:pathLst>
                <a:path w="566936" h="849281">
                  <a:moveTo>
                    <a:pt x="0" y="0"/>
                  </a:moveTo>
                  <a:lnTo>
                    <a:pt x="566936" y="0"/>
                  </a:lnTo>
                  <a:lnTo>
                    <a:pt x="566936" y="849281"/>
                  </a:lnTo>
                  <a:lnTo>
                    <a:pt x="0" y="849281"/>
                  </a:lnTo>
                  <a:close/>
                </a:path>
              </a:pathLst>
            </a:custGeom>
            <a:blipFill>
              <a:blip r:embed="rId3">
                <a:alphaModFix amt="0"/>
              </a:blip>
              <a:stretch>
                <a:fillRect l="-110411" r="-110412" b="16539"/>
              </a:stretch>
            </a:blipFill>
          </p:spPr>
        </p:sp>
        <p:sp>
          <p:nvSpPr>
            <p:cNvPr id="39" name="TextBox 39"/>
            <p:cNvSpPr txBox="1"/>
            <p:nvPr/>
          </p:nvSpPr>
          <p:spPr>
            <a:xfrm>
              <a:off x="0" y="9525"/>
              <a:ext cx="566941" cy="839749"/>
            </a:xfrm>
            <a:prstGeom prst="rect">
              <a:avLst/>
            </a:prstGeom>
          </p:spPr>
          <p:txBody>
            <a:bodyPr lIns="0" tIns="0" rIns="0" bIns="0" rtlCol="0" anchor="ctr"/>
            <a:lstStyle/>
            <a:p>
              <a:pPr algn="ctr">
                <a:lnSpc>
                  <a:spcPts val="3960"/>
                </a:lnSpc>
              </a:pPr>
              <a:r>
                <a:rPr lang="en-US" sz="3300">
                  <a:solidFill>
                    <a:srgbClr val="2B2E3C"/>
                  </a:solidFill>
                  <a:latin typeface="Merriweather"/>
                  <a:ea typeface="Merriweather"/>
                  <a:cs typeface="Merriweather"/>
                  <a:sym typeface="Merriweather"/>
                </a:rPr>
                <a:t>5</a:t>
              </a:r>
            </a:p>
          </p:txBody>
        </p:sp>
      </p:grpSp>
      <p:sp>
        <p:nvSpPr>
          <p:cNvPr id="40" name="TextBox 40"/>
          <p:cNvSpPr txBox="1"/>
          <p:nvPr/>
        </p:nvSpPr>
        <p:spPr>
          <a:xfrm>
            <a:off x="1913630" y="8590807"/>
            <a:ext cx="3045023" cy="412166"/>
          </a:xfrm>
          <a:prstGeom prst="rect">
            <a:avLst/>
          </a:prstGeom>
        </p:spPr>
        <p:txBody>
          <a:bodyPr lIns="0" tIns="0" rIns="0" bIns="0" rtlCol="0" anchor="t">
            <a:spAutoFit/>
          </a:bodyPr>
          <a:lstStyle/>
          <a:p>
            <a:pPr algn="l">
              <a:lnSpc>
                <a:spcPts val="3369"/>
              </a:lnSpc>
            </a:pPr>
            <a:r>
              <a:rPr lang="en-US" sz="2700">
                <a:solidFill>
                  <a:srgbClr val="2B2E3C"/>
                </a:solidFill>
                <a:latin typeface="Merriweather"/>
                <a:ea typeface="Merriweather"/>
                <a:cs typeface="Merriweather"/>
                <a:sym typeface="Merriweather"/>
              </a:rPr>
              <a:t>Admin Dashboard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8F0"/>
            </a:solidFill>
          </p:spPr>
        </p:sp>
      </p:grpSp>
      <p:grpSp>
        <p:nvGrpSpPr>
          <p:cNvPr id="4" name="Group 4"/>
          <p:cNvGrpSpPr/>
          <p:nvPr/>
        </p:nvGrpSpPr>
        <p:grpSpPr>
          <a:xfrm>
            <a:off x="16058359" y="9688982"/>
            <a:ext cx="2143687" cy="512064"/>
            <a:chOff x="0" y="0"/>
            <a:chExt cx="2858249" cy="682752"/>
          </a:xfrm>
        </p:grpSpPr>
        <p:sp>
          <p:nvSpPr>
            <p:cNvPr id="5" name="Freeform 5" descr="preencoded.png">
              <a:hlinkClick r:id="rId3" tooltip="https://gamma.app/?utm_source=made-with-gamma"/>
            </p:cNvPr>
            <p:cNvSpPr/>
            <p:nvPr/>
          </p:nvSpPr>
          <p:spPr>
            <a:xfrm>
              <a:off x="0" y="0"/>
              <a:ext cx="2858262" cy="682752"/>
            </a:xfrm>
            <a:custGeom>
              <a:avLst/>
              <a:gdLst/>
              <a:ahLst/>
              <a:cxnLst/>
              <a:rect l="l" t="t" r="r" b="b"/>
              <a:pathLst>
                <a:path w="2858262" h="682752">
                  <a:moveTo>
                    <a:pt x="0" y="0"/>
                  </a:moveTo>
                  <a:lnTo>
                    <a:pt x="2858262" y="0"/>
                  </a:lnTo>
                  <a:lnTo>
                    <a:pt x="2858262" y="682752"/>
                  </a:lnTo>
                  <a:lnTo>
                    <a:pt x="0" y="682752"/>
                  </a:lnTo>
                  <a:lnTo>
                    <a:pt x="0" y="0"/>
                  </a:lnTo>
                  <a:close/>
                </a:path>
              </a:pathLst>
            </a:custGeom>
            <a:blipFill>
              <a:blip r:embed="rId4"/>
              <a:stretch>
                <a:fillRect/>
              </a:stretch>
            </a:blipFill>
          </p:spPr>
        </p:sp>
      </p:grpSp>
      <p:grpSp>
        <p:nvGrpSpPr>
          <p:cNvPr id="6" name="Group 6"/>
          <p:cNvGrpSpPr/>
          <p:nvPr/>
        </p:nvGrpSpPr>
        <p:grpSpPr>
          <a:xfrm>
            <a:off x="6858000" y="0"/>
            <a:ext cx="11430000" cy="10287000"/>
            <a:chOff x="0" y="0"/>
            <a:chExt cx="15240000" cy="13716000"/>
          </a:xfrm>
        </p:grpSpPr>
        <p:sp>
          <p:nvSpPr>
            <p:cNvPr id="7" name="Freeform 7" descr="preencoded.png"/>
            <p:cNvSpPr/>
            <p:nvPr/>
          </p:nvSpPr>
          <p:spPr>
            <a:xfrm>
              <a:off x="0" y="0"/>
              <a:ext cx="15240000" cy="13716000"/>
            </a:xfrm>
            <a:custGeom>
              <a:avLst/>
              <a:gdLst/>
              <a:ahLst/>
              <a:cxnLst/>
              <a:rect l="l" t="t" r="r" b="b"/>
              <a:pathLst>
                <a:path w="15240000" h="13716000">
                  <a:moveTo>
                    <a:pt x="0" y="0"/>
                  </a:moveTo>
                  <a:lnTo>
                    <a:pt x="15240000" y="0"/>
                  </a:lnTo>
                  <a:lnTo>
                    <a:pt x="15240000" y="13716000"/>
                  </a:lnTo>
                  <a:lnTo>
                    <a:pt x="0" y="13716000"/>
                  </a:lnTo>
                  <a:lnTo>
                    <a:pt x="0" y="0"/>
                  </a:lnTo>
                  <a:close/>
                </a:path>
              </a:pathLst>
            </a:custGeom>
            <a:blipFill>
              <a:blip r:embed="rId5"/>
              <a:stretch>
                <a:fillRect/>
              </a:stretch>
            </a:blipFill>
          </p:spPr>
        </p:sp>
      </p:grpSp>
      <p:grpSp>
        <p:nvGrpSpPr>
          <p:cNvPr id="8" name="Group 8"/>
          <p:cNvGrpSpPr/>
          <p:nvPr/>
        </p:nvGrpSpPr>
        <p:grpSpPr>
          <a:xfrm>
            <a:off x="6999837" y="2649436"/>
            <a:ext cx="11146184" cy="4987976"/>
            <a:chOff x="0" y="0"/>
            <a:chExt cx="14861578" cy="6650634"/>
          </a:xfrm>
        </p:grpSpPr>
        <p:sp>
          <p:nvSpPr>
            <p:cNvPr id="9" name="Freeform 9" descr="preencoded.png"/>
            <p:cNvSpPr/>
            <p:nvPr/>
          </p:nvSpPr>
          <p:spPr>
            <a:xfrm>
              <a:off x="0" y="0"/>
              <a:ext cx="14861539" cy="6650609"/>
            </a:xfrm>
            <a:custGeom>
              <a:avLst/>
              <a:gdLst/>
              <a:ahLst/>
              <a:cxnLst/>
              <a:rect l="l" t="t" r="r" b="b"/>
              <a:pathLst>
                <a:path w="14861539" h="6650609">
                  <a:moveTo>
                    <a:pt x="0" y="0"/>
                  </a:moveTo>
                  <a:lnTo>
                    <a:pt x="14861539" y="0"/>
                  </a:lnTo>
                  <a:lnTo>
                    <a:pt x="14861539" y="6650609"/>
                  </a:lnTo>
                  <a:lnTo>
                    <a:pt x="0" y="6650609"/>
                  </a:lnTo>
                  <a:lnTo>
                    <a:pt x="0" y="0"/>
                  </a:lnTo>
                  <a:close/>
                </a:path>
              </a:pathLst>
            </a:custGeom>
            <a:blipFill>
              <a:blip r:embed="rId6"/>
              <a:stretch>
                <a:fillRect/>
              </a:stretch>
            </a:blipFill>
          </p:spPr>
        </p:sp>
      </p:grpSp>
      <p:sp>
        <p:nvSpPr>
          <p:cNvPr id="10" name="TextBox 10"/>
          <p:cNvSpPr txBox="1"/>
          <p:nvPr/>
        </p:nvSpPr>
        <p:spPr>
          <a:xfrm>
            <a:off x="992238" y="3107979"/>
            <a:ext cx="5179962" cy="852297"/>
          </a:xfrm>
          <a:prstGeom prst="rect">
            <a:avLst/>
          </a:prstGeom>
        </p:spPr>
        <p:txBody>
          <a:bodyPr wrap="square" lIns="0" tIns="0" rIns="0" bIns="0" rtlCol="0" anchor="t">
            <a:spAutoFit/>
          </a:bodyPr>
          <a:lstStyle/>
          <a:p>
            <a:pPr algn="l">
              <a:lnSpc>
                <a:spcPts val="6864"/>
              </a:lnSpc>
            </a:pPr>
            <a:r>
              <a:rPr lang="en-US" sz="5500" dirty="0">
                <a:solidFill>
                  <a:srgbClr val="2C3F42"/>
                </a:solidFill>
                <a:latin typeface="Merriweather"/>
                <a:ea typeface="Merriweather"/>
                <a:cs typeface="Merriweather"/>
                <a:sym typeface="Merriweather"/>
              </a:rPr>
              <a:t>Login Screen</a:t>
            </a:r>
          </a:p>
        </p:txBody>
      </p:sp>
      <p:sp>
        <p:nvSpPr>
          <p:cNvPr id="11" name="TextBox 11"/>
          <p:cNvSpPr txBox="1"/>
          <p:nvPr/>
        </p:nvSpPr>
        <p:spPr>
          <a:xfrm>
            <a:off x="992238" y="4342952"/>
            <a:ext cx="4873523" cy="2613508"/>
          </a:xfrm>
          <a:prstGeom prst="rect">
            <a:avLst/>
          </a:prstGeom>
        </p:spPr>
        <p:txBody>
          <a:bodyPr lIns="0" tIns="0" rIns="0" bIns="0" rtlCol="0" anchor="t">
            <a:spAutoFit/>
          </a:bodyPr>
          <a:lstStyle/>
          <a:p>
            <a:pPr algn="l">
              <a:lnSpc>
                <a:spcPts val="3511"/>
              </a:lnSpc>
            </a:pPr>
            <a:r>
              <a:rPr lang="en-US" sz="2200" dirty="0">
                <a:solidFill>
                  <a:srgbClr val="2B2E3C"/>
                </a:solidFill>
                <a:latin typeface="Roboto"/>
                <a:ea typeface="Roboto"/>
                <a:cs typeface="Roboto"/>
                <a:sym typeface="Roboto"/>
              </a:rPr>
              <a:t>The secure entry point where users enter their email and password. After successful authentication, the system automatically redirects them to the specific dashboard associated with their assigned role.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8F0"/>
            </a:solidFill>
          </p:spPr>
        </p:sp>
      </p:grpSp>
      <p:grpSp>
        <p:nvGrpSpPr>
          <p:cNvPr id="4" name="Group 4"/>
          <p:cNvGrpSpPr/>
          <p:nvPr/>
        </p:nvGrpSpPr>
        <p:grpSpPr>
          <a:xfrm>
            <a:off x="0" y="0"/>
            <a:ext cx="11430000" cy="10287000"/>
            <a:chOff x="0" y="0"/>
            <a:chExt cx="15240000" cy="13716000"/>
          </a:xfrm>
        </p:grpSpPr>
        <p:sp>
          <p:nvSpPr>
            <p:cNvPr id="5" name="Freeform 5" descr="preencoded.png"/>
            <p:cNvSpPr/>
            <p:nvPr/>
          </p:nvSpPr>
          <p:spPr>
            <a:xfrm>
              <a:off x="0" y="0"/>
              <a:ext cx="15240000" cy="13716000"/>
            </a:xfrm>
            <a:custGeom>
              <a:avLst/>
              <a:gdLst/>
              <a:ahLst/>
              <a:cxnLst/>
              <a:rect l="l" t="t" r="r" b="b"/>
              <a:pathLst>
                <a:path w="15240000" h="13716000">
                  <a:moveTo>
                    <a:pt x="0" y="0"/>
                  </a:moveTo>
                  <a:lnTo>
                    <a:pt x="15240000" y="0"/>
                  </a:lnTo>
                  <a:lnTo>
                    <a:pt x="15240000" y="13716000"/>
                  </a:lnTo>
                  <a:lnTo>
                    <a:pt x="0" y="13716000"/>
                  </a:lnTo>
                  <a:lnTo>
                    <a:pt x="0" y="0"/>
                  </a:lnTo>
                  <a:close/>
                </a:path>
              </a:pathLst>
            </a:custGeom>
            <a:blipFill>
              <a:blip r:embed="rId3"/>
              <a:stretch>
                <a:fillRect/>
              </a:stretch>
            </a:blipFill>
          </p:spPr>
        </p:sp>
      </p:grpSp>
      <p:grpSp>
        <p:nvGrpSpPr>
          <p:cNvPr id="6" name="Group 6"/>
          <p:cNvGrpSpPr/>
          <p:nvPr/>
        </p:nvGrpSpPr>
        <p:grpSpPr>
          <a:xfrm>
            <a:off x="141684" y="2635444"/>
            <a:ext cx="11146479" cy="5015951"/>
            <a:chOff x="0" y="0"/>
            <a:chExt cx="14861972" cy="6687934"/>
          </a:xfrm>
        </p:grpSpPr>
        <p:sp>
          <p:nvSpPr>
            <p:cNvPr id="7" name="Freeform 7" descr="preencoded.png"/>
            <p:cNvSpPr/>
            <p:nvPr/>
          </p:nvSpPr>
          <p:spPr>
            <a:xfrm>
              <a:off x="0" y="0"/>
              <a:ext cx="14861921" cy="6687947"/>
            </a:xfrm>
            <a:custGeom>
              <a:avLst/>
              <a:gdLst/>
              <a:ahLst/>
              <a:cxnLst/>
              <a:rect l="l" t="t" r="r" b="b"/>
              <a:pathLst>
                <a:path w="14861921" h="6687947">
                  <a:moveTo>
                    <a:pt x="0" y="0"/>
                  </a:moveTo>
                  <a:lnTo>
                    <a:pt x="14861921" y="0"/>
                  </a:lnTo>
                  <a:lnTo>
                    <a:pt x="14861921" y="6687947"/>
                  </a:lnTo>
                  <a:lnTo>
                    <a:pt x="0" y="6687947"/>
                  </a:lnTo>
                  <a:lnTo>
                    <a:pt x="0" y="0"/>
                  </a:lnTo>
                  <a:close/>
                </a:path>
              </a:pathLst>
            </a:custGeom>
            <a:blipFill>
              <a:blip r:embed="rId4"/>
              <a:stretch>
                <a:fillRect/>
              </a:stretch>
            </a:blipFill>
          </p:spPr>
        </p:sp>
      </p:grpSp>
      <p:sp>
        <p:nvSpPr>
          <p:cNvPr id="8" name="TextBox 8"/>
          <p:cNvSpPr txBox="1"/>
          <p:nvPr/>
        </p:nvSpPr>
        <p:spPr>
          <a:xfrm>
            <a:off x="12422238" y="2438105"/>
            <a:ext cx="4873523" cy="1719072"/>
          </a:xfrm>
          <a:prstGeom prst="rect">
            <a:avLst/>
          </a:prstGeom>
        </p:spPr>
        <p:txBody>
          <a:bodyPr lIns="0" tIns="0" rIns="0" bIns="0" rtlCol="0" anchor="t">
            <a:spAutoFit/>
          </a:bodyPr>
          <a:lstStyle/>
          <a:p>
            <a:pPr algn="l">
              <a:lnSpc>
                <a:spcPts val="6864"/>
              </a:lnSpc>
            </a:pPr>
            <a:r>
              <a:rPr lang="en-US" sz="5500" dirty="0">
                <a:solidFill>
                  <a:srgbClr val="2C3F42"/>
                </a:solidFill>
                <a:latin typeface="Merriweather"/>
                <a:ea typeface="Merriweather"/>
                <a:cs typeface="Merriweather"/>
                <a:sym typeface="Merriweather"/>
              </a:rPr>
              <a:t>Student Dashboard</a:t>
            </a:r>
          </a:p>
        </p:txBody>
      </p:sp>
      <p:sp>
        <p:nvSpPr>
          <p:cNvPr id="9" name="TextBox 9"/>
          <p:cNvSpPr txBox="1"/>
          <p:nvPr/>
        </p:nvSpPr>
        <p:spPr>
          <a:xfrm>
            <a:off x="12422238" y="4559056"/>
            <a:ext cx="4873523" cy="3051658"/>
          </a:xfrm>
          <a:prstGeom prst="rect">
            <a:avLst/>
          </a:prstGeom>
        </p:spPr>
        <p:txBody>
          <a:bodyPr lIns="0" tIns="0" rIns="0" bIns="0" rtlCol="0" anchor="t">
            <a:spAutoFit/>
          </a:bodyPr>
          <a:lstStyle/>
          <a:p>
            <a:pPr algn="l">
              <a:lnSpc>
                <a:spcPts val="3511"/>
              </a:lnSpc>
            </a:pPr>
            <a:r>
              <a:rPr lang="en-US" sz="2200">
                <a:solidFill>
                  <a:srgbClr val="2B2E3C"/>
                </a:solidFill>
                <a:latin typeface="Roboto"/>
                <a:ea typeface="Roboto"/>
                <a:cs typeface="Roboto"/>
                <a:sym typeface="Roboto"/>
              </a:rPr>
              <a:t>A multi-tab interface where students can browse and book Study Rooms or Office Hours, and view Transit Line schedules. It also includes dedicated sections to track their active reservations and view real-time system notifications.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8F0"/>
            </a:solidFill>
          </p:spPr>
        </p:sp>
      </p:grpSp>
      <p:grpSp>
        <p:nvGrpSpPr>
          <p:cNvPr id="4" name="Group 4"/>
          <p:cNvGrpSpPr/>
          <p:nvPr/>
        </p:nvGrpSpPr>
        <p:grpSpPr>
          <a:xfrm>
            <a:off x="16058359" y="9688982"/>
            <a:ext cx="2143687" cy="512064"/>
            <a:chOff x="0" y="0"/>
            <a:chExt cx="2858249" cy="682752"/>
          </a:xfrm>
        </p:grpSpPr>
        <p:sp>
          <p:nvSpPr>
            <p:cNvPr id="5" name="Freeform 5" descr="preencoded.png">
              <a:hlinkClick r:id="rId3" tooltip="https://gamma.app/?utm_source=made-with-gamma"/>
            </p:cNvPr>
            <p:cNvSpPr/>
            <p:nvPr/>
          </p:nvSpPr>
          <p:spPr>
            <a:xfrm>
              <a:off x="0" y="0"/>
              <a:ext cx="2858262" cy="682752"/>
            </a:xfrm>
            <a:custGeom>
              <a:avLst/>
              <a:gdLst/>
              <a:ahLst/>
              <a:cxnLst/>
              <a:rect l="l" t="t" r="r" b="b"/>
              <a:pathLst>
                <a:path w="2858262" h="682752">
                  <a:moveTo>
                    <a:pt x="0" y="0"/>
                  </a:moveTo>
                  <a:lnTo>
                    <a:pt x="2858262" y="0"/>
                  </a:lnTo>
                  <a:lnTo>
                    <a:pt x="2858262" y="682752"/>
                  </a:lnTo>
                  <a:lnTo>
                    <a:pt x="0" y="682752"/>
                  </a:lnTo>
                  <a:lnTo>
                    <a:pt x="0" y="0"/>
                  </a:lnTo>
                  <a:close/>
                </a:path>
              </a:pathLst>
            </a:custGeom>
            <a:blipFill>
              <a:blip r:embed="rId4"/>
              <a:stretch>
                <a:fillRect/>
              </a:stretch>
            </a:blipFill>
          </p:spPr>
        </p:sp>
      </p:grpSp>
      <p:grpSp>
        <p:nvGrpSpPr>
          <p:cNvPr id="6" name="Group 6"/>
          <p:cNvGrpSpPr/>
          <p:nvPr/>
        </p:nvGrpSpPr>
        <p:grpSpPr>
          <a:xfrm>
            <a:off x="6858000" y="0"/>
            <a:ext cx="11430000" cy="10287000"/>
            <a:chOff x="0" y="0"/>
            <a:chExt cx="15240000" cy="13716000"/>
          </a:xfrm>
        </p:grpSpPr>
        <p:sp>
          <p:nvSpPr>
            <p:cNvPr id="7" name="Freeform 7" descr="preencoded.png"/>
            <p:cNvSpPr/>
            <p:nvPr/>
          </p:nvSpPr>
          <p:spPr>
            <a:xfrm>
              <a:off x="0" y="0"/>
              <a:ext cx="15240000" cy="13716000"/>
            </a:xfrm>
            <a:custGeom>
              <a:avLst/>
              <a:gdLst/>
              <a:ahLst/>
              <a:cxnLst/>
              <a:rect l="l" t="t" r="r" b="b"/>
              <a:pathLst>
                <a:path w="15240000" h="13716000">
                  <a:moveTo>
                    <a:pt x="0" y="0"/>
                  </a:moveTo>
                  <a:lnTo>
                    <a:pt x="15240000" y="0"/>
                  </a:lnTo>
                  <a:lnTo>
                    <a:pt x="15240000" y="13716000"/>
                  </a:lnTo>
                  <a:lnTo>
                    <a:pt x="0" y="13716000"/>
                  </a:lnTo>
                  <a:lnTo>
                    <a:pt x="0" y="0"/>
                  </a:lnTo>
                  <a:close/>
                </a:path>
              </a:pathLst>
            </a:custGeom>
            <a:blipFill>
              <a:blip r:embed="rId5"/>
              <a:stretch>
                <a:fillRect/>
              </a:stretch>
            </a:blipFill>
          </p:spPr>
        </p:sp>
      </p:grpSp>
      <p:grpSp>
        <p:nvGrpSpPr>
          <p:cNvPr id="8" name="Group 8"/>
          <p:cNvGrpSpPr/>
          <p:nvPr/>
        </p:nvGrpSpPr>
        <p:grpSpPr>
          <a:xfrm>
            <a:off x="6999684" y="2658666"/>
            <a:ext cx="11146479" cy="4969516"/>
            <a:chOff x="0" y="0"/>
            <a:chExt cx="14861972" cy="6626022"/>
          </a:xfrm>
        </p:grpSpPr>
        <p:sp>
          <p:nvSpPr>
            <p:cNvPr id="9" name="Freeform 9" descr="preencoded.png"/>
            <p:cNvSpPr/>
            <p:nvPr/>
          </p:nvSpPr>
          <p:spPr>
            <a:xfrm>
              <a:off x="0" y="0"/>
              <a:ext cx="14861921" cy="6625971"/>
            </a:xfrm>
            <a:custGeom>
              <a:avLst/>
              <a:gdLst/>
              <a:ahLst/>
              <a:cxnLst/>
              <a:rect l="l" t="t" r="r" b="b"/>
              <a:pathLst>
                <a:path w="14861921" h="6625971">
                  <a:moveTo>
                    <a:pt x="0" y="0"/>
                  </a:moveTo>
                  <a:lnTo>
                    <a:pt x="14861921" y="0"/>
                  </a:lnTo>
                  <a:lnTo>
                    <a:pt x="14861921" y="6625971"/>
                  </a:lnTo>
                  <a:lnTo>
                    <a:pt x="0" y="6625971"/>
                  </a:lnTo>
                  <a:lnTo>
                    <a:pt x="0" y="0"/>
                  </a:lnTo>
                  <a:close/>
                </a:path>
              </a:pathLst>
            </a:custGeom>
            <a:blipFill>
              <a:blip r:embed="rId6"/>
              <a:stretch>
                <a:fillRect/>
              </a:stretch>
            </a:blipFill>
          </p:spPr>
        </p:sp>
      </p:grpSp>
      <p:sp>
        <p:nvSpPr>
          <p:cNvPr id="10" name="TextBox 10"/>
          <p:cNvSpPr txBox="1"/>
          <p:nvPr/>
        </p:nvSpPr>
        <p:spPr>
          <a:xfrm>
            <a:off x="992238" y="2664914"/>
            <a:ext cx="4873523" cy="1719072"/>
          </a:xfrm>
          <a:prstGeom prst="rect">
            <a:avLst/>
          </a:prstGeom>
        </p:spPr>
        <p:txBody>
          <a:bodyPr lIns="0" tIns="0" rIns="0" bIns="0" rtlCol="0" anchor="t">
            <a:spAutoFit/>
          </a:bodyPr>
          <a:lstStyle/>
          <a:p>
            <a:pPr algn="l">
              <a:lnSpc>
                <a:spcPts val="6864"/>
              </a:lnSpc>
            </a:pPr>
            <a:r>
              <a:rPr lang="en-US" sz="5500">
                <a:solidFill>
                  <a:srgbClr val="2C3F42"/>
                </a:solidFill>
                <a:latin typeface="Merriweather"/>
                <a:ea typeface="Merriweather"/>
                <a:cs typeface="Merriweather"/>
                <a:sym typeface="Merriweather"/>
              </a:rPr>
              <a:t>Lecturer Dashboard</a:t>
            </a:r>
          </a:p>
        </p:txBody>
      </p:sp>
      <p:sp>
        <p:nvSpPr>
          <p:cNvPr id="11" name="TextBox 11"/>
          <p:cNvSpPr txBox="1"/>
          <p:nvPr/>
        </p:nvSpPr>
        <p:spPr>
          <a:xfrm>
            <a:off x="992238" y="4785865"/>
            <a:ext cx="4873523" cy="2613508"/>
          </a:xfrm>
          <a:prstGeom prst="rect">
            <a:avLst/>
          </a:prstGeom>
        </p:spPr>
        <p:txBody>
          <a:bodyPr lIns="0" tIns="0" rIns="0" bIns="0" rtlCol="0" anchor="t">
            <a:spAutoFit/>
          </a:bodyPr>
          <a:lstStyle/>
          <a:p>
            <a:pPr algn="l">
              <a:lnSpc>
                <a:spcPts val="3511"/>
              </a:lnSpc>
            </a:pPr>
            <a:r>
              <a:rPr lang="en-US" sz="2200">
                <a:solidFill>
                  <a:srgbClr val="2B2E3C"/>
                </a:solidFill>
                <a:latin typeface="Roboto"/>
                <a:ea typeface="Roboto"/>
                <a:cs typeface="Roboto"/>
                <a:sym typeface="Roboto"/>
              </a:rPr>
              <a:t>A management interface exclusively for lecturers to create, update, or remove their own Office Hour slots. It allows them to set maximum student capacities and manage their availability directly.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8F0"/>
            </a:solidFill>
          </p:spPr>
        </p:sp>
      </p:grpSp>
      <p:grpSp>
        <p:nvGrpSpPr>
          <p:cNvPr id="4" name="Group 4"/>
          <p:cNvGrpSpPr/>
          <p:nvPr/>
        </p:nvGrpSpPr>
        <p:grpSpPr>
          <a:xfrm>
            <a:off x="0" y="0"/>
            <a:ext cx="11430000" cy="10287000"/>
            <a:chOff x="0" y="0"/>
            <a:chExt cx="15240000" cy="13716000"/>
          </a:xfrm>
        </p:grpSpPr>
        <p:sp>
          <p:nvSpPr>
            <p:cNvPr id="5" name="Freeform 5" descr="preencoded.png"/>
            <p:cNvSpPr/>
            <p:nvPr/>
          </p:nvSpPr>
          <p:spPr>
            <a:xfrm>
              <a:off x="0" y="0"/>
              <a:ext cx="15240000" cy="13716000"/>
            </a:xfrm>
            <a:custGeom>
              <a:avLst/>
              <a:gdLst/>
              <a:ahLst/>
              <a:cxnLst/>
              <a:rect l="l" t="t" r="r" b="b"/>
              <a:pathLst>
                <a:path w="15240000" h="13716000">
                  <a:moveTo>
                    <a:pt x="0" y="0"/>
                  </a:moveTo>
                  <a:lnTo>
                    <a:pt x="15240000" y="0"/>
                  </a:lnTo>
                  <a:lnTo>
                    <a:pt x="15240000" y="13716000"/>
                  </a:lnTo>
                  <a:lnTo>
                    <a:pt x="0" y="13716000"/>
                  </a:lnTo>
                  <a:lnTo>
                    <a:pt x="0" y="0"/>
                  </a:lnTo>
                  <a:close/>
                </a:path>
              </a:pathLst>
            </a:custGeom>
            <a:blipFill>
              <a:blip r:embed="rId3"/>
              <a:stretch>
                <a:fillRect/>
              </a:stretch>
            </a:blipFill>
          </p:spPr>
        </p:sp>
      </p:grpSp>
      <p:grpSp>
        <p:nvGrpSpPr>
          <p:cNvPr id="6" name="Group 6"/>
          <p:cNvGrpSpPr/>
          <p:nvPr/>
        </p:nvGrpSpPr>
        <p:grpSpPr>
          <a:xfrm>
            <a:off x="141837" y="2654056"/>
            <a:ext cx="11146336" cy="4978746"/>
            <a:chOff x="0" y="0"/>
            <a:chExt cx="14861781" cy="6638328"/>
          </a:xfrm>
        </p:grpSpPr>
        <p:sp>
          <p:nvSpPr>
            <p:cNvPr id="7" name="Freeform 7" descr="preencoded.png"/>
            <p:cNvSpPr/>
            <p:nvPr/>
          </p:nvSpPr>
          <p:spPr>
            <a:xfrm>
              <a:off x="0" y="0"/>
              <a:ext cx="14861794" cy="6638290"/>
            </a:xfrm>
            <a:custGeom>
              <a:avLst/>
              <a:gdLst/>
              <a:ahLst/>
              <a:cxnLst/>
              <a:rect l="l" t="t" r="r" b="b"/>
              <a:pathLst>
                <a:path w="14861794" h="6638290">
                  <a:moveTo>
                    <a:pt x="0" y="0"/>
                  </a:moveTo>
                  <a:lnTo>
                    <a:pt x="14861794" y="0"/>
                  </a:lnTo>
                  <a:lnTo>
                    <a:pt x="14861794" y="6638290"/>
                  </a:lnTo>
                  <a:lnTo>
                    <a:pt x="0" y="6638290"/>
                  </a:lnTo>
                  <a:lnTo>
                    <a:pt x="0" y="0"/>
                  </a:lnTo>
                  <a:close/>
                </a:path>
              </a:pathLst>
            </a:custGeom>
            <a:blipFill>
              <a:blip r:embed="rId4"/>
              <a:stretch>
                <a:fillRect/>
              </a:stretch>
            </a:blipFill>
          </p:spPr>
        </p:sp>
      </p:grpSp>
      <p:sp>
        <p:nvSpPr>
          <p:cNvPr id="8" name="TextBox 8"/>
          <p:cNvSpPr txBox="1"/>
          <p:nvPr/>
        </p:nvSpPr>
        <p:spPr>
          <a:xfrm>
            <a:off x="12422238" y="2891733"/>
            <a:ext cx="4873523" cy="1719072"/>
          </a:xfrm>
          <a:prstGeom prst="rect">
            <a:avLst/>
          </a:prstGeom>
        </p:spPr>
        <p:txBody>
          <a:bodyPr lIns="0" tIns="0" rIns="0" bIns="0" rtlCol="0" anchor="t">
            <a:spAutoFit/>
          </a:bodyPr>
          <a:lstStyle/>
          <a:p>
            <a:pPr algn="l">
              <a:lnSpc>
                <a:spcPts val="6864"/>
              </a:lnSpc>
            </a:pPr>
            <a:r>
              <a:rPr lang="en-US" sz="5500">
                <a:solidFill>
                  <a:srgbClr val="2C3F42"/>
                </a:solidFill>
                <a:latin typeface="Merriweather"/>
                <a:ea typeface="Merriweather"/>
                <a:cs typeface="Merriweather"/>
                <a:sym typeface="Merriweather"/>
              </a:rPr>
              <a:t>Bus Driver Dashboard</a:t>
            </a:r>
          </a:p>
        </p:txBody>
      </p:sp>
      <p:sp>
        <p:nvSpPr>
          <p:cNvPr id="9" name="TextBox 9"/>
          <p:cNvSpPr txBox="1"/>
          <p:nvPr/>
        </p:nvSpPr>
        <p:spPr>
          <a:xfrm>
            <a:off x="12422238" y="5012684"/>
            <a:ext cx="4873523" cy="1737208"/>
          </a:xfrm>
          <a:prstGeom prst="rect">
            <a:avLst/>
          </a:prstGeom>
        </p:spPr>
        <p:txBody>
          <a:bodyPr lIns="0" tIns="0" rIns="0" bIns="0" rtlCol="0" anchor="t">
            <a:spAutoFit/>
          </a:bodyPr>
          <a:lstStyle/>
          <a:p>
            <a:pPr algn="l">
              <a:lnSpc>
                <a:spcPts val="3511"/>
              </a:lnSpc>
            </a:pPr>
            <a:r>
              <a:rPr lang="en-US" sz="2200">
                <a:solidFill>
                  <a:srgbClr val="2B2E3C"/>
                </a:solidFill>
                <a:latin typeface="Roboto"/>
                <a:ea typeface="Roboto"/>
                <a:cs typeface="Roboto"/>
                <a:sym typeface="Roboto"/>
              </a:rPr>
              <a:t>A streamlined screen where drivers can add, and remove specific campus transit lines and their running schedules for students to view.</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8F0"/>
            </a:solidFill>
          </p:spPr>
        </p:sp>
      </p:grpSp>
      <p:grpSp>
        <p:nvGrpSpPr>
          <p:cNvPr id="4" name="Group 4"/>
          <p:cNvGrpSpPr/>
          <p:nvPr/>
        </p:nvGrpSpPr>
        <p:grpSpPr>
          <a:xfrm>
            <a:off x="16058359" y="9688982"/>
            <a:ext cx="2143687" cy="512064"/>
            <a:chOff x="0" y="0"/>
            <a:chExt cx="2858249" cy="682752"/>
          </a:xfrm>
        </p:grpSpPr>
        <p:sp>
          <p:nvSpPr>
            <p:cNvPr id="5" name="Freeform 5" descr="preencoded.png">
              <a:hlinkClick r:id="rId3" tooltip="https://gamma.app/?utm_source=made-with-gamma"/>
            </p:cNvPr>
            <p:cNvSpPr/>
            <p:nvPr/>
          </p:nvSpPr>
          <p:spPr>
            <a:xfrm>
              <a:off x="0" y="0"/>
              <a:ext cx="2858262" cy="682752"/>
            </a:xfrm>
            <a:custGeom>
              <a:avLst/>
              <a:gdLst/>
              <a:ahLst/>
              <a:cxnLst/>
              <a:rect l="l" t="t" r="r" b="b"/>
              <a:pathLst>
                <a:path w="2858262" h="682752">
                  <a:moveTo>
                    <a:pt x="0" y="0"/>
                  </a:moveTo>
                  <a:lnTo>
                    <a:pt x="2858262" y="0"/>
                  </a:lnTo>
                  <a:lnTo>
                    <a:pt x="2858262" y="682752"/>
                  </a:lnTo>
                  <a:lnTo>
                    <a:pt x="0" y="682752"/>
                  </a:lnTo>
                  <a:lnTo>
                    <a:pt x="0" y="0"/>
                  </a:lnTo>
                  <a:close/>
                </a:path>
              </a:pathLst>
            </a:custGeom>
            <a:blipFill>
              <a:blip r:embed="rId4"/>
              <a:stretch>
                <a:fillRect/>
              </a:stretch>
            </a:blipFill>
          </p:spPr>
        </p:sp>
      </p:grpSp>
      <p:grpSp>
        <p:nvGrpSpPr>
          <p:cNvPr id="6" name="Group 6"/>
          <p:cNvGrpSpPr/>
          <p:nvPr/>
        </p:nvGrpSpPr>
        <p:grpSpPr>
          <a:xfrm>
            <a:off x="6858000" y="0"/>
            <a:ext cx="11430000" cy="10287000"/>
            <a:chOff x="0" y="0"/>
            <a:chExt cx="15240000" cy="13716000"/>
          </a:xfrm>
        </p:grpSpPr>
        <p:sp>
          <p:nvSpPr>
            <p:cNvPr id="7" name="Freeform 7" descr="preencoded.png"/>
            <p:cNvSpPr/>
            <p:nvPr/>
          </p:nvSpPr>
          <p:spPr>
            <a:xfrm>
              <a:off x="0" y="0"/>
              <a:ext cx="15240000" cy="13716000"/>
            </a:xfrm>
            <a:custGeom>
              <a:avLst/>
              <a:gdLst/>
              <a:ahLst/>
              <a:cxnLst/>
              <a:rect l="l" t="t" r="r" b="b"/>
              <a:pathLst>
                <a:path w="15240000" h="13716000">
                  <a:moveTo>
                    <a:pt x="0" y="0"/>
                  </a:moveTo>
                  <a:lnTo>
                    <a:pt x="15240000" y="0"/>
                  </a:lnTo>
                  <a:lnTo>
                    <a:pt x="15240000" y="13716000"/>
                  </a:lnTo>
                  <a:lnTo>
                    <a:pt x="0" y="13716000"/>
                  </a:lnTo>
                  <a:lnTo>
                    <a:pt x="0" y="0"/>
                  </a:lnTo>
                  <a:close/>
                </a:path>
              </a:pathLst>
            </a:custGeom>
            <a:blipFill>
              <a:blip r:embed="rId5"/>
              <a:stretch>
                <a:fillRect/>
              </a:stretch>
            </a:blipFill>
          </p:spPr>
        </p:sp>
      </p:grpSp>
      <p:grpSp>
        <p:nvGrpSpPr>
          <p:cNvPr id="8" name="Group 8"/>
          <p:cNvGrpSpPr/>
          <p:nvPr/>
        </p:nvGrpSpPr>
        <p:grpSpPr>
          <a:xfrm>
            <a:off x="6999837" y="2654056"/>
            <a:ext cx="11146336" cy="4978746"/>
            <a:chOff x="0" y="0"/>
            <a:chExt cx="14861781" cy="6638328"/>
          </a:xfrm>
        </p:grpSpPr>
        <p:sp>
          <p:nvSpPr>
            <p:cNvPr id="9" name="Freeform 9" descr="preencoded.png"/>
            <p:cNvSpPr/>
            <p:nvPr/>
          </p:nvSpPr>
          <p:spPr>
            <a:xfrm>
              <a:off x="0" y="0"/>
              <a:ext cx="14861794" cy="6638290"/>
            </a:xfrm>
            <a:custGeom>
              <a:avLst/>
              <a:gdLst/>
              <a:ahLst/>
              <a:cxnLst/>
              <a:rect l="l" t="t" r="r" b="b"/>
              <a:pathLst>
                <a:path w="14861794" h="6638290">
                  <a:moveTo>
                    <a:pt x="0" y="0"/>
                  </a:moveTo>
                  <a:lnTo>
                    <a:pt x="14861794" y="0"/>
                  </a:lnTo>
                  <a:lnTo>
                    <a:pt x="14861794" y="6638290"/>
                  </a:lnTo>
                  <a:lnTo>
                    <a:pt x="0" y="6638290"/>
                  </a:lnTo>
                  <a:lnTo>
                    <a:pt x="0" y="0"/>
                  </a:lnTo>
                  <a:close/>
                </a:path>
              </a:pathLst>
            </a:custGeom>
            <a:blipFill>
              <a:blip r:embed="rId6"/>
              <a:stretch>
                <a:fillRect/>
              </a:stretch>
            </a:blipFill>
          </p:spPr>
        </p:sp>
      </p:grpSp>
      <p:sp>
        <p:nvSpPr>
          <p:cNvPr id="10" name="TextBox 10"/>
          <p:cNvSpPr txBox="1"/>
          <p:nvPr/>
        </p:nvSpPr>
        <p:spPr>
          <a:xfrm>
            <a:off x="992238" y="2664914"/>
            <a:ext cx="4873523" cy="1719072"/>
          </a:xfrm>
          <a:prstGeom prst="rect">
            <a:avLst/>
          </a:prstGeom>
        </p:spPr>
        <p:txBody>
          <a:bodyPr lIns="0" tIns="0" rIns="0" bIns="0" rtlCol="0" anchor="t">
            <a:spAutoFit/>
          </a:bodyPr>
          <a:lstStyle/>
          <a:p>
            <a:pPr algn="l">
              <a:lnSpc>
                <a:spcPts val="6864"/>
              </a:lnSpc>
            </a:pPr>
            <a:r>
              <a:rPr lang="en-US" sz="5500">
                <a:solidFill>
                  <a:srgbClr val="2C3F42"/>
                </a:solidFill>
                <a:latin typeface="Merriweather"/>
                <a:ea typeface="Merriweather"/>
                <a:cs typeface="Merriweather"/>
                <a:sym typeface="Merriweather"/>
              </a:rPr>
              <a:t>Admin Dashboard</a:t>
            </a:r>
          </a:p>
        </p:txBody>
      </p:sp>
      <p:sp>
        <p:nvSpPr>
          <p:cNvPr id="11" name="TextBox 11"/>
          <p:cNvSpPr txBox="1"/>
          <p:nvPr/>
        </p:nvSpPr>
        <p:spPr>
          <a:xfrm>
            <a:off x="992238" y="4785865"/>
            <a:ext cx="4873523" cy="2175358"/>
          </a:xfrm>
          <a:prstGeom prst="rect">
            <a:avLst/>
          </a:prstGeom>
        </p:spPr>
        <p:txBody>
          <a:bodyPr lIns="0" tIns="0" rIns="0" bIns="0" rtlCol="0" anchor="t">
            <a:spAutoFit/>
          </a:bodyPr>
          <a:lstStyle/>
          <a:p>
            <a:pPr algn="l">
              <a:lnSpc>
                <a:spcPts val="3511"/>
              </a:lnSpc>
            </a:pPr>
            <a:r>
              <a:rPr lang="en-US" sz="2200">
                <a:solidFill>
                  <a:srgbClr val="2B2E3C"/>
                </a:solidFill>
                <a:latin typeface="Roboto"/>
                <a:ea typeface="Roboto"/>
                <a:cs typeface="Roboto"/>
                <a:sym typeface="Roboto"/>
              </a:rPr>
              <a:t>A centralized, high-level control panel. Admins have access to all categories (Study Rooms, Office Hours, and Transit Lines) and hold the authority to create, manage, or delete any resource.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1334</Words>
  <Application>Microsoft Office PowerPoint</Application>
  <PresentationFormat>Custom</PresentationFormat>
  <Paragraphs>162</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Roboto</vt:lpstr>
      <vt:lpstr>Roboto Bold</vt:lpstr>
      <vt:lpstr>Calibri</vt:lpstr>
      <vt:lpstr>Merriweather</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UniQueue.pptx</dc:title>
  <cp:lastModifiedBy>Ali Doğan Pekdaş</cp:lastModifiedBy>
  <cp:revision>3</cp:revision>
  <dcterms:created xsi:type="dcterms:W3CDTF">2006-08-16T00:00:00Z</dcterms:created>
  <dcterms:modified xsi:type="dcterms:W3CDTF">2026-05-26T11:51:28Z</dcterms:modified>
  <dc:identifier>DAHKw9NEHS0</dc:identifier>
</cp:coreProperties>
</file>